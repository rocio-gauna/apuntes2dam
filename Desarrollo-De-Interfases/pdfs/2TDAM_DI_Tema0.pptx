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Lst>
  <p:sldSz cy="6858000" cx="12192000"/>
  <p:notesSz cx="6858000" cy="9144000"/>
  <p:embeddedFontLst>
    <p:embeddedFont>
      <p:font typeface="Roboto"/>
      <p:regular r:id="rId137"/>
      <p:bold r:id="rId138"/>
      <p:italic r:id="rId139"/>
      <p:boldItalic r:id="rId1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1" roundtripDataSignature="AMtx7mhtuSWcWaQVWKJUFksVY7LAm1gs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9" Type="http://schemas.openxmlformats.org/officeDocument/2006/relationships/slide" Target="slides/slide105.xml"/><Relationship Id="rId108" Type="http://schemas.openxmlformats.org/officeDocument/2006/relationships/slide" Target="slides/slide104.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26" Type="http://schemas.openxmlformats.org/officeDocument/2006/relationships/slide" Target="slides/slide22.xml"/><Relationship Id="rId121" Type="http://schemas.openxmlformats.org/officeDocument/2006/relationships/slide" Target="slides/slide117.xml"/><Relationship Id="rId25" Type="http://schemas.openxmlformats.org/officeDocument/2006/relationships/slide" Target="slides/slide21.xml"/><Relationship Id="rId120" Type="http://schemas.openxmlformats.org/officeDocument/2006/relationships/slide" Target="slides/slide116.xml"/><Relationship Id="rId28" Type="http://schemas.openxmlformats.org/officeDocument/2006/relationships/slide" Target="slides/slide24.xml"/><Relationship Id="rId27" Type="http://schemas.openxmlformats.org/officeDocument/2006/relationships/slide" Target="slides/slide23.xml"/><Relationship Id="rId125" Type="http://schemas.openxmlformats.org/officeDocument/2006/relationships/slide" Target="slides/slide121.xml"/><Relationship Id="rId29" Type="http://schemas.openxmlformats.org/officeDocument/2006/relationships/slide" Target="slides/slide25.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95" Type="http://schemas.openxmlformats.org/officeDocument/2006/relationships/slide" Target="slides/slide91.xml"/><Relationship Id="rId94" Type="http://schemas.openxmlformats.org/officeDocument/2006/relationships/slide" Target="slides/slide90.xml"/><Relationship Id="rId97" Type="http://schemas.openxmlformats.org/officeDocument/2006/relationships/slide" Target="slides/slide93.xml"/><Relationship Id="rId96" Type="http://schemas.openxmlformats.org/officeDocument/2006/relationships/slide" Target="slides/slide92.xml"/><Relationship Id="rId11" Type="http://schemas.openxmlformats.org/officeDocument/2006/relationships/slide" Target="slides/slide7.xml"/><Relationship Id="rId99" Type="http://schemas.openxmlformats.org/officeDocument/2006/relationships/slide" Target="slides/slide95.xml"/><Relationship Id="rId10" Type="http://schemas.openxmlformats.org/officeDocument/2006/relationships/slide" Target="slides/slide6.xml"/><Relationship Id="rId98" Type="http://schemas.openxmlformats.org/officeDocument/2006/relationships/slide" Target="slides/slide94.xml"/><Relationship Id="rId13" Type="http://schemas.openxmlformats.org/officeDocument/2006/relationships/slide" Target="slides/slide9.xml"/><Relationship Id="rId12" Type="http://schemas.openxmlformats.org/officeDocument/2006/relationships/slide" Target="slides/slide8.xml"/><Relationship Id="rId91" Type="http://schemas.openxmlformats.org/officeDocument/2006/relationships/slide" Target="slides/slide87.xml"/><Relationship Id="rId90" Type="http://schemas.openxmlformats.org/officeDocument/2006/relationships/slide" Target="slides/slide86.xml"/><Relationship Id="rId93" Type="http://schemas.openxmlformats.org/officeDocument/2006/relationships/slide" Target="slides/slide89.xml"/><Relationship Id="rId92" Type="http://schemas.openxmlformats.org/officeDocument/2006/relationships/slide" Target="slides/slide88.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9" Type="http://schemas.openxmlformats.org/officeDocument/2006/relationships/slide" Target="slides/slide115.xml"/><Relationship Id="rId15" Type="http://schemas.openxmlformats.org/officeDocument/2006/relationships/slide" Target="slides/slide11.xml"/><Relationship Id="rId110" Type="http://schemas.openxmlformats.org/officeDocument/2006/relationships/slide" Target="slides/slide106.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14" Type="http://schemas.openxmlformats.org/officeDocument/2006/relationships/slide" Target="slides/slide110.xml"/><Relationship Id="rId18" Type="http://schemas.openxmlformats.org/officeDocument/2006/relationships/slide" Target="slides/slide14.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84" Type="http://schemas.openxmlformats.org/officeDocument/2006/relationships/slide" Target="slides/slide80.xml"/><Relationship Id="rId83" Type="http://schemas.openxmlformats.org/officeDocument/2006/relationships/slide" Target="slides/slide79.xml"/><Relationship Id="rId86" Type="http://schemas.openxmlformats.org/officeDocument/2006/relationships/slide" Target="slides/slide82.xml"/><Relationship Id="rId85" Type="http://schemas.openxmlformats.org/officeDocument/2006/relationships/slide" Target="slides/slide81.xml"/><Relationship Id="rId88" Type="http://schemas.openxmlformats.org/officeDocument/2006/relationships/slide" Target="slides/slide84.xml"/><Relationship Id="rId87" Type="http://schemas.openxmlformats.org/officeDocument/2006/relationships/slide" Target="slides/slide83.xml"/><Relationship Id="rId89" Type="http://schemas.openxmlformats.org/officeDocument/2006/relationships/slide" Target="slides/slide85.xml"/><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1" Type="http://customschemas.google.com/relationships/presentationmetadata" Target="metadata"/><Relationship Id="rId140" Type="http://schemas.openxmlformats.org/officeDocument/2006/relationships/font" Target="fonts/Roboto-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75" Type="http://schemas.openxmlformats.org/officeDocument/2006/relationships/slide" Target="slides/slide71.xml"/><Relationship Id="rId74" Type="http://schemas.openxmlformats.org/officeDocument/2006/relationships/slide" Target="slides/slide70.xml"/><Relationship Id="rId77" Type="http://schemas.openxmlformats.org/officeDocument/2006/relationships/slide" Target="slides/slide73.xml"/><Relationship Id="rId76" Type="http://schemas.openxmlformats.org/officeDocument/2006/relationships/slide" Target="slides/slide72.xml"/><Relationship Id="rId79" Type="http://schemas.openxmlformats.org/officeDocument/2006/relationships/slide" Target="slides/slide75.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139" Type="http://schemas.openxmlformats.org/officeDocument/2006/relationships/font" Target="fonts/Roboto-italic.fntdata"/><Relationship Id="rId138" Type="http://schemas.openxmlformats.org/officeDocument/2006/relationships/font" Target="fonts/Roboto-bold.fntdata"/><Relationship Id="rId137" Type="http://schemas.openxmlformats.org/officeDocument/2006/relationships/font" Target="fonts/Roboto-regular.fntdata"/><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62" Type="http://schemas.openxmlformats.org/officeDocument/2006/relationships/slide" Target="slides/slide58.xml"/><Relationship Id="rId61" Type="http://schemas.openxmlformats.org/officeDocument/2006/relationships/slide" Target="slides/slide57.xml"/><Relationship Id="rId64" Type="http://schemas.openxmlformats.org/officeDocument/2006/relationships/slide" Target="slides/slide60.xml"/><Relationship Id="rId63" Type="http://schemas.openxmlformats.org/officeDocument/2006/relationships/slide" Target="slides/slide59.xml"/><Relationship Id="rId66" Type="http://schemas.openxmlformats.org/officeDocument/2006/relationships/slide" Target="slides/slide62.xml"/><Relationship Id="rId65" Type="http://schemas.openxmlformats.org/officeDocument/2006/relationships/slide" Target="slides/slide61.xml"/><Relationship Id="rId68" Type="http://schemas.openxmlformats.org/officeDocument/2006/relationships/slide" Target="slides/slide64.xml"/><Relationship Id="rId67" Type="http://schemas.openxmlformats.org/officeDocument/2006/relationships/slide" Target="slides/slide63.xml"/><Relationship Id="rId60" Type="http://schemas.openxmlformats.org/officeDocument/2006/relationships/slide" Target="slides/slide56.xml"/><Relationship Id="rId69" Type="http://schemas.openxmlformats.org/officeDocument/2006/relationships/slide" Target="slides/slide6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55" Type="http://schemas.openxmlformats.org/officeDocument/2006/relationships/slide" Target="slides/slide51.xml"/><Relationship Id="rId54" Type="http://schemas.openxmlformats.org/officeDocument/2006/relationships/slide" Target="slides/slide50.xml"/><Relationship Id="rId57" Type="http://schemas.openxmlformats.org/officeDocument/2006/relationships/slide" Target="slides/slide53.xml"/><Relationship Id="rId56" Type="http://schemas.openxmlformats.org/officeDocument/2006/relationships/slide" Target="slides/slide52.xml"/><Relationship Id="rId59" Type="http://schemas.openxmlformats.org/officeDocument/2006/relationships/slide" Target="slides/slide55.xml"/><Relationship Id="rId58"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7ce0ca996c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7ce0ca996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7ce0ca996c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27ce0ca996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27ce0ca996c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27ce0ca996c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7ce0ca996c_0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27ce0ca996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7ce0ca996c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7ce0ca996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7ce0ca996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7ce0ca99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7ce0ca996c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27ce0ca996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27ce0ca996c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27ce0ca996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27ce0ca996c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27ce0ca996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27d2204a555_0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27d2204a55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7d2204a555_0_1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7d2204a55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7d2204a555_0_1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7d2204a555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27d2204a555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27d2204a555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7d2204a555_0_2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27d2204a555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7d2204a555_0_2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27d2204a555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7ce0ca996c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7ce0ca996c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7ce0ca996c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7ce0ca996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7ce0ca996c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7ce0ca996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7ce0ca996c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7ce0ca996c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7ce0ca996c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27ce0ca996c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27ce0ca996c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27ce0ca996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7ce0ca996c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7ce0ca996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7ce0ca996c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7ce0ca996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7ce0ca996c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7ce0ca996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27ce0ca996c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27ce0ca996c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7ce0ca996c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7ce0ca996c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27ce0ca996c_0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27ce0ca996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27ce0ca996c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27ce0ca996c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7ce0ca996c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27ce0ca996c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27ce0ca996c_0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27ce0ca996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27ce0ca996c_0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27ce0ca996c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7ce0ca996c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7ce0ca996c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7ce0ca996c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7ce0ca996c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7ce0ca996c_0_1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7ce0ca996c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27ce0ca996c_0_1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27ce0ca996c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27ce0ca996c_0_1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27ce0ca996c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7ce0ca996c_0_2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27ce0ca996c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27ce0ca996c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27ce0ca996c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7ce0ca996c_0_2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7ce0ca996c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7ce0ca996c_0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27ce0ca996c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7ce0ca996c_0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7ce0ca996c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7ce0ca996c_0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7ce0ca996c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27ce0ca996c_0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27ce0ca996c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27ce0ca996c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27ce0ca996c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27ce0ca996c_0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27ce0ca996c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7ce0ca996c_0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27ce0ca996c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7ce0ca996c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27ce0ca996c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27ce0ca996c_0_2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27ce0ca996c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7ce0ca996c_0_2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27ce0ca996c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7ce0ca996c_0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27ce0ca996c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27ce0ca996c_0_3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27ce0ca996c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27d2204a555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27d2204a55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27d2204a555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27d2204a55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27d2204a555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27d2204a55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27d2204a555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27d2204a555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27d2204a555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27d2204a55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27d2204a555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27d2204a55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27d2204a555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27d2204a55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7d2204a555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27d2204a55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27d2204a555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27d2204a55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27d2204a555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27d2204a555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27d2204a555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27d2204a55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27d2204a555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27d2204a555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27d2204a555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27d2204a55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27d2204a555_0_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27d2204a555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27d2204a555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58" name="Google Shape;758;g27d2204a555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7d2204a555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7d2204a55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27d2204a555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27d2204a55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27d2204a555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27d2204a55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27d2204a555_0_1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27d2204a555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27d2204a555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27d2204a55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7d2204a555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7d2204a55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7d2204a555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02" name="Google Shape;802;g27d2204a55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7d2204a555_0_1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7d2204a55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27d2204a555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27d2204a555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27d2204a555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27d2204a555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27d2204a555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7" name="Google Shape;827;g27d2204a55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7d2204a555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7d2204a555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27d2204a555_0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39" name="Google Shape;839;g27d2204a555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27d2204a555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27d2204a55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27d2204a555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27d2204a555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27d2204a555_0_2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27d2204a555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27d2204a555_0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1" name="Google Shape;861;g27d2204a555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27d2204a555_0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8" name="Google Shape;868;g27d2204a555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27d2204a555_0_2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27d2204a555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27d2204a555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1" name="Google Shape;881;g27d2204a555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27d2204a555_0_2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7" name="Google Shape;887;g27d2204a555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4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4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5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5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5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5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5"/>
          <p:cNvSpPr/>
          <p:nvPr>
            <p:ph idx="2" type="pic"/>
          </p:nvPr>
        </p:nvSpPr>
        <p:spPr>
          <a:xfrm>
            <a:off x="5183188" y="987425"/>
            <a:ext cx="6172200" cy="4873625"/>
          </a:xfrm>
          <a:prstGeom prst="rect">
            <a:avLst/>
          </a:prstGeom>
          <a:noFill/>
          <a:ln>
            <a:noFill/>
          </a:ln>
        </p:spPr>
      </p:sp>
      <p:sp>
        <p:nvSpPr>
          <p:cNvPr id="64" name="Google Shape;64;p5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5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eveloper.android.com/tools" TargetMode="External"/><Relationship Id="rId4" Type="http://schemas.openxmlformats.org/officeDocument/2006/relationships/hyperlink" Target="https://developer.android.com/studio/command-line?hl=es-419" TargetMode="External"/><Relationship Id="rId5" Type="http://schemas.openxmlformats.org/officeDocument/2006/relationships/hyperlink" Target="https://developer.android.com/build/building-cmdlin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m3.material.io/" TargetMode="External"/><Relationship Id="rId4" Type="http://schemas.openxmlformats.org/officeDocument/2006/relationships/hyperlink" Target="https://developer.android.com/guide/topics/ui/look-and-feel?hl=es-419" TargetMode="External"/><Relationship Id="rId5" Type="http://schemas.openxmlformats.org/officeDocument/2006/relationships/hyperlink" Target="https://developer.android.com/training/material/palette-colors?hl=es-419" TargetMode="External"/><Relationship Id="rId6" Type="http://schemas.openxmlformats.org/officeDocument/2006/relationships/hyperlink" Target="https://developer.android.com/training/material/palette-colors?hl=es-41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hyperlink" Target="https://m3.material.io/styles/color/dynamic-color/overview"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1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hyperlink" Target="https://www.calculator.net/hex-calculator.html"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2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2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2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2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39.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32.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3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3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3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3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42.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3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35.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4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4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3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40.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3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43.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0000"/>
              </a:buClr>
              <a:buSzPts val="2400"/>
              <a:buFont typeface="Malgun Gothic"/>
              <a:buNone/>
            </a:pPr>
            <a:br>
              <a:rPr b="0" i="0" lang="es-ES" sz="2400" u="none" strike="noStrike">
                <a:solidFill>
                  <a:srgbClr val="000000"/>
                </a:solidFill>
                <a:latin typeface="Malgun Gothic"/>
                <a:ea typeface="Malgun Gothic"/>
                <a:cs typeface="Malgun Gothic"/>
                <a:sym typeface="Malgun Gothic"/>
              </a:rPr>
            </a:br>
            <a:r>
              <a:rPr b="0" i="0" lang="es-ES" sz="2400" u="none" strike="noStrike">
                <a:solidFill>
                  <a:srgbClr val="000000"/>
                </a:solidFill>
                <a:latin typeface="Malgun Gothic"/>
                <a:ea typeface="Malgun Gothic"/>
                <a:cs typeface="Malgun Gothic"/>
                <a:sym typeface="Malgun Gothic"/>
              </a:rPr>
              <a:t>Tema 0: Introducci</a:t>
            </a:r>
            <a:r>
              <a:rPr b="0" i="0" lang="es-ES" sz="2400" u="none" strike="noStrike">
                <a:solidFill>
                  <a:srgbClr val="000000"/>
                </a:solidFill>
                <a:latin typeface="Arial"/>
                <a:ea typeface="Arial"/>
                <a:cs typeface="Arial"/>
                <a:sym typeface="Arial"/>
              </a:rPr>
              <a:t>ó</a:t>
            </a:r>
            <a:r>
              <a:rPr b="0" i="0" lang="es-ES" sz="2400" u="none" strike="noStrike">
                <a:solidFill>
                  <a:srgbClr val="000000"/>
                </a:solidFill>
                <a:latin typeface="Malgun Gothic"/>
                <a:ea typeface="Malgun Gothic"/>
                <a:cs typeface="Malgun Gothic"/>
                <a:sym typeface="Malgun Gothic"/>
              </a:rPr>
              <a:t>n al desarrollo de aplicaciones Android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838200" y="365125"/>
            <a:ext cx="10515600" cy="881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Índice</a:t>
            </a:r>
            <a:endParaRPr/>
          </a:p>
        </p:txBody>
      </p:sp>
      <p:sp>
        <p:nvSpPr>
          <p:cNvPr id="90" name="Google Shape;90;p2"/>
          <p:cNvSpPr txBox="1"/>
          <p:nvPr>
            <p:ph idx="1" type="body"/>
          </p:nvPr>
        </p:nvSpPr>
        <p:spPr>
          <a:xfrm>
            <a:off x="758850" y="1305550"/>
            <a:ext cx="10515600" cy="5097600"/>
          </a:xfrm>
          <a:prstGeom prst="rect">
            <a:avLst/>
          </a:prstGeom>
          <a:noFill/>
          <a:ln>
            <a:noFill/>
          </a:ln>
        </p:spPr>
        <p:txBody>
          <a:bodyPr anchorCtr="0" anchor="t" bIns="45700" lIns="91425" spcFirstLastPara="1" rIns="91425" wrap="square" tIns="45700">
            <a:normAutofit fontScale="25000" lnSpcReduction="20000"/>
          </a:bodyPr>
          <a:lstStyle/>
          <a:p>
            <a:pPr indent="-239797" lvl="0" marL="228600" rtl="0" algn="l">
              <a:lnSpc>
                <a:spcPct val="90000"/>
              </a:lnSpc>
              <a:spcBef>
                <a:spcPts val="0"/>
              </a:spcBef>
              <a:spcAft>
                <a:spcPts val="0"/>
              </a:spcAft>
              <a:buClr>
                <a:schemeClr val="dk1"/>
              </a:buClr>
              <a:buSzPct val="100000"/>
              <a:buChar char="•"/>
            </a:pPr>
            <a:r>
              <a:rPr lang="es-ES" sz="6865"/>
              <a:t>Interfaces </a:t>
            </a:r>
            <a:endParaRPr sz="6865"/>
          </a:p>
          <a:p>
            <a:pPr indent="-247417" lvl="1" marL="685800" rtl="0" algn="l">
              <a:lnSpc>
                <a:spcPct val="90000"/>
              </a:lnSpc>
              <a:spcBef>
                <a:spcPts val="500"/>
              </a:spcBef>
              <a:spcAft>
                <a:spcPts val="0"/>
              </a:spcAft>
              <a:buClr>
                <a:schemeClr val="dk1"/>
              </a:buClr>
              <a:buSzPct val="100000"/>
              <a:buChar char="•"/>
            </a:pPr>
            <a:r>
              <a:rPr lang="es-ES" sz="6465"/>
              <a:t>UI</a:t>
            </a:r>
            <a:endParaRPr sz="6465"/>
          </a:p>
          <a:p>
            <a:pPr indent="-247417" lvl="1" marL="685800" rtl="0" algn="l">
              <a:lnSpc>
                <a:spcPct val="90000"/>
              </a:lnSpc>
              <a:spcBef>
                <a:spcPts val="500"/>
              </a:spcBef>
              <a:spcAft>
                <a:spcPts val="0"/>
              </a:spcAft>
              <a:buClr>
                <a:schemeClr val="dk1"/>
              </a:buClr>
              <a:buSzPct val="100000"/>
              <a:buChar char="•"/>
            </a:pPr>
            <a:r>
              <a:rPr lang="es-ES" sz="6465"/>
              <a:t>Tipos de interfaces</a:t>
            </a:r>
            <a:endParaRPr sz="6465"/>
          </a:p>
          <a:p>
            <a:pPr indent="-239797" lvl="0" marL="228600" rtl="0" algn="l">
              <a:lnSpc>
                <a:spcPct val="90000"/>
              </a:lnSpc>
              <a:spcBef>
                <a:spcPts val="1000"/>
              </a:spcBef>
              <a:spcAft>
                <a:spcPts val="0"/>
              </a:spcAft>
              <a:buClr>
                <a:schemeClr val="dk1"/>
              </a:buClr>
              <a:buSzPct val="100000"/>
              <a:buChar char="•"/>
            </a:pPr>
            <a:r>
              <a:rPr lang="es-ES" sz="6865"/>
              <a:t>API</a:t>
            </a:r>
            <a:endParaRPr sz="6865"/>
          </a:p>
          <a:p>
            <a:pPr indent="-247417" lvl="1" marL="685800" rtl="0" algn="l">
              <a:lnSpc>
                <a:spcPct val="90000"/>
              </a:lnSpc>
              <a:spcBef>
                <a:spcPts val="500"/>
              </a:spcBef>
              <a:spcAft>
                <a:spcPts val="0"/>
              </a:spcAft>
              <a:buClr>
                <a:schemeClr val="dk1"/>
              </a:buClr>
              <a:buSzPct val="100000"/>
              <a:buChar char="•"/>
            </a:pPr>
            <a:r>
              <a:rPr lang="es-ES" sz="6465"/>
              <a:t>Api REST</a:t>
            </a:r>
            <a:endParaRPr sz="6465"/>
          </a:p>
          <a:p>
            <a:pPr indent="-247417" lvl="1" marL="685800" rtl="0" algn="l">
              <a:lnSpc>
                <a:spcPct val="90000"/>
              </a:lnSpc>
              <a:spcBef>
                <a:spcPts val="500"/>
              </a:spcBef>
              <a:spcAft>
                <a:spcPts val="0"/>
              </a:spcAft>
              <a:buClr>
                <a:schemeClr val="dk1"/>
              </a:buClr>
              <a:buSzPct val="100000"/>
              <a:buChar char="•"/>
            </a:pPr>
            <a:r>
              <a:rPr lang="es-ES" sz="6465"/>
              <a:t>Api web</a:t>
            </a:r>
            <a:endParaRPr sz="6465"/>
          </a:p>
          <a:p>
            <a:pPr indent="-239797" lvl="0" marL="228600" rtl="0" algn="l">
              <a:lnSpc>
                <a:spcPct val="90000"/>
              </a:lnSpc>
              <a:spcBef>
                <a:spcPts val="1000"/>
              </a:spcBef>
              <a:spcAft>
                <a:spcPts val="0"/>
              </a:spcAft>
              <a:buClr>
                <a:schemeClr val="dk1"/>
              </a:buClr>
              <a:buSzPct val="100000"/>
              <a:buChar char="•"/>
            </a:pPr>
            <a:r>
              <a:rPr lang="es-ES" sz="6865"/>
              <a:t>Pixeles y resolución</a:t>
            </a:r>
            <a:endParaRPr sz="6865"/>
          </a:p>
          <a:p>
            <a:pPr indent="-239797" lvl="0" marL="228600" rtl="0" algn="l">
              <a:lnSpc>
                <a:spcPct val="90000"/>
              </a:lnSpc>
              <a:spcBef>
                <a:spcPts val="1000"/>
              </a:spcBef>
              <a:spcAft>
                <a:spcPts val="0"/>
              </a:spcAft>
              <a:buClr>
                <a:schemeClr val="dk1"/>
              </a:buClr>
              <a:buSzPct val="100000"/>
              <a:buChar char="•"/>
            </a:pPr>
            <a:r>
              <a:rPr lang="es-ES" sz="6865"/>
              <a:t>Usabilidad</a:t>
            </a:r>
            <a:endParaRPr sz="6865"/>
          </a:p>
          <a:p>
            <a:pPr indent="-239797" lvl="0" marL="228600" rtl="0" algn="l">
              <a:lnSpc>
                <a:spcPct val="90000"/>
              </a:lnSpc>
              <a:spcBef>
                <a:spcPts val="1000"/>
              </a:spcBef>
              <a:spcAft>
                <a:spcPts val="0"/>
              </a:spcAft>
              <a:buClr>
                <a:schemeClr val="dk1"/>
              </a:buClr>
              <a:buSzPct val="100000"/>
              <a:buChar char="•"/>
            </a:pPr>
            <a:r>
              <a:rPr lang="es-ES" sz="6865"/>
              <a:t>Guía de diseño y buenas </a:t>
            </a:r>
            <a:r>
              <a:rPr lang="es-ES" sz="6865"/>
              <a:t>prácticas</a:t>
            </a:r>
            <a:r>
              <a:rPr lang="es-ES" sz="6865"/>
              <a:t> </a:t>
            </a:r>
            <a:endParaRPr sz="6865"/>
          </a:p>
          <a:p>
            <a:pPr indent="-239797" lvl="0" marL="228600" rtl="0" algn="l">
              <a:lnSpc>
                <a:spcPct val="90000"/>
              </a:lnSpc>
              <a:spcBef>
                <a:spcPts val="1000"/>
              </a:spcBef>
              <a:spcAft>
                <a:spcPts val="0"/>
              </a:spcAft>
              <a:buClr>
                <a:schemeClr val="dk1"/>
              </a:buClr>
              <a:buSzPct val="100000"/>
              <a:buChar char="•"/>
            </a:pPr>
            <a:r>
              <a:rPr lang="es-ES" sz="6865"/>
              <a:t>Posicionamiento de elementos</a:t>
            </a:r>
            <a:endParaRPr sz="6865"/>
          </a:p>
          <a:p>
            <a:pPr indent="-239797" lvl="0" marL="228600" rtl="0" algn="l">
              <a:lnSpc>
                <a:spcPct val="90000"/>
              </a:lnSpc>
              <a:spcBef>
                <a:spcPts val="1000"/>
              </a:spcBef>
              <a:spcAft>
                <a:spcPts val="0"/>
              </a:spcAft>
              <a:buClr>
                <a:schemeClr val="dk1"/>
              </a:buClr>
              <a:buSzPct val="100000"/>
              <a:buChar char="•"/>
            </a:pPr>
            <a:r>
              <a:rPr lang="es-ES" sz="6865"/>
              <a:t>Textos</a:t>
            </a:r>
            <a:endParaRPr sz="6865"/>
          </a:p>
          <a:p>
            <a:pPr indent="-239797" lvl="0" marL="228600" rtl="0" algn="l">
              <a:lnSpc>
                <a:spcPct val="90000"/>
              </a:lnSpc>
              <a:spcBef>
                <a:spcPts val="1000"/>
              </a:spcBef>
              <a:spcAft>
                <a:spcPts val="0"/>
              </a:spcAft>
              <a:buClr>
                <a:schemeClr val="dk1"/>
              </a:buClr>
              <a:buSzPct val="100000"/>
              <a:buChar char="•"/>
            </a:pPr>
            <a:r>
              <a:rPr lang="es-ES" sz="6865"/>
              <a:t>Colores</a:t>
            </a:r>
            <a:endParaRPr sz="6865"/>
          </a:p>
          <a:p>
            <a:pPr indent="-239797" lvl="0" marL="228600" rtl="0" algn="l">
              <a:lnSpc>
                <a:spcPct val="90000"/>
              </a:lnSpc>
              <a:spcBef>
                <a:spcPts val="1000"/>
              </a:spcBef>
              <a:spcAft>
                <a:spcPts val="0"/>
              </a:spcAft>
              <a:buSzPct val="100000"/>
              <a:buChar char="•"/>
            </a:pPr>
            <a:r>
              <a:rPr lang="es-ES" sz="6865"/>
              <a:t>Imágenes</a:t>
            </a:r>
            <a:endParaRPr sz="6865"/>
          </a:p>
          <a:p>
            <a:pPr indent="-239797" lvl="0" marL="228600" rtl="0" algn="l">
              <a:lnSpc>
                <a:spcPct val="90000"/>
              </a:lnSpc>
              <a:spcBef>
                <a:spcPts val="1000"/>
              </a:spcBef>
              <a:spcAft>
                <a:spcPts val="0"/>
              </a:spcAft>
              <a:buClr>
                <a:schemeClr val="dk1"/>
              </a:buClr>
              <a:buSzPct val="100000"/>
              <a:buChar char="•"/>
            </a:pPr>
            <a:r>
              <a:rPr lang="es-ES" sz="6865"/>
              <a:t>Iconos</a:t>
            </a:r>
            <a:endParaRPr sz="6865"/>
          </a:p>
          <a:p>
            <a:pPr indent="-239797" lvl="0" marL="228600" rtl="0" algn="l">
              <a:lnSpc>
                <a:spcPct val="90000"/>
              </a:lnSpc>
              <a:spcBef>
                <a:spcPts val="1000"/>
              </a:spcBef>
              <a:spcAft>
                <a:spcPts val="0"/>
              </a:spcAft>
              <a:buClr>
                <a:schemeClr val="dk1"/>
              </a:buClr>
              <a:buSzPct val="100000"/>
              <a:buChar char="•"/>
            </a:pPr>
            <a:r>
              <a:rPr lang="es-ES" sz="6865"/>
              <a:t>Navegación</a:t>
            </a:r>
            <a:endParaRPr sz="6865"/>
          </a:p>
          <a:p>
            <a:pPr indent="-239797" lvl="0" marL="228600" rtl="0" algn="l">
              <a:lnSpc>
                <a:spcPct val="90000"/>
              </a:lnSpc>
              <a:spcBef>
                <a:spcPts val="1000"/>
              </a:spcBef>
              <a:spcAft>
                <a:spcPts val="0"/>
              </a:spcAft>
              <a:buClr>
                <a:schemeClr val="dk1"/>
              </a:buClr>
              <a:buSzPct val="100000"/>
              <a:buChar char="•"/>
            </a:pPr>
            <a:r>
              <a:rPr lang="es-ES" sz="6865"/>
              <a:t>Accesibilidad</a:t>
            </a:r>
            <a:endParaRPr/>
          </a:p>
          <a:p>
            <a:pPr indent="-130810" lvl="0" marL="228600" rtl="0" algn="l">
              <a:lnSpc>
                <a:spcPct val="90000"/>
              </a:lnSpc>
              <a:spcBef>
                <a:spcPts val="1000"/>
              </a:spcBef>
              <a:spcAft>
                <a:spcPts val="0"/>
              </a:spcAft>
              <a:buClr>
                <a:schemeClr val="dk1"/>
              </a:buClr>
              <a:buSzPct val="100000"/>
              <a:buNone/>
            </a:pPr>
            <a:r>
              <a:t/>
            </a:r>
            <a:endParaRPr/>
          </a:p>
          <a:p>
            <a:pPr indent="-13081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Concepto de Interfaces de Usuario (UI) y Diseño en Aplicaciones Móviles</a:t>
            </a:r>
            <a:endParaRPr b="1"/>
          </a:p>
        </p:txBody>
      </p:sp>
      <p:sp>
        <p:nvSpPr>
          <p:cNvPr id="96" name="Google Shape;96;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14300" lvl="0" marL="228600" rtl="0" algn="l">
              <a:lnSpc>
                <a:spcPct val="90000"/>
              </a:lnSpc>
              <a:spcBef>
                <a:spcPts val="0"/>
              </a:spcBef>
              <a:spcAft>
                <a:spcPts val="0"/>
              </a:spcAft>
              <a:buClr>
                <a:schemeClr val="dk1"/>
              </a:buClr>
              <a:buSzPts val="1800"/>
              <a:buNone/>
            </a:pPr>
            <a:r>
              <a:t/>
            </a:r>
            <a:endParaRPr b="0" i="0" sz="1800" u="none" strike="noStrike">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800"/>
              <a:buChar char="•"/>
            </a:pPr>
            <a:r>
              <a:rPr b="1" i="0" lang="es-ES" sz="1800" u="none" strike="noStrike">
                <a:solidFill>
                  <a:srgbClr val="000000"/>
                </a:solidFill>
                <a:latin typeface="Arial"/>
                <a:ea typeface="Arial"/>
                <a:cs typeface="Arial"/>
                <a:sym typeface="Arial"/>
              </a:rPr>
              <a:t>Interfaz</a:t>
            </a:r>
            <a:r>
              <a:rPr b="0" i="0" lang="es-ES" sz="1800" u="none" strike="noStrike">
                <a:solidFill>
                  <a:srgbClr val="000000"/>
                </a:solidFill>
                <a:latin typeface="Arial"/>
                <a:ea typeface="Arial"/>
                <a:cs typeface="Arial"/>
                <a:sym typeface="Arial"/>
              </a:rPr>
              <a:t>: elemento que permite la </a:t>
            </a:r>
            <a:r>
              <a:rPr b="1" i="0" lang="es-ES" sz="1800" u="none" strike="noStrike">
                <a:solidFill>
                  <a:srgbClr val="000000"/>
                </a:solidFill>
                <a:latin typeface="Arial"/>
                <a:ea typeface="Arial"/>
                <a:cs typeface="Arial"/>
                <a:sym typeface="Arial"/>
              </a:rPr>
              <a:t>comunicación </a:t>
            </a:r>
            <a:r>
              <a:rPr b="0" i="0" lang="es-ES" sz="1800" u="none" strike="noStrike">
                <a:solidFill>
                  <a:srgbClr val="000000"/>
                </a:solidFill>
                <a:latin typeface="Arial"/>
                <a:ea typeface="Arial"/>
                <a:cs typeface="Arial"/>
                <a:sym typeface="Arial"/>
              </a:rPr>
              <a:t>entre dos programas, dispositivos, componentes y en general elementos. </a:t>
            </a:r>
            <a:endParaRPr/>
          </a:p>
          <a:p>
            <a:pPr indent="-114300" lvl="0" marL="228600" rtl="0" algn="l">
              <a:lnSpc>
                <a:spcPct val="90000"/>
              </a:lnSpc>
              <a:spcBef>
                <a:spcPts val="1000"/>
              </a:spcBef>
              <a:spcAft>
                <a:spcPts val="0"/>
              </a:spcAft>
              <a:buClr>
                <a:schemeClr val="dk1"/>
              </a:buClr>
              <a:buSzPts val="1800"/>
              <a:buNone/>
            </a:pPr>
            <a:r>
              <a:t/>
            </a:r>
            <a:endParaRPr b="0" i="0" sz="1800" u="none" strike="noStrike">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1800"/>
              <a:buChar char="•"/>
            </a:pPr>
            <a:r>
              <a:rPr b="1" i="0" lang="es-ES" sz="1800" u="none" strike="noStrike">
                <a:solidFill>
                  <a:srgbClr val="000000"/>
                </a:solidFill>
                <a:latin typeface="Arial"/>
                <a:ea typeface="Arial"/>
                <a:cs typeface="Arial"/>
                <a:sym typeface="Arial"/>
              </a:rPr>
              <a:t>Interfaz de usuario</a:t>
            </a:r>
            <a:r>
              <a:rPr b="0" i="0" lang="es-ES" sz="1800" u="none" strike="noStrike">
                <a:solidFill>
                  <a:srgbClr val="000000"/>
                </a:solidFill>
                <a:latin typeface="Arial"/>
                <a:ea typeface="Arial"/>
                <a:cs typeface="Arial"/>
                <a:sym typeface="Arial"/>
              </a:rPr>
              <a:t>: medio para la comunicación entre la máquina y el humano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02124"/>
              </a:buClr>
              <a:buSzPts val="4400"/>
              <a:buFont typeface="Arial"/>
              <a:buNone/>
            </a:pPr>
            <a:r>
              <a:rPr b="1" i="0" lang="es-ES">
                <a:solidFill>
                  <a:srgbClr val="202124"/>
                </a:solidFill>
                <a:latin typeface="Arial"/>
                <a:ea typeface="Arial"/>
                <a:cs typeface="Arial"/>
                <a:sym typeface="Arial"/>
              </a:rPr>
              <a:t>Los diversos tipos de interfaces de usuario incluyen:</a:t>
            </a:r>
            <a:endParaRPr/>
          </a:p>
        </p:txBody>
      </p:sp>
      <p:sp>
        <p:nvSpPr>
          <p:cNvPr id="102" name="Google Shape;102;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02124"/>
              </a:buClr>
              <a:buSzPts val="2800"/>
              <a:buFont typeface="Arial"/>
              <a:buChar char="•"/>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gráfica de usuario (GUI) </a:t>
            </a:r>
            <a:endParaRPr/>
          </a:p>
          <a:p>
            <a:pPr indent="-228600" lvl="0" marL="228600" rtl="0" algn="l">
              <a:lnSpc>
                <a:spcPct val="90000"/>
              </a:lnSpc>
              <a:spcBef>
                <a:spcPts val="1000"/>
              </a:spcBef>
              <a:spcAft>
                <a:spcPts val="0"/>
              </a:spcAft>
              <a:buClr>
                <a:srgbClr val="202124"/>
              </a:buClr>
              <a:buSzPts val="2800"/>
              <a:buFont typeface="Arial"/>
              <a:buChar char="•"/>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línea de comandos (CLI)</a:t>
            </a:r>
            <a:endParaRPr/>
          </a:p>
          <a:p>
            <a:pPr indent="-228600" lvl="0" marL="228600" rtl="0" algn="l">
              <a:lnSpc>
                <a:spcPct val="90000"/>
              </a:lnSpc>
              <a:spcBef>
                <a:spcPts val="1000"/>
              </a:spcBef>
              <a:spcAft>
                <a:spcPts val="0"/>
              </a:spcAft>
              <a:buClr>
                <a:srgbClr val="202124"/>
              </a:buClr>
              <a:buSzPts val="2800"/>
              <a:buFont typeface="Arial"/>
              <a:buChar char="•"/>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usuario basada en menús.</a:t>
            </a:r>
            <a:endParaRPr/>
          </a:p>
          <a:p>
            <a:pPr indent="-228600" lvl="0" marL="228600" rtl="0" algn="l">
              <a:lnSpc>
                <a:spcPct val="90000"/>
              </a:lnSpc>
              <a:spcBef>
                <a:spcPts val="1000"/>
              </a:spcBef>
              <a:spcAft>
                <a:spcPts val="0"/>
              </a:spcAft>
              <a:buClr>
                <a:srgbClr val="202124"/>
              </a:buClr>
              <a:buSzPts val="2800"/>
              <a:buFont typeface="Arial"/>
              <a:buChar char="•"/>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usuario táctil.</a:t>
            </a:r>
            <a:endParaRPr/>
          </a:p>
          <a:p>
            <a:pPr indent="-228600" lvl="0" marL="228600" rtl="0" algn="l">
              <a:lnSpc>
                <a:spcPct val="90000"/>
              </a:lnSpc>
              <a:spcBef>
                <a:spcPts val="1000"/>
              </a:spcBef>
              <a:spcAft>
                <a:spcPts val="0"/>
              </a:spcAft>
              <a:buClr>
                <a:srgbClr val="202124"/>
              </a:buClr>
              <a:buSzPts val="2800"/>
              <a:buFont typeface="Arial"/>
              <a:buChar char="•"/>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usuario de voz (VUI)</a:t>
            </a:r>
            <a:endParaRPr/>
          </a:p>
          <a:p>
            <a:pPr indent="-228600" lvl="0" marL="228600" rtl="0" algn="l">
              <a:lnSpc>
                <a:spcPct val="90000"/>
              </a:lnSpc>
              <a:spcBef>
                <a:spcPts val="1000"/>
              </a:spcBef>
              <a:spcAft>
                <a:spcPts val="0"/>
              </a:spcAft>
              <a:buClr>
                <a:srgbClr val="202124"/>
              </a:buClr>
              <a:buSzPts val="2800"/>
              <a:buFont typeface="Arial"/>
              <a:buChar char="•"/>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usuario basada en formularios.</a:t>
            </a:r>
            <a:endParaRPr/>
          </a:p>
          <a:p>
            <a:pPr indent="-228600" lvl="0" marL="228600" rtl="0" algn="l">
              <a:lnSpc>
                <a:spcPct val="90000"/>
              </a:lnSpc>
              <a:spcBef>
                <a:spcPts val="1000"/>
              </a:spcBef>
              <a:spcAft>
                <a:spcPts val="0"/>
              </a:spcAft>
              <a:buClr>
                <a:srgbClr val="202124"/>
              </a:buClr>
              <a:buSzPts val="2800"/>
              <a:buFont typeface="Arial"/>
              <a:buChar char="•"/>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usuario en lenguaje natural.</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02124"/>
              </a:buClr>
              <a:buSzPts val="4400"/>
              <a:buFont typeface="Arial"/>
              <a:buNone/>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gráfica de usuario (GUI) </a:t>
            </a:r>
            <a:endParaRPr/>
          </a:p>
        </p:txBody>
      </p:sp>
      <p:pic>
        <p:nvPicPr>
          <p:cNvPr id="108" name="Google Shape;108;p5"/>
          <p:cNvPicPr preferRelativeResize="0"/>
          <p:nvPr>
            <p:ph idx="1" type="body"/>
          </p:nvPr>
        </p:nvPicPr>
        <p:blipFill rotWithShape="1">
          <a:blip r:embed="rId3">
            <a:alphaModFix/>
          </a:blip>
          <a:srcRect b="0" l="0" r="0" t="0"/>
          <a:stretch/>
        </p:blipFill>
        <p:spPr>
          <a:xfrm>
            <a:off x="1051011" y="1825625"/>
            <a:ext cx="10089978" cy="43513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02124"/>
              </a:buClr>
              <a:buSzPts val="4400"/>
              <a:buFont typeface="Arial"/>
              <a:buNone/>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línea de comandos (CLI)</a:t>
            </a:r>
            <a:endParaRPr/>
          </a:p>
        </p:txBody>
      </p:sp>
      <p:sp>
        <p:nvSpPr>
          <p:cNvPr id="114" name="Google Shape;114;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Ejemplo:</a:t>
            </a:r>
            <a:endParaRPr/>
          </a:p>
          <a:p>
            <a:pPr indent="-228600" lvl="1" marL="685800" rtl="0" algn="l">
              <a:lnSpc>
                <a:spcPct val="90000"/>
              </a:lnSpc>
              <a:spcBef>
                <a:spcPts val="500"/>
              </a:spcBef>
              <a:spcAft>
                <a:spcPts val="0"/>
              </a:spcAft>
              <a:buClr>
                <a:schemeClr val="dk1"/>
              </a:buClr>
              <a:buSzPts val="2400"/>
              <a:buChar char="•"/>
            </a:pPr>
            <a:r>
              <a:rPr lang="es-ES"/>
              <a:t>.\gradlew tasks : </a:t>
            </a:r>
            <a:r>
              <a:rPr b="0" i="0" lang="es-ES">
                <a:solidFill>
                  <a:srgbClr val="202124"/>
                </a:solidFill>
                <a:latin typeface="Arial"/>
                <a:ea typeface="Arial"/>
                <a:cs typeface="Arial"/>
                <a:sym typeface="Arial"/>
              </a:rPr>
              <a:t> muestra una lista de todas las tareas de compilación 				disponibles para tu proyecto</a:t>
            </a:r>
            <a:endParaRPr/>
          </a:p>
          <a:p>
            <a:pPr indent="0" lvl="1" marL="457200" rtl="0" algn="l">
              <a:lnSpc>
                <a:spcPct val="90000"/>
              </a:lnSpc>
              <a:spcBef>
                <a:spcPts val="500"/>
              </a:spcBef>
              <a:spcAft>
                <a:spcPts val="0"/>
              </a:spcAft>
              <a:buClr>
                <a:schemeClr val="dk1"/>
              </a:buClr>
              <a:buSzPts val="2400"/>
              <a:buNone/>
            </a:pPr>
            <a:r>
              <a:t/>
            </a:r>
            <a:endParaRPr/>
          </a:p>
        </p:txBody>
      </p:sp>
      <p:pic>
        <p:nvPicPr>
          <p:cNvPr id="115" name="Google Shape;115;p6"/>
          <p:cNvPicPr preferRelativeResize="0"/>
          <p:nvPr/>
        </p:nvPicPr>
        <p:blipFill rotWithShape="1">
          <a:blip r:embed="rId3">
            <a:alphaModFix/>
          </a:blip>
          <a:srcRect b="0" l="0" r="0" t="0"/>
          <a:stretch/>
        </p:blipFill>
        <p:spPr>
          <a:xfrm>
            <a:off x="1097280" y="3318608"/>
            <a:ext cx="9668256" cy="29140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02124"/>
              </a:buClr>
              <a:buSzPts val="4400"/>
              <a:buFont typeface="Arial"/>
              <a:buNone/>
            </a:pPr>
            <a:r>
              <a:rPr b="1" i="0" lang="es-ES">
                <a:solidFill>
                  <a:srgbClr val="202124"/>
                </a:solidFill>
                <a:latin typeface="Arial"/>
                <a:ea typeface="Arial"/>
                <a:cs typeface="Arial"/>
                <a:sym typeface="Arial"/>
              </a:rPr>
              <a:t>Interfaz</a:t>
            </a:r>
            <a:r>
              <a:rPr b="0" i="0" lang="es-ES">
                <a:solidFill>
                  <a:srgbClr val="202124"/>
                </a:solidFill>
                <a:latin typeface="Arial"/>
                <a:ea typeface="Arial"/>
                <a:cs typeface="Arial"/>
                <a:sym typeface="Arial"/>
              </a:rPr>
              <a:t> de línea de comandos (CLI)</a:t>
            </a:r>
            <a:endParaRPr/>
          </a:p>
        </p:txBody>
      </p:sp>
      <p:sp>
        <p:nvSpPr>
          <p:cNvPr id="121" name="Google Shape;12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Ejemplo:</a:t>
            </a:r>
            <a:endParaRPr/>
          </a:p>
          <a:p>
            <a:pPr indent="-228600" lvl="1" marL="685800" rtl="0" algn="l">
              <a:lnSpc>
                <a:spcPct val="90000"/>
              </a:lnSpc>
              <a:spcBef>
                <a:spcPts val="500"/>
              </a:spcBef>
              <a:spcAft>
                <a:spcPts val="0"/>
              </a:spcAft>
              <a:buClr>
                <a:schemeClr val="dk1"/>
              </a:buClr>
              <a:buSzPts val="2400"/>
              <a:buChar char="•"/>
            </a:pPr>
            <a:r>
              <a:rPr lang="es-ES"/>
              <a:t>.\gradlew projects : muestra los proyectos disponible para gradle</a:t>
            </a:r>
            <a:endParaRPr/>
          </a:p>
          <a:p>
            <a:pPr indent="-228600" lvl="1" marL="685800" rtl="0" algn="l">
              <a:lnSpc>
                <a:spcPct val="90000"/>
              </a:lnSpc>
              <a:spcBef>
                <a:spcPts val="500"/>
              </a:spcBef>
              <a:spcAft>
                <a:spcPts val="0"/>
              </a:spcAft>
              <a:buClr>
                <a:schemeClr val="dk1"/>
              </a:buClr>
              <a:buSzPts val="2400"/>
              <a:buChar char="•"/>
            </a:pPr>
            <a:r>
              <a:rPr lang="es-ES"/>
              <a:t>. \gradlew :app:bundleDebug : </a:t>
            </a:r>
            <a:r>
              <a:rPr b="0" i="0" lang="es-ES">
                <a:solidFill>
                  <a:srgbClr val="202124"/>
                </a:solidFill>
                <a:latin typeface="Arial"/>
                <a:ea typeface="Arial"/>
                <a:cs typeface="Arial"/>
                <a:sym typeface="Arial"/>
              </a:rPr>
              <a:t> compila el proyecto desde cli</a:t>
            </a:r>
            <a:endParaRPr/>
          </a:p>
        </p:txBody>
      </p:sp>
      <p:pic>
        <p:nvPicPr>
          <p:cNvPr id="122" name="Google Shape;122;p7"/>
          <p:cNvPicPr preferRelativeResize="0"/>
          <p:nvPr/>
        </p:nvPicPr>
        <p:blipFill rotWithShape="1">
          <a:blip r:embed="rId3">
            <a:alphaModFix/>
          </a:blip>
          <a:srcRect b="0" l="0" r="0" t="0"/>
          <a:stretch/>
        </p:blipFill>
        <p:spPr>
          <a:xfrm>
            <a:off x="1054608" y="3869642"/>
            <a:ext cx="10082784" cy="15527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Extra:</a:t>
            </a:r>
            <a:endParaRPr/>
          </a:p>
        </p:txBody>
      </p:sp>
      <p:sp>
        <p:nvSpPr>
          <p:cNvPr id="128" name="Google Shape;12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u="sng">
                <a:solidFill>
                  <a:schemeClr val="hlink"/>
                </a:solidFill>
                <a:hlinkClick r:id="rId3"/>
              </a:rPr>
              <a:t>https://developer.android.com/tools</a:t>
            </a:r>
            <a:endParaRPr/>
          </a:p>
          <a:p>
            <a:pPr indent="-228600" lvl="0" marL="228600" rtl="0" algn="l">
              <a:lnSpc>
                <a:spcPct val="90000"/>
              </a:lnSpc>
              <a:spcBef>
                <a:spcPts val="1000"/>
              </a:spcBef>
              <a:spcAft>
                <a:spcPts val="0"/>
              </a:spcAft>
              <a:buClr>
                <a:schemeClr val="dk1"/>
              </a:buClr>
              <a:buSzPts val="2800"/>
              <a:buChar char="•"/>
            </a:pPr>
            <a:r>
              <a:rPr lang="es-ES" u="sng">
                <a:solidFill>
                  <a:schemeClr val="hlink"/>
                </a:solidFill>
                <a:hlinkClick r:id="rId4"/>
              </a:rPr>
              <a:t>https://developer.android.com/studio/command-line?hl=es-419</a:t>
            </a:r>
            <a:endParaRPr/>
          </a:p>
          <a:p>
            <a:pPr indent="-228600" lvl="0" marL="228600" rtl="0" algn="l">
              <a:lnSpc>
                <a:spcPct val="90000"/>
              </a:lnSpc>
              <a:spcBef>
                <a:spcPts val="1000"/>
              </a:spcBef>
              <a:spcAft>
                <a:spcPts val="0"/>
              </a:spcAft>
              <a:buClr>
                <a:schemeClr val="dk1"/>
              </a:buClr>
              <a:buSzPts val="2800"/>
              <a:buChar char="•"/>
            </a:pPr>
            <a:r>
              <a:rPr lang="es-ES" u="sng">
                <a:solidFill>
                  <a:schemeClr val="hlink"/>
                </a:solidFill>
                <a:hlinkClick r:id="rId5"/>
              </a:rPr>
              <a:t>https://developer.android.com/build/building-cmdline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s-ES"/>
              <a:t>API</a:t>
            </a:r>
            <a:endParaRPr/>
          </a:p>
        </p:txBody>
      </p:sp>
      <p:sp>
        <p:nvSpPr>
          <p:cNvPr id="134" name="Google Shape;13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Introducción</a:t>
            </a:r>
            <a:endParaRPr/>
          </a:p>
        </p:txBody>
      </p:sp>
      <p:sp>
        <p:nvSpPr>
          <p:cNvPr id="140" name="Google Shape;140;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s-ES">
                <a:latin typeface="Arial"/>
                <a:ea typeface="Arial"/>
                <a:cs typeface="Arial"/>
                <a:sym typeface="Arial"/>
              </a:rPr>
              <a:t>En el mundo de la programación de aplicaciones, las API desempeñan un papel fundamental como puentes de comunicación entre diferentes componentes de software.</a:t>
            </a:r>
            <a:endParaRPr/>
          </a:p>
          <a:p>
            <a:pPr indent="-228600" lvl="0" marL="228600" rtl="0" algn="l">
              <a:lnSpc>
                <a:spcPct val="90000"/>
              </a:lnSpc>
              <a:spcBef>
                <a:spcPts val="1000"/>
              </a:spcBef>
              <a:spcAft>
                <a:spcPts val="0"/>
              </a:spcAft>
              <a:buClr>
                <a:schemeClr val="dk1"/>
              </a:buClr>
              <a:buSzPts val="2800"/>
              <a:buFont typeface="Arial"/>
              <a:buChar char="•"/>
            </a:pPr>
            <a:r>
              <a:rPr b="0" i="0" lang="es-ES">
                <a:latin typeface="Arial"/>
                <a:ea typeface="Arial"/>
                <a:cs typeface="Arial"/>
                <a:sym typeface="Arial"/>
              </a:rPr>
              <a:t>Comprender los tipos de API es esencial para el desarrollo exitoso de aplicaciones móviles y web.</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¿Qué es una API?</a:t>
            </a:r>
            <a:endParaRPr/>
          </a:p>
        </p:txBody>
      </p:sp>
      <p:sp>
        <p:nvSpPr>
          <p:cNvPr id="146" name="Google Shape;14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s-ES">
                <a:latin typeface="Arial"/>
                <a:ea typeface="Arial"/>
                <a:cs typeface="Arial"/>
                <a:sym typeface="Arial"/>
              </a:rPr>
              <a:t>Definición de API (Application Programming Interface).</a:t>
            </a:r>
            <a:endParaRPr/>
          </a:p>
          <a:p>
            <a:pPr indent="-285750" lvl="1" marL="742950" rtl="0" algn="l">
              <a:lnSpc>
                <a:spcPct val="90000"/>
              </a:lnSpc>
              <a:spcBef>
                <a:spcPts val="500"/>
              </a:spcBef>
              <a:spcAft>
                <a:spcPts val="0"/>
              </a:spcAft>
              <a:buClr>
                <a:schemeClr val="dk1"/>
              </a:buClr>
              <a:buSzPts val="2400"/>
              <a:buFont typeface="Arial"/>
              <a:buChar char="•"/>
            </a:pPr>
            <a:r>
              <a:rPr b="0" i="0" lang="es-ES">
                <a:latin typeface="Arial"/>
                <a:ea typeface="Arial"/>
                <a:cs typeface="Arial"/>
                <a:sym typeface="Arial"/>
              </a:rPr>
              <a:t>Una API es un conjunto de reglas y protocolos que permite que diferentes aplicaciones se comuniquen entre sí.</a:t>
            </a:r>
            <a:endParaRPr/>
          </a:p>
          <a:p>
            <a:pPr indent="0" lvl="1" marL="457200" rtl="0" algn="l">
              <a:lnSpc>
                <a:spcPct val="90000"/>
              </a:lnSpc>
              <a:spcBef>
                <a:spcPts val="500"/>
              </a:spcBef>
              <a:spcAft>
                <a:spcPts val="0"/>
              </a:spcAft>
              <a:buClr>
                <a:schemeClr val="dk1"/>
              </a:buClr>
              <a:buSzPts val="2400"/>
              <a:buNone/>
            </a:pPr>
            <a:r>
              <a:t/>
            </a:r>
            <a:endParaRPr b="0" i="0">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Font typeface="Arial"/>
              <a:buChar char="•"/>
            </a:pPr>
            <a:r>
              <a:rPr b="0" i="0" lang="es-ES">
                <a:latin typeface="Arial"/>
                <a:ea typeface="Arial"/>
                <a:cs typeface="Arial"/>
                <a:sym typeface="Arial"/>
              </a:rPr>
              <a:t>Su función como intermediario entre aplicaciones.</a:t>
            </a:r>
            <a:endParaRPr/>
          </a:p>
          <a:p>
            <a:pPr indent="-285750" lvl="1" marL="742950" rtl="0" algn="l">
              <a:lnSpc>
                <a:spcPct val="90000"/>
              </a:lnSpc>
              <a:spcBef>
                <a:spcPts val="500"/>
              </a:spcBef>
              <a:spcAft>
                <a:spcPts val="0"/>
              </a:spcAft>
              <a:buClr>
                <a:schemeClr val="dk1"/>
              </a:buClr>
              <a:buSzPts val="2400"/>
              <a:buFont typeface="Arial"/>
              <a:buChar char="•"/>
            </a:pPr>
            <a:r>
              <a:rPr b="0" i="0" lang="es-ES">
                <a:latin typeface="Arial"/>
                <a:ea typeface="Arial"/>
                <a:cs typeface="Arial"/>
                <a:sym typeface="Arial"/>
              </a:rPr>
              <a:t>Imagina una API como un camarero en un restaurante: toma pedidos de los clientes (aplicaciones) y se comunica con la cocina (otras aplicaciones) para servir los platos (datos o funcionalidades).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s-ES"/>
              <a:t>Tipos</a:t>
            </a:r>
            <a:endParaRPr/>
          </a:p>
        </p:txBody>
      </p:sp>
      <p:sp>
        <p:nvSpPr>
          <p:cNvPr id="152" name="Google Shape;15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API de Biblioteca</a:t>
            </a:r>
            <a:endParaRPr/>
          </a:p>
        </p:txBody>
      </p:sp>
      <p:sp>
        <p:nvSpPr>
          <p:cNvPr id="158" name="Google Shape;15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Clr>
                <a:schemeClr val="dk1"/>
              </a:buClr>
              <a:buSzPts val="2400"/>
              <a:buNone/>
            </a:pPr>
            <a:r>
              <a:t/>
            </a:r>
            <a:endParaRPr b="0" i="0">
              <a:solidFill>
                <a:srgbClr val="D1D5DB"/>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rPr b="0" i="0" lang="es-ES">
                <a:latin typeface="Arial"/>
                <a:ea typeface="Arial"/>
                <a:cs typeface="Arial"/>
                <a:sym typeface="Arial"/>
              </a:rPr>
              <a:t>Las API de Biblioteca proporcionan funciones y métodos predefinidos que los desarrolladores pueden usar para simplificar tareas comunes.</a:t>
            </a:r>
            <a:endParaRPr/>
          </a:p>
          <a:p>
            <a:pPr indent="0" lvl="0" marL="0" rtl="0" algn="l">
              <a:lnSpc>
                <a:spcPct val="90000"/>
              </a:lnSpc>
              <a:spcBef>
                <a:spcPts val="1000"/>
              </a:spcBef>
              <a:spcAft>
                <a:spcPts val="0"/>
              </a:spcAft>
              <a:buClr>
                <a:schemeClr val="dk1"/>
              </a:buClr>
              <a:buSzPts val="2800"/>
              <a:buNone/>
            </a:pPr>
            <a:r>
              <a:t/>
            </a:r>
            <a:endParaRPr b="0" i="0">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rPr b="1" i="0" lang="es-ES">
                <a:latin typeface="Arial"/>
                <a:ea typeface="Arial"/>
                <a:cs typeface="Arial"/>
                <a:sym typeface="Arial"/>
              </a:rPr>
              <a:t>Ejemplo</a:t>
            </a:r>
            <a:r>
              <a:rPr b="0" i="0" lang="es-ES">
                <a:latin typeface="Arial"/>
                <a:ea typeface="Arial"/>
                <a:cs typeface="Arial"/>
                <a:sym typeface="Arial"/>
              </a:rPr>
              <a:t>: </a:t>
            </a:r>
            <a:r>
              <a:rPr b="0" i="0" lang="es-ES" sz="2400">
                <a:latin typeface="Arial"/>
                <a:ea typeface="Arial"/>
                <a:cs typeface="Arial"/>
                <a:sym typeface="Arial"/>
              </a:rPr>
              <a:t>Un ejemplo común de una API que se utiliza en aplicaciones Android desarrolladas con Kotlin es la API de Google Maps. Esta API permite a los desarrolladores integrar mapas interactivos en sus aplicaciones, lo que es especialmente útil para aplicaciones de navegación, servicios de entrega, búsqueda de ubicaciones y mucho más.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4" name="Google Shape;164;p14"/>
          <p:cNvPicPr preferRelativeResize="0"/>
          <p:nvPr>
            <p:ph idx="1" type="body"/>
          </p:nvPr>
        </p:nvPicPr>
        <p:blipFill rotWithShape="1">
          <a:blip r:embed="rId3">
            <a:alphaModFix/>
          </a:blip>
          <a:srcRect b="0" l="0" r="0" t="0"/>
          <a:stretch/>
        </p:blipFill>
        <p:spPr>
          <a:xfrm>
            <a:off x="768031" y="1935353"/>
            <a:ext cx="5084194" cy="4351338"/>
          </a:xfrm>
          <a:prstGeom prst="rect">
            <a:avLst/>
          </a:prstGeom>
          <a:noFill/>
          <a:ln>
            <a:noFill/>
          </a:ln>
        </p:spPr>
      </p:pic>
      <p:pic>
        <p:nvPicPr>
          <p:cNvPr id="165" name="Google Shape;165;p14"/>
          <p:cNvPicPr preferRelativeResize="0"/>
          <p:nvPr/>
        </p:nvPicPr>
        <p:blipFill rotWithShape="1">
          <a:blip r:embed="rId4">
            <a:alphaModFix/>
          </a:blip>
          <a:srcRect b="0" l="0" r="0" t="0"/>
          <a:stretch/>
        </p:blipFill>
        <p:spPr>
          <a:xfrm>
            <a:off x="5925644" y="1999488"/>
            <a:ext cx="5754863" cy="394468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API de Sistema</a:t>
            </a:r>
            <a:endParaRPr/>
          </a:p>
        </p:txBody>
      </p:sp>
      <p:sp>
        <p:nvSpPr>
          <p:cNvPr id="171" name="Google Shape;17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i="0" lang="es-ES">
                <a:latin typeface="Arial"/>
                <a:ea typeface="Arial"/>
                <a:cs typeface="Arial"/>
                <a:sym typeface="Arial"/>
              </a:rPr>
              <a:t>Las API de Sistema permiten a las aplicaciones acceder a las funcionalidades del sistema operativo subyacente.</a:t>
            </a:r>
            <a:endParaRPr/>
          </a:p>
          <a:p>
            <a:pPr indent="-50800" lvl="0" marL="22860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rPr b="1" i="0" lang="es-ES">
                <a:latin typeface="Arial"/>
                <a:ea typeface="Arial"/>
                <a:cs typeface="Arial"/>
                <a:sym typeface="Arial"/>
              </a:rPr>
              <a:t>Ejemplo</a:t>
            </a:r>
            <a:r>
              <a:rPr b="0" i="0" lang="es-ES">
                <a:latin typeface="Arial"/>
                <a:ea typeface="Arial"/>
                <a:cs typeface="Arial"/>
                <a:sym typeface="Arial"/>
              </a:rPr>
              <a:t>: En Android, estas API permiten interactuar con el hardware del dispositivo, como la cámara, el GPS o la gestión de la red.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API de Servicios Web (Web API)</a:t>
            </a:r>
            <a:endParaRPr/>
          </a:p>
        </p:txBody>
      </p:sp>
      <p:sp>
        <p:nvSpPr>
          <p:cNvPr id="177" name="Google Shape;17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s-ES">
                <a:latin typeface="Arial"/>
                <a:ea typeface="Arial"/>
                <a:cs typeface="Arial"/>
                <a:sym typeface="Arial"/>
              </a:rPr>
              <a:t>Las API de Servicios Web son interfaces que permiten a las aplicaciones comunicarse con servicios en línea a través de la web.</a:t>
            </a:r>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b="0" i="0" lang="es-ES">
                <a:latin typeface="Arial"/>
                <a:ea typeface="Arial"/>
                <a:cs typeface="Arial"/>
                <a:sym typeface="Arial"/>
              </a:rPr>
              <a:t>Utilizan el protocolo </a:t>
            </a:r>
            <a:r>
              <a:rPr b="0" i="0" lang="es-ES">
                <a:solidFill>
                  <a:srgbClr val="C00000"/>
                </a:solidFill>
                <a:latin typeface="Arial"/>
                <a:ea typeface="Arial"/>
                <a:cs typeface="Arial"/>
                <a:sym typeface="Arial"/>
              </a:rPr>
              <a:t>HTTP</a:t>
            </a:r>
            <a:r>
              <a:rPr b="0" i="0" lang="es-ES">
                <a:latin typeface="Arial"/>
                <a:ea typeface="Arial"/>
                <a:cs typeface="Arial"/>
                <a:sym typeface="Arial"/>
              </a:rPr>
              <a:t> para realizar solicitudes y recibir respuestas.</a:t>
            </a:r>
            <a:endParaRPr/>
          </a:p>
          <a:p>
            <a:pPr indent="-228600" lvl="1" marL="685800" rtl="0" algn="l">
              <a:lnSpc>
                <a:spcPct val="90000"/>
              </a:lnSpc>
              <a:spcBef>
                <a:spcPts val="500"/>
              </a:spcBef>
              <a:spcAft>
                <a:spcPts val="0"/>
              </a:spcAft>
              <a:buClr>
                <a:schemeClr val="dk1"/>
              </a:buClr>
              <a:buSzPts val="2400"/>
              <a:buChar char="•"/>
            </a:pPr>
            <a:r>
              <a:rPr b="0" i="0" lang="es-ES">
                <a:latin typeface="Arial"/>
                <a:ea typeface="Arial"/>
                <a:cs typeface="Arial"/>
                <a:sym typeface="Arial"/>
              </a:rPr>
              <a:t>Esta tecnología es esencial para acceder a datos en línea y servicios en la nube desde aplicaciones móviles.</a:t>
            </a:r>
            <a:endParaRPr/>
          </a:p>
          <a:p>
            <a:pPr indent="0" lvl="1" marL="457200" rtl="0" algn="l">
              <a:lnSpc>
                <a:spcPct val="90000"/>
              </a:lnSpc>
              <a:spcBef>
                <a:spcPts val="500"/>
              </a:spcBef>
              <a:spcAft>
                <a:spcPts val="0"/>
              </a:spcAft>
              <a:buClr>
                <a:schemeClr val="dk1"/>
              </a:buClr>
              <a:buSzPts val="2400"/>
              <a:buNone/>
            </a:pPr>
            <a:r>
              <a:t/>
            </a:r>
            <a:endParaRPr b="0" i="0">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Definición </a:t>
            </a:r>
            <a:endParaRPr/>
          </a:p>
        </p:txBody>
      </p:sp>
      <p:sp>
        <p:nvSpPr>
          <p:cNvPr id="183" name="Google Shape;18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122872" lvl="0" marL="228600" rtl="0" algn="l">
              <a:lnSpc>
                <a:spcPct val="90000"/>
              </a:lnSpc>
              <a:spcBef>
                <a:spcPts val="0"/>
              </a:spcBef>
              <a:spcAft>
                <a:spcPts val="0"/>
              </a:spcAft>
              <a:buClr>
                <a:schemeClr val="dk1"/>
              </a:buClr>
              <a:buSzPct val="100000"/>
              <a:buNone/>
            </a:pPr>
            <a:r>
              <a:t/>
            </a:r>
            <a:endParaRPr b="0" i="0" sz="1800" u="none"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000000"/>
              </a:buClr>
              <a:buSzPct val="100000"/>
              <a:buNone/>
            </a:pPr>
            <a:r>
              <a:rPr b="0" i="0" lang="es-ES" sz="2400" u="none" strike="noStrike">
                <a:solidFill>
                  <a:srgbClr val="000000"/>
                </a:solidFill>
                <a:latin typeface="Arial"/>
                <a:ea typeface="Arial"/>
                <a:cs typeface="Arial"/>
                <a:sym typeface="Arial"/>
              </a:rPr>
              <a:t>API que es accedida desde internet sin necesidad de tener la biblioteca descargada</a:t>
            </a:r>
            <a:endParaRPr/>
          </a:p>
          <a:p>
            <a:pPr indent="0" lvl="0" marL="0" rtl="0" algn="l">
              <a:lnSpc>
                <a:spcPct val="90000"/>
              </a:lnSpc>
              <a:spcBef>
                <a:spcPts val="1000"/>
              </a:spcBef>
              <a:spcAft>
                <a:spcPts val="0"/>
              </a:spcAft>
              <a:buClr>
                <a:schemeClr val="dk1"/>
              </a:buClr>
              <a:buSzPct val="100000"/>
              <a:buNone/>
            </a:pPr>
            <a:r>
              <a:t/>
            </a:r>
            <a:endParaRPr b="0" i="0" sz="1800" u="none"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000000"/>
              </a:buClr>
              <a:buSzPct val="100000"/>
              <a:buNone/>
            </a:pPr>
            <a:r>
              <a:rPr b="0" i="0" lang="es-ES" sz="1800" u="none" strike="noStrike">
                <a:solidFill>
                  <a:srgbClr val="000000"/>
                </a:solidFill>
                <a:latin typeface="Arial"/>
                <a:ea typeface="Arial"/>
                <a:cs typeface="Arial"/>
                <a:sym typeface="Arial"/>
              </a:rPr>
              <a:t>Permite a páginas web ofrecer funcionalidades referentes a dicha web</a:t>
            </a:r>
            <a:endParaRPr/>
          </a:p>
          <a:p>
            <a:pPr indent="0" lvl="0" marL="0" rtl="0" algn="l">
              <a:lnSpc>
                <a:spcPct val="90000"/>
              </a:lnSpc>
              <a:spcBef>
                <a:spcPts val="1000"/>
              </a:spcBef>
              <a:spcAft>
                <a:spcPts val="0"/>
              </a:spcAft>
              <a:buClr>
                <a:schemeClr val="dk1"/>
              </a:buClr>
              <a:buSzPct val="100000"/>
              <a:buNone/>
            </a:pPr>
            <a:r>
              <a:t/>
            </a:r>
            <a:endParaRPr b="0" i="0" sz="1800" u="none"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000000"/>
              </a:buClr>
              <a:buSzPct val="100000"/>
              <a:buNone/>
            </a:pPr>
            <a:r>
              <a:rPr b="0" i="0" lang="es-ES" sz="1800" u="none" strike="noStrike">
                <a:solidFill>
                  <a:srgbClr val="000000"/>
                </a:solidFill>
                <a:latin typeface="Arial"/>
                <a:ea typeface="Arial"/>
                <a:cs typeface="Arial"/>
                <a:sym typeface="Arial"/>
              </a:rPr>
              <a:t>Ejemplos:</a:t>
            </a:r>
            <a:endParaRPr/>
          </a:p>
          <a:p>
            <a:pPr indent="0" lvl="0" marL="0" rtl="0" algn="l">
              <a:lnSpc>
                <a:spcPct val="90000"/>
              </a:lnSpc>
              <a:spcBef>
                <a:spcPts val="1000"/>
              </a:spcBef>
              <a:spcAft>
                <a:spcPts val="0"/>
              </a:spcAft>
              <a:buClr>
                <a:srgbClr val="000000"/>
              </a:buClr>
              <a:buSzPct val="100000"/>
              <a:buNone/>
            </a:pPr>
            <a:r>
              <a:rPr b="0" i="0" lang="es-ES" sz="1800" u="none" strike="noStrike">
                <a:solidFill>
                  <a:srgbClr val="000000"/>
                </a:solidFill>
                <a:latin typeface="Arial"/>
                <a:ea typeface="Arial"/>
                <a:cs typeface="Arial"/>
                <a:sym typeface="Arial"/>
              </a:rPr>
              <a:t>•Inicio de sesión con cuenta de Facebook: </a:t>
            </a:r>
            <a:r>
              <a:rPr b="0" i="0" lang="es-ES" sz="1800" u="none" strike="noStrike">
                <a:solidFill>
                  <a:srgbClr val="0462C1"/>
                </a:solidFill>
                <a:latin typeface="Arial"/>
                <a:ea typeface="Arial"/>
                <a:cs typeface="Arial"/>
                <a:sym typeface="Arial"/>
              </a:rPr>
              <a:t>https://developers.facebook.com/products/facebook-login/</a:t>
            </a:r>
            <a:endParaRPr/>
          </a:p>
          <a:p>
            <a:pPr indent="0" lvl="0" marL="0" rtl="0" algn="l">
              <a:lnSpc>
                <a:spcPct val="90000"/>
              </a:lnSpc>
              <a:spcBef>
                <a:spcPts val="1000"/>
              </a:spcBef>
              <a:spcAft>
                <a:spcPts val="0"/>
              </a:spcAft>
              <a:buClr>
                <a:srgbClr val="000000"/>
              </a:buClr>
              <a:buSzPct val="100000"/>
              <a:buNone/>
            </a:pPr>
            <a:r>
              <a:rPr b="0" i="0" lang="es-ES" sz="1800" u="none" strike="noStrike">
                <a:solidFill>
                  <a:srgbClr val="000000"/>
                </a:solidFill>
                <a:latin typeface="Arial"/>
                <a:ea typeface="Arial"/>
                <a:cs typeface="Arial"/>
                <a:sym typeface="Arial"/>
              </a:rPr>
              <a:t>•API Twitter: </a:t>
            </a:r>
            <a:r>
              <a:rPr b="0" i="0" lang="es-ES" sz="1800" u="none" strike="noStrike">
                <a:solidFill>
                  <a:srgbClr val="0462C1"/>
                </a:solidFill>
                <a:latin typeface="Arial"/>
                <a:ea typeface="Arial"/>
                <a:cs typeface="Arial"/>
                <a:sym typeface="Arial"/>
              </a:rPr>
              <a:t>https://developer.twitter.com/en/docs/twitter-apiv</a:t>
            </a:r>
            <a:endParaRPr/>
          </a:p>
          <a:p>
            <a:pPr indent="0" lvl="0" marL="0" rtl="0" algn="l">
              <a:lnSpc>
                <a:spcPct val="90000"/>
              </a:lnSpc>
              <a:spcBef>
                <a:spcPts val="1000"/>
              </a:spcBef>
              <a:spcAft>
                <a:spcPts val="0"/>
              </a:spcAft>
              <a:buClr>
                <a:srgbClr val="000000"/>
              </a:buClr>
              <a:buSzPct val="100000"/>
              <a:buNone/>
            </a:pPr>
            <a:r>
              <a:rPr b="0" i="0" lang="es-ES" sz="1800" u="none" strike="noStrike">
                <a:solidFill>
                  <a:srgbClr val="000000"/>
                </a:solidFill>
                <a:latin typeface="Arial"/>
                <a:ea typeface="Arial"/>
                <a:cs typeface="Arial"/>
                <a:sym typeface="Arial"/>
              </a:rPr>
              <a:t>•Google Maps: </a:t>
            </a:r>
            <a:r>
              <a:rPr b="0" i="0" lang="es-ES" sz="1800" u="none" strike="noStrike">
                <a:solidFill>
                  <a:srgbClr val="0462C1"/>
                </a:solidFill>
                <a:latin typeface="Arial"/>
                <a:ea typeface="Arial"/>
                <a:cs typeface="Arial"/>
                <a:sym typeface="Arial"/>
              </a:rPr>
              <a:t>https://developers.google.com/maps?hl=es-419</a:t>
            </a:r>
            <a:endParaRPr/>
          </a:p>
          <a:p>
            <a:pPr indent="0" lvl="0" marL="0" rtl="0" algn="l">
              <a:lnSpc>
                <a:spcPct val="90000"/>
              </a:lnSpc>
              <a:spcBef>
                <a:spcPts val="1000"/>
              </a:spcBef>
              <a:spcAft>
                <a:spcPts val="0"/>
              </a:spcAft>
              <a:buClr>
                <a:srgbClr val="000000"/>
              </a:buClr>
              <a:buSzPct val="100000"/>
              <a:buNone/>
            </a:pPr>
            <a:r>
              <a:rPr b="0" i="0" lang="es-ES" sz="1800" u="none" strike="noStrike">
                <a:solidFill>
                  <a:srgbClr val="000000"/>
                </a:solidFill>
                <a:latin typeface="Arial"/>
                <a:ea typeface="Arial"/>
                <a:cs typeface="Arial"/>
                <a:sym typeface="Arial"/>
              </a:rPr>
              <a:t>•PayPal: </a:t>
            </a:r>
            <a:r>
              <a:rPr b="0" i="0" lang="es-ES" sz="1800" u="none" strike="noStrike">
                <a:solidFill>
                  <a:srgbClr val="0462C1"/>
                </a:solidFill>
                <a:latin typeface="Arial"/>
                <a:ea typeface="Arial"/>
                <a:cs typeface="Arial"/>
                <a:sym typeface="Arial"/>
              </a:rPr>
              <a:t>https://developer.paypal.com/docs/api/overview/ </a:t>
            </a:r>
            <a:endParaRPr/>
          </a:p>
          <a:p>
            <a:pPr indent="-122872" lvl="0" marL="228600" rtl="0" algn="l">
              <a:lnSpc>
                <a:spcPct val="90000"/>
              </a:lnSpc>
              <a:spcBef>
                <a:spcPts val="1000"/>
              </a:spcBef>
              <a:spcAft>
                <a:spcPts val="0"/>
              </a:spcAft>
              <a:buClr>
                <a:schemeClr val="dk1"/>
              </a:buClr>
              <a:buSzPct val="100000"/>
              <a:buNone/>
            </a:pPr>
            <a:r>
              <a:t/>
            </a:r>
            <a:endParaRPr b="0" i="0" sz="1800" u="none" strike="noStrike">
              <a:solidFill>
                <a:srgbClr val="0462C1"/>
              </a:solidFill>
              <a:latin typeface="Arial"/>
              <a:ea typeface="Arial"/>
              <a:cs typeface="Arial"/>
              <a:sym typeface="Arial"/>
            </a:endParaRPr>
          </a:p>
          <a:p>
            <a:pPr indent="-228600" lvl="0" marL="228600" rtl="0" algn="l">
              <a:lnSpc>
                <a:spcPct val="90000"/>
              </a:lnSpc>
              <a:spcBef>
                <a:spcPts val="1000"/>
              </a:spcBef>
              <a:spcAft>
                <a:spcPts val="0"/>
              </a:spcAft>
              <a:buClr>
                <a:srgbClr val="888888"/>
              </a:buClr>
              <a:buSzPct val="100000"/>
              <a:buChar char="•"/>
            </a:pPr>
            <a:r>
              <a:rPr b="0" i="0" lang="es-ES" sz="1800" u="none" strike="noStrike">
                <a:solidFill>
                  <a:srgbClr val="888888"/>
                </a:solidFill>
                <a:latin typeface="Calibri"/>
                <a:ea typeface="Calibri"/>
                <a:cs typeface="Calibri"/>
                <a:sym typeface="Calibri"/>
              </a:rPr>
              <a:t>Desarrollo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API RESTful</a:t>
            </a:r>
            <a:endParaRPr/>
          </a:p>
        </p:txBody>
      </p:sp>
      <p:sp>
        <p:nvSpPr>
          <p:cNvPr id="189" name="Google Shape;18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s-ES">
                <a:latin typeface="Arial"/>
                <a:ea typeface="Arial"/>
                <a:cs typeface="Arial"/>
                <a:sym typeface="Arial"/>
              </a:rPr>
              <a:t>Las API RESTful siguen los principios de REST (Representational State Transfer) y utilizan las operaciones HTTP estándar (GET, POST, PUT, DELETE) para interactuar con recursos en la web.</a:t>
            </a:r>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rPr b="1" i="0" lang="es-ES">
                <a:latin typeface="Arial"/>
                <a:ea typeface="Arial"/>
                <a:cs typeface="Arial"/>
                <a:sym typeface="Arial"/>
              </a:rPr>
              <a:t>Ventajas de usar REST en el desarrollo de aplicaciones:</a:t>
            </a:r>
            <a:endParaRPr/>
          </a:p>
          <a:p>
            <a:pPr indent="0" lvl="0" marL="0" rtl="0" algn="l">
              <a:lnSpc>
                <a:spcPct val="90000"/>
              </a:lnSpc>
              <a:spcBef>
                <a:spcPts val="1000"/>
              </a:spcBef>
              <a:spcAft>
                <a:spcPts val="0"/>
              </a:spcAft>
              <a:buClr>
                <a:schemeClr val="dk1"/>
              </a:buClr>
              <a:buSzPts val="2800"/>
              <a:buNone/>
            </a:pPr>
            <a:r>
              <a:rPr b="0" i="0" lang="es-ES">
                <a:latin typeface="Arial"/>
                <a:ea typeface="Arial"/>
                <a:cs typeface="Arial"/>
                <a:sym typeface="Arial"/>
              </a:rPr>
              <a:t>Escalabilidad, simplicidad y facilidad de uso son algunas de las ventajas clave de las API RESTful.</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API SOAP</a:t>
            </a:r>
            <a:endParaRPr/>
          </a:p>
        </p:txBody>
      </p:sp>
      <p:sp>
        <p:nvSpPr>
          <p:cNvPr id="195" name="Google Shape;195;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s-ES">
                <a:latin typeface="Arial"/>
                <a:ea typeface="Arial"/>
                <a:cs typeface="Arial"/>
                <a:sym typeface="Arial"/>
              </a:rPr>
              <a:t>API SOAP se basa en un protocolo de comunicación más estructurado y utiliza XML para definir el formato de los mensajes.</a:t>
            </a:r>
            <a:endParaRPr/>
          </a:p>
          <a:p>
            <a:pPr indent="-228600" lvl="0" marL="228600" rtl="0" algn="l">
              <a:lnSpc>
                <a:spcPct val="90000"/>
              </a:lnSpc>
              <a:spcBef>
                <a:spcPts val="1000"/>
              </a:spcBef>
              <a:spcAft>
                <a:spcPts val="0"/>
              </a:spcAft>
              <a:buClr>
                <a:schemeClr val="dk1"/>
              </a:buClr>
              <a:buSzPts val="2800"/>
              <a:buChar char="•"/>
            </a:pPr>
            <a:r>
              <a:rPr b="0" i="0" lang="es-ES">
                <a:latin typeface="Arial"/>
                <a:ea typeface="Arial"/>
                <a:cs typeface="Arial"/>
                <a:sym typeface="Arial"/>
              </a:rPr>
              <a:t>Aunque menos común en aplicaciones móviles, algunas aplicaciones empresariales utilizan API SOAP para garantizar la seguridad y la integridad de los datos.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0"/>
          <p:cNvSpPr txBox="1"/>
          <p:nvPr>
            <p:ph idx="1" type="body"/>
          </p:nvPr>
        </p:nvSpPr>
        <p:spPr>
          <a:xfrm>
            <a:off x="838200" y="2191385"/>
            <a:ext cx="10515600" cy="3776599"/>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0"/>
              </a:spcBef>
              <a:spcAft>
                <a:spcPts val="0"/>
              </a:spcAft>
              <a:buClr>
                <a:schemeClr val="dk1"/>
              </a:buClr>
              <a:buSzPts val="2400"/>
              <a:buNone/>
            </a:pPr>
            <a:r>
              <a:t/>
            </a:r>
            <a:endParaRPr b="0" i="0" sz="2400" u="none" strike="noStrike">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2400"/>
              <a:buChar char="•"/>
            </a:pPr>
            <a:r>
              <a:rPr b="0" i="0" lang="es-ES" sz="2400" u="none" strike="noStrike">
                <a:solidFill>
                  <a:srgbClr val="000000"/>
                </a:solidFill>
                <a:latin typeface="Arial"/>
                <a:ea typeface="Arial"/>
                <a:cs typeface="Arial"/>
                <a:sym typeface="Arial"/>
              </a:rPr>
              <a:t>Históricamente el intercambio de datos entre el cliente y el servidor se ha realizado en formato XML, aunque hoy en día es más común que sea en JSON</a:t>
            </a:r>
            <a:endParaRPr/>
          </a:p>
          <a:p>
            <a:pPr indent="-76200" lvl="0" marL="228600" rtl="0" algn="l">
              <a:lnSpc>
                <a:spcPct val="90000"/>
              </a:lnSpc>
              <a:spcBef>
                <a:spcPts val="1000"/>
              </a:spcBef>
              <a:spcAft>
                <a:spcPts val="0"/>
              </a:spcAft>
              <a:buClr>
                <a:schemeClr val="dk1"/>
              </a:buClr>
              <a:buSzPts val="2400"/>
              <a:buNone/>
            </a:pPr>
            <a:r>
              <a:t/>
            </a:r>
            <a:endParaRPr sz="2400">
              <a:solidFill>
                <a:srgbClr val="000000"/>
              </a:solidFill>
              <a:latin typeface="Arial"/>
              <a:ea typeface="Arial"/>
              <a:cs typeface="Arial"/>
              <a:sym typeface="Arial"/>
            </a:endParaRPr>
          </a:p>
          <a:p>
            <a:pPr indent="-228600" lvl="0" marL="228600" rtl="0" algn="l">
              <a:lnSpc>
                <a:spcPct val="90000"/>
              </a:lnSpc>
              <a:spcBef>
                <a:spcPts val="1000"/>
              </a:spcBef>
              <a:spcAft>
                <a:spcPts val="0"/>
              </a:spcAft>
              <a:buClr>
                <a:srgbClr val="000000"/>
              </a:buClr>
              <a:buSzPts val="2400"/>
              <a:buChar char="•"/>
            </a:pPr>
            <a:r>
              <a:rPr b="0" i="0" lang="es-ES" sz="2400" u="none" strike="noStrike">
                <a:solidFill>
                  <a:srgbClr val="000000"/>
                </a:solidFill>
                <a:latin typeface="Arial"/>
                <a:ea typeface="Arial"/>
                <a:cs typeface="Arial"/>
                <a:sym typeface="Arial"/>
              </a:rPr>
              <a:t>Es importante por lo tanto saber utilizar bibliotecas que permitan trasformar datos en JSON a objetos del lenguajes, e.g.: GSON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01" name="Google Shape;201;p20"/>
          <p:cNvPicPr preferRelativeResize="0"/>
          <p:nvPr/>
        </p:nvPicPr>
        <p:blipFill rotWithShape="1">
          <a:blip r:embed="rId3">
            <a:alphaModFix/>
          </a:blip>
          <a:srcRect b="0" l="0" r="0" t="0"/>
          <a:stretch/>
        </p:blipFill>
        <p:spPr>
          <a:xfrm>
            <a:off x="463296" y="443838"/>
            <a:ext cx="11265408" cy="156349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txBox="1"/>
          <p:nvPr>
            <p:ph type="title"/>
          </p:nvPr>
        </p:nvSpPr>
        <p:spPr>
          <a:xfrm>
            <a:off x="838200" y="365125"/>
            <a:ext cx="10515600" cy="1048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Ventajas de API REST:</a:t>
            </a:r>
            <a:endParaRPr/>
          </a:p>
        </p:txBody>
      </p:sp>
      <p:sp>
        <p:nvSpPr>
          <p:cNvPr id="207" name="Google Shape;207;p21"/>
          <p:cNvSpPr txBox="1"/>
          <p:nvPr>
            <p:ph idx="1" type="body"/>
          </p:nvPr>
        </p:nvSpPr>
        <p:spPr>
          <a:xfrm>
            <a:off x="477775" y="1528500"/>
            <a:ext cx="10875900" cy="5068500"/>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0"/>
              </a:spcBef>
              <a:spcAft>
                <a:spcPts val="0"/>
              </a:spcAft>
              <a:buClr>
                <a:schemeClr val="dk1"/>
              </a:buClr>
              <a:buSzPts val="2800"/>
              <a:buFont typeface="Calibri"/>
              <a:buAutoNum type="arabicPeriod"/>
            </a:pPr>
            <a:r>
              <a:rPr b="1" i="0" lang="es-ES">
                <a:latin typeface="Arial"/>
                <a:ea typeface="Arial"/>
                <a:cs typeface="Arial"/>
                <a:sym typeface="Arial"/>
              </a:rPr>
              <a:t>Simplicidad:</a:t>
            </a:r>
            <a:r>
              <a:rPr b="0" i="0" lang="es-ES">
                <a:latin typeface="Arial"/>
                <a:ea typeface="Arial"/>
                <a:cs typeface="Arial"/>
                <a:sym typeface="Arial"/>
              </a:rPr>
              <a:t> Las API REST utilizan operaciones HTTP estándar (GET, POST, PUT, DELETE), lo que hace que sean fáciles de entender y utilizar.</a:t>
            </a:r>
            <a:endParaRPr/>
          </a:p>
          <a:p>
            <a:pPr indent="-241934" lvl="0" marL="228600" rtl="0" algn="l">
              <a:lnSpc>
                <a:spcPct val="90000"/>
              </a:lnSpc>
              <a:spcBef>
                <a:spcPts val="1000"/>
              </a:spcBef>
              <a:spcAft>
                <a:spcPts val="0"/>
              </a:spcAft>
              <a:buClr>
                <a:schemeClr val="dk1"/>
              </a:buClr>
              <a:buSzPts val="2800"/>
              <a:buFont typeface="Calibri"/>
              <a:buAutoNum type="arabicPeriod"/>
            </a:pPr>
            <a:r>
              <a:rPr b="1" i="0" lang="es-ES">
                <a:latin typeface="Arial"/>
                <a:ea typeface="Arial"/>
                <a:cs typeface="Arial"/>
                <a:sym typeface="Arial"/>
              </a:rPr>
              <a:t>Ligereza:</a:t>
            </a:r>
            <a:r>
              <a:rPr b="0" i="0" lang="es-ES">
                <a:latin typeface="Arial"/>
                <a:ea typeface="Arial"/>
                <a:cs typeface="Arial"/>
                <a:sym typeface="Arial"/>
              </a:rPr>
              <a:t> Las respuestas suelen ser más ligeras porque a menudo se envían en formato JSON, que es más eficiente en términos de tamaño y ancho de banda.</a:t>
            </a:r>
            <a:endParaRPr/>
          </a:p>
          <a:p>
            <a:pPr indent="-241934" lvl="0" marL="228600" rtl="0" algn="l">
              <a:lnSpc>
                <a:spcPct val="90000"/>
              </a:lnSpc>
              <a:spcBef>
                <a:spcPts val="1000"/>
              </a:spcBef>
              <a:spcAft>
                <a:spcPts val="0"/>
              </a:spcAft>
              <a:buClr>
                <a:schemeClr val="dk1"/>
              </a:buClr>
              <a:buSzPts val="2800"/>
              <a:buFont typeface="Calibri"/>
              <a:buAutoNum type="arabicPeriod"/>
            </a:pPr>
            <a:r>
              <a:rPr b="1" i="0" lang="es-ES">
                <a:latin typeface="Arial"/>
                <a:ea typeface="Arial"/>
                <a:cs typeface="Arial"/>
                <a:sym typeface="Arial"/>
              </a:rPr>
              <a:t>Escalabilidad:</a:t>
            </a:r>
            <a:r>
              <a:rPr b="0" i="0" lang="es-ES">
                <a:latin typeface="Arial"/>
                <a:ea typeface="Arial"/>
                <a:cs typeface="Arial"/>
                <a:sym typeface="Arial"/>
              </a:rPr>
              <a:t> Las API REST son altamente escalables y funcionan bien en entornos distribuidos y en la nube.</a:t>
            </a:r>
            <a:endParaRPr/>
          </a:p>
          <a:p>
            <a:pPr indent="-241934" lvl="0" marL="228600" rtl="0" algn="l">
              <a:lnSpc>
                <a:spcPct val="90000"/>
              </a:lnSpc>
              <a:spcBef>
                <a:spcPts val="1000"/>
              </a:spcBef>
              <a:spcAft>
                <a:spcPts val="0"/>
              </a:spcAft>
              <a:buClr>
                <a:schemeClr val="dk1"/>
              </a:buClr>
              <a:buSzPts val="2800"/>
              <a:buFont typeface="Calibri"/>
              <a:buAutoNum type="arabicPeriod"/>
            </a:pPr>
            <a:r>
              <a:rPr b="1" i="0" lang="es-ES">
                <a:latin typeface="Arial"/>
                <a:ea typeface="Arial"/>
                <a:cs typeface="Arial"/>
                <a:sym typeface="Arial"/>
              </a:rPr>
              <a:t>Fácil de depurar:</a:t>
            </a:r>
            <a:r>
              <a:rPr b="0" i="0" lang="es-ES">
                <a:latin typeface="Arial"/>
                <a:ea typeface="Arial"/>
                <a:cs typeface="Arial"/>
                <a:sym typeface="Arial"/>
              </a:rPr>
              <a:t> Como las solicitudes y respuestas son legibles en formato texto, es más sencillo depurar problemas y errores.</a:t>
            </a:r>
            <a:endParaRPr/>
          </a:p>
          <a:p>
            <a:pPr indent="-241934" lvl="0" marL="228600" rtl="0" algn="l">
              <a:lnSpc>
                <a:spcPct val="90000"/>
              </a:lnSpc>
              <a:spcBef>
                <a:spcPts val="1000"/>
              </a:spcBef>
              <a:spcAft>
                <a:spcPts val="0"/>
              </a:spcAft>
              <a:buClr>
                <a:schemeClr val="dk1"/>
              </a:buClr>
              <a:buSzPts val="2800"/>
              <a:buFont typeface="Calibri"/>
              <a:buAutoNum type="arabicPeriod"/>
            </a:pPr>
            <a:r>
              <a:rPr b="1" i="0" lang="es-ES">
                <a:latin typeface="Arial"/>
                <a:ea typeface="Arial"/>
                <a:cs typeface="Arial"/>
                <a:sym typeface="Arial"/>
              </a:rPr>
              <a:t>Buena para aplicaciones web y móviles:</a:t>
            </a:r>
            <a:r>
              <a:rPr b="0" i="0" lang="es-ES">
                <a:latin typeface="Arial"/>
                <a:ea typeface="Arial"/>
                <a:cs typeface="Arial"/>
                <a:sym typeface="Arial"/>
              </a:rPr>
              <a:t> Las API REST son ideales para aplicaciones web y móviles debido a su simplicidad y eficiencia.</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Ejemplo Api rest</a:t>
            </a:r>
            <a:endParaRPr/>
          </a:p>
        </p:txBody>
      </p:sp>
      <p:sp>
        <p:nvSpPr>
          <p:cNvPr id="213" name="Google Shape;21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Supongamos que estás construyendo una aplicación de comercio electrónico y deseas obtener información sobre productos. Puedes hacer una solicitud GET a la API REST de tu servidor con la URL “</a:t>
            </a:r>
            <a:r>
              <a:rPr b="0" i="0" lang="es-ES">
                <a:solidFill>
                  <a:srgbClr val="202124"/>
                </a:solidFill>
                <a:latin typeface="Consolas"/>
                <a:ea typeface="Consolas"/>
                <a:cs typeface="Consolas"/>
                <a:sym typeface="Consolas"/>
              </a:rPr>
              <a:t>/productos”</a:t>
            </a:r>
            <a:r>
              <a:rPr lang="es-ES"/>
              <a:t> y recibir una respuesta JSON con los datos de los productos.</a:t>
            </a:r>
            <a:endParaRPr b="0" i="0">
              <a:solidFill>
                <a:srgbClr val="202124"/>
              </a:solidFill>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Ventajas de API SOAP:</a:t>
            </a:r>
            <a:endParaRPr/>
          </a:p>
        </p:txBody>
      </p:sp>
      <p:sp>
        <p:nvSpPr>
          <p:cNvPr id="219" name="Google Shape;219;p23"/>
          <p:cNvSpPr txBox="1"/>
          <p:nvPr>
            <p:ph idx="1" type="body"/>
          </p:nvPr>
        </p:nvSpPr>
        <p:spPr>
          <a:xfrm>
            <a:off x="838200" y="1825625"/>
            <a:ext cx="10515600" cy="47907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Font typeface="Calibri"/>
              <a:buAutoNum type="arabicPeriod"/>
            </a:pPr>
            <a:r>
              <a:rPr b="1" i="0" lang="es-ES">
                <a:latin typeface="Arial"/>
                <a:ea typeface="Arial"/>
                <a:cs typeface="Arial"/>
                <a:sym typeface="Arial"/>
              </a:rPr>
              <a:t>Estructura:</a:t>
            </a:r>
            <a:r>
              <a:rPr b="0" i="0" lang="es-ES">
                <a:latin typeface="Arial"/>
                <a:ea typeface="Arial"/>
                <a:cs typeface="Arial"/>
                <a:sym typeface="Arial"/>
              </a:rPr>
              <a:t> SOAP utiliza un formato estructurado y estricto (XML) para los mensajes, lo que garantiza una comunicación precisa y fiable.</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s-ES">
                <a:latin typeface="Arial"/>
                <a:ea typeface="Arial"/>
                <a:cs typeface="Arial"/>
                <a:sym typeface="Arial"/>
              </a:rPr>
              <a:t>Seguridad:</a:t>
            </a:r>
            <a:r>
              <a:rPr b="0" i="0" lang="es-ES">
                <a:latin typeface="Arial"/>
                <a:ea typeface="Arial"/>
                <a:cs typeface="Arial"/>
                <a:sym typeface="Arial"/>
              </a:rPr>
              <a:t> SOAP admite mecanismos de seguridad avanzados, como WS-Security, que son importantes para aplicaciones empresariales sensibles.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s-ES">
                <a:latin typeface="Arial"/>
                <a:ea typeface="Arial"/>
                <a:cs typeface="Arial"/>
                <a:sym typeface="Arial"/>
              </a:rPr>
              <a:t>Transacciones:</a:t>
            </a:r>
            <a:r>
              <a:rPr b="0" i="0" lang="es-ES">
                <a:latin typeface="Arial"/>
                <a:ea typeface="Arial"/>
                <a:cs typeface="Arial"/>
                <a:sym typeface="Arial"/>
              </a:rPr>
              <a:t> SOAP es útil en aplicaciones que requieren transacciones y garantías de entrega de mensajes.</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s-ES">
                <a:latin typeface="Arial"/>
                <a:ea typeface="Arial"/>
                <a:cs typeface="Arial"/>
                <a:sym typeface="Arial"/>
              </a:rPr>
              <a:t>Herramientas de generación de código:</a:t>
            </a:r>
            <a:r>
              <a:rPr b="0" i="0" lang="es-ES">
                <a:latin typeface="Arial"/>
                <a:ea typeface="Arial"/>
                <a:cs typeface="Arial"/>
                <a:sym typeface="Arial"/>
              </a:rPr>
              <a:t> Puedes generar automáticamente clases y código de cliente a partir de una descripción de servicio (WSDL).</a:t>
            </a:r>
            <a:endParaRPr/>
          </a:p>
          <a:p>
            <a:pPr indent="-228600" lvl="0" marL="228600" rtl="0" algn="l">
              <a:lnSpc>
                <a:spcPct val="90000"/>
              </a:lnSpc>
              <a:spcBef>
                <a:spcPts val="1000"/>
              </a:spcBef>
              <a:spcAft>
                <a:spcPts val="0"/>
              </a:spcAft>
              <a:buClr>
                <a:schemeClr val="dk1"/>
              </a:buClr>
              <a:buSzPct val="100000"/>
              <a:buFont typeface="Calibri"/>
              <a:buAutoNum type="arabicPeriod"/>
            </a:pPr>
            <a:r>
              <a:rPr b="1" i="0" lang="es-ES">
                <a:latin typeface="Arial"/>
                <a:ea typeface="Arial"/>
                <a:cs typeface="Arial"/>
                <a:sym typeface="Arial"/>
              </a:rPr>
              <a:t>Interoperabilidad:</a:t>
            </a:r>
            <a:r>
              <a:rPr b="0" i="0" lang="es-ES">
                <a:latin typeface="Arial"/>
                <a:ea typeface="Arial"/>
                <a:cs typeface="Arial"/>
                <a:sym typeface="Arial"/>
              </a:rPr>
              <a:t> A pesar de su complejidad, SOAP tiende a ser más interoperable entre diferentes plataformas y lenguajes.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Ejemplo de API SOAP:</a:t>
            </a:r>
            <a:endParaRPr/>
          </a:p>
        </p:txBody>
      </p:sp>
      <p:sp>
        <p:nvSpPr>
          <p:cNvPr id="225" name="Google Shape;225;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s-ES">
                <a:latin typeface="Arial"/>
                <a:ea typeface="Arial"/>
                <a:cs typeface="Arial"/>
                <a:sym typeface="Arial"/>
              </a:rPr>
              <a:t>Imagina que estás desarrollando una aplicación de banca en línea. Puedes utilizar una API SOAP para realizar transacciones financieras seguras, donde cada solicitud y respuesta está formateada en XML siguiendo un estándar específico.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None/>
            </a:pPr>
            <a:r>
              <a:rPr b="0" i="0" lang="es-ES">
                <a:latin typeface="Arial"/>
                <a:ea typeface="Arial"/>
                <a:cs typeface="Arial"/>
                <a:sym typeface="Arial"/>
              </a:rPr>
              <a:t>En resumen, la elección entre API REST y SOAP depende de las necesidades específicas de tu proyecto. </a:t>
            </a:r>
            <a:endParaRPr/>
          </a:p>
          <a:p>
            <a:pPr indent="0" lvl="0" marL="0" rtl="0" algn="ctr">
              <a:lnSpc>
                <a:spcPct val="90000"/>
              </a:lnSpc>
              <a:spcBef>
                <a:spcPts val="1000"/>
              </a:spcBef>
              <a:spcAft>
                <a:spcPts val="0"/>
              </a:spcAft>
              <a:buClr>
                <a:schemeClr val="dk1"/>
              </a:buClr>
              <a:buSzPts val="2800"/>
              <a:buNone/>
            </a:pPr>
            <a:r>
              <a:t/>
            </a:r>
            <a:endParaRPr>
              <a:latin typeface="Arial"/>
              <a:ea typeface="Arial"/>
              <a:cs typeface="Arial"/>
              <a:sym typeface="Arial"/>
            </a:endParaRPr>
          </a:p>
          <a:p>
            <a:pPr indent="0" lvl="0" marL="0" rtl="0" algn="ctr">
              <a:lnSpc>
                <a:spcPct val="90000"/>
              </a:lnSpc>
              <a:spcBef>
                <a:spcPts val="1000"/>
              </a:spcBef>
              <a:spcAft>
                <a:spcPts val="0"/>
              </a:spcAft>
              <a:buClr>
                <a:schemeClr val="dk1"/>
              </a:buClr>
              <a:buSzPts val="2800"/>
              <a:buNone/>
            </a:pPr>
            <a:r>
              <a:rPr b="0" i="0" lang="es-ES">
                <a:latin typeface="Arial"/>
                <a:ea typeface="Arial"/>
                <a:cs typeface="Arial"/>
                <a:sym typeface="Arial"/>
              </a:rPr>
              <a:t>Las API REST son adecuadas para la mayoría de las aplicaciones web y móviles debido a su simplicidad y eficiencia, mientras que las API SOAP son preferibles en aplicaciones empresariales que requieren seguridad y transacciones avanzadas.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s-ES"/>
              <a:t>Pixeles y resolución </a:t>
            </a:r>
            <a:endParaRPr/>
          </a:p>
        </p:txBody>
      </p:sp>
      <p:sp>
        <p:nvSpPr>
          <p:cNvPr id="236" name="Google Shape;236;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0" i="0" lang="es-ES">
                <a:latin typeface="Arial"/>
                <a:ea typeface="Arial"/>
                <a:cs typeface="Arial"/>
                <a:sym typeface="Arial"/>
              </a:rPr>
              <a:t>Introducción:</a:t>
            </a:r>
            <a:endParaRPr/>
          </a:p>
        </p:txBody>
      </p:sp>
      <p:sp>
        <p:nvSpPr>
          <p:cNvPr id="242" name="Google Shape;242;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s-ES">
                <a:latin typeface="Arial"/>
                <a:ea typeface="Arial"/>
                <a:cs typeface="Arial"/>
                <a:sym typeface="Arial"/>
              </a:rPr>
              <a:t>En el diseño de aplicaciones móviles, es esencial comprender cómo funcionan los pixeles y la resolución de pantalla.</a:t>
            </a:r>
            <a:endParaRPr/>
          </a:p>
          <a:p>
            <a:pPr indent="-228600" lvl="0" marL="228600" rtl="0" algn="l">
              <a:lnSpc>
                <a:spcPct val="90000"/>
              </a:lnSpc>
              <a:spcBef>
                <a:spcPts val="1000"/>
              </a:spcBef>
              <a:spcAft>
                <a:spcPts val="0"/>
              </a:spcAft>
              <a:buClr>
                <a:schemeClr val="dk1"/>
              </a:buClr>
              <a:buSzPts val="2800"/>
              <a:buFont typeface="Arial"/>
              <a:buChar char="•"/>
            </a:pPr>
            <a:r>
              <a:rPr b="0" i="0" lang="es-ES">
                <a:latin typeface="Arial"/>
                <a:ea typeface="Arial"/>
                <a:cs typeface="Arial"/>
                <a:sym typeface="Arial"/>
              </a:rPr>
              <a:t>La forma en que gestionamos los pixeles tiene un impacto directo en la experiencia del usuario en dispositivos móviles.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Unidades de medida tradicionales</a:t>
            </a:r>
            <a:endParaRPr/>
          </a:p>
        </p:txBody>
      </p:sp>
      <p:sp>
        <p:nvSpPr>
          <p:cNvPr id="248" name="Google Shape;248;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s-ES"/>
              <a:t>px</a:t>
            </a:r>
            <a:r>
              <a:rPr lang="es-ES"/>
              <a:t>: correspondencia directa con los píxeles de la pantalla</a:t>
            </a:r>
            <a:endParaRPr/>
          </a:p>
          <a:p>
            <a:pPr indent="-228600" lvl="0" marL="228600" rtl="0" algn="l">
              <a:lnSpc>
                <a:spcPct val="90000"/>
              </a:lnSpc>
              <a:spcBef>
                <a:spcPts val="1000"/>
              </a:spcBef>
              <a:spcAft>
                <a:spcPts val="0"/>
              </a:spcAft>
              <a:buClr>
                <a:schemeClr val="dk1"/>
              </a:buClr>
              <a:buSzPts val="2800"/>
              <a:buChar char="•"/>
            </a:pPr>
            <a:r>
              <a:rPr b="1" lang="es-ES"/>
              <a:t>in</a:t>
            </a:r>
            <a:r>
              <a:rPr lang="es-ES"/>
              <a:t>: pulgadas</a:t>
            </a:r>
            <a:endParaRPr/>
          </a:p>
          <a:p>
            <a:pPr indent="-228600" lvl="0" marL="228600" rtl="0" algn="l">
              <a:lnSpc>
                <a:spcPct val="90000"/>
              </a:lnSpc>
              <a:spcBef>
                <a:spcPts val="1000"/>
              </a:spcBef>
              <a:spcAft>
                <a:spcPts val="0"/>
              </a:spcAft>
              <a:buClr>
                <a:schemeClr val="dk1"/>
              </a:buClr>
              <a:buSzPts val="2800"/>
              <a:buChar char="•"/>
            </a:pPr>
            <a:r>
              <a:rPr b="1" lang="es-ES"/>
              <a:t>mm</a:t>
            </a:r>
            <a:r>
              <a:rPr lang="es-ES"/>
              <a:t>: milímetros</a:t>
            </a:r>
            <a:endParaRPr/>
          </a:p>
          <a:p>
            <a:pPr indent="-228600" lvl="0" marL="228600" rtl="0" algn="l">
              <a:lnSpc>
                <a:spcPct val="90000"/>
              </a:lnSpc>
              <a:spcBef>
                <a:spcPts val="1000"/>
              </a:spcBef>
              <a:spcAft>
                <a:spcPts val="0"/>
              </a:spcAft>
              <a:buClr>
                <a:schemeClr val="dk1"/>
              </a:buClr>
              <a:buSzPts val="2800"/>
              <a:buChar char="•"/>
            </a:pPr>
            <a:r>
              <a:rPr b="1" lang="es-ES"/>
              <a:t>pt</a:t>
            </a:r>
            <a:r>
              <a:rPr lang="es-ES"/>
              <a:t>: puntos. Para medir el tamaños de la letra. Equivalente a 0.352778 mm</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Pixeles (px)</a:t>
            </a:r>
            <a:endParaRPr/>
          </a:p>
        </p:txBody>
      </p:sp>
      <p:sp>
        <p:nvSpPr>
          <p:cNvPr id="254" name="Google Shape;254;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s-ES">
                <a:latin typeface="Arial"/>
                <a:ea typeface="Arial"/>
                <a:cs typeface="Arial"/>
                <a:sym typeface="Arial"/>
              </a:rPr>
              <a:t>Los pixeles son los puntos de luz individuales que componen una pantalla.</a:t>
            </a:r>
            <a:endParaRPr/>
          </a:p>
          <a:p>
            <a:pPr indent="-228600" lvl="0" marL="228600" rtl="0" algn="l">
              <a:lnSpc>
                <a:spcPct val="90000"/>
              </a:lnSpc>
              <a:spcBef>
                <a:spcPts val="1000"/>
              </a:spcBef>
              <a:spcAft>
                <a:spcPts val="0"/>
              </a:spcAft>
              <a:buClr>
                <a:schemeClr val="dk1"/>
              </a:buClr>
              <a:buSzPts val="2800"/>
              <a:buFont typeface="Arial"/>
              <a:buChar char="•"/>
            </a:pPr>
            <a:r>
              <a:rPr b="0" i="0" lang="es-ES">
                <a:latin typeface="Arial"/>
                <a:ea typeface="Arial"/>
                <a:cs typeface="Arial"/>
                <a:sym typeface="Arial"/>
              </a:rPr>
              <a:t>La resolución de pantalla se mide en términos de la cantidad de pixeles (por ejemplo, 1920x1080).</a:t>
            </a:r>
            <a:endParaRPr/>
          </a:p>
          <a:p>
            <a:pPr indent="-228600" lvl="0" marL="228600" rtl="0" algn="l">
              <a:lnSpc>
                <a:spcPct val="90000"/>
              </a:lnSpc>
              <a:spcBef>
                <a:spcPts val="1000"/>
              </a:spcBef>
              <a:spcAft>
                <a:spcPts val="0"/>
              </a:spcAft>
              <a:buClr>
                <a:schemeClr val="dk1"/>
              </a:buClr>
              <a:buSzPts val="2800"/>
              <a:buFont typeface="Arial"/>
              <a:buChar char="•"/>
            </a:pPr>
            <a:r>
              <a:rPr b="0" i="0" lang="es-ES">
                <a:latin typeface="Arial"/>
                <a:ea typeface="Arial"/>
                <a:cs typeface="Arial"/>
                <a:sym typeface="Arial"/>
              </a:rPr>
              <a:t>En dispositivos móviles, un píxel es la unidad de medida más básica.</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Densidad de Píxeles (dpi)</a:t>
            </a:r>
            <a:endParaRPr/>
          </a:p>
        </p:txBody>
      </p:sp>
      <p:sp>
        <p:nvSpPr>
          <p:cNvPr id="260" name="Google Shape;260;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s-ES">
                <a:latin typeface="Arial"/>
                <a:ea typeface="Arial"/>
                <a:cs typeface="Arial"/>
                <a:sym typeface="Arial"/>
              </a:rPr>
              <a:t>La densidad de píxeles se refiere a cuántos píxeles se encuentran en una pulgada de pantalla.</a:t>
            </a:r>
            <a:endParaRPr/>
          </a:p>
          <a:p>
            <a:pPr indent="-228600" lvl="0" marL="228600" rtl="0" algn="l">
              <a:lnSpc>
                <a:spcPct val="90000"/>
              </a:lnSpc>
              <a:spcBef>
                <a:spcPts val="1000"/>
              </a:spcBef>
              <a:spcAft>
                <a:spcPts val="0"/>
              </a:spcAft>
              <a:buClr>
                <a:schemeClr val="dk1"/>
              </a:buClr>
              <a:buSzPts val="2800"/>
              <a:buFont typeface="Arial"/>
              <a:buChar char="•"/>
            </a:pPr>
            <a:r>
              <a:rPr b="0" i="0" lang="es-ES">
                <a:latin typeface="Arial"/>
                <a:ea typeface="Arial"/>
                <a:cs typeface="Arial"/>
                <a:sym typeface="Arial"/>
              </a:rPr>
              <a:t>Los dispositivos móviles tienen diferentes densidades de píxeles (ldpi, mdpi, hdpi, xhdpi, xxhdpi, xxxhdpi, etc.).</a:t>
            </a:r>
            <a:endParaRPr/>
          </a:p>
          <a:p>
            <a:pPr indent="-228600" lvl="0" marL="228600" rtl="0" algn="l">
              <a:lnSpc>
                <a:spcPct val="90000"/>
              </a:lnSpc>
              <a:spcBef>
                <a:spcPts val="1000"/>
              </a:spcBef>
              <a:spcAft>
                <a:spcPts val="0"/>
              </a:spcAft>
              <a:buClr>
                <a:schemeClr val="dk1"/>
              </a:buClr>
              <a:buSzPts val="2800"/>
              <a:buFont typeface="Arial"/>
              <a:buChar char="•"/>
            </a:pPr>
            <a:r>
              <a:rPr b="0" i="0" lang="es-ES">
                <a:latin typeface="Arial"/>
                <a:ea typeface="Arial"/>
                <a:cs typeface="Arial"/>
                <a:sym typeface="Arial"/>
              </a:rPr>
              <a:t>Cuanta mayor densidad de píxeles, más nítida es la pantalla, pero también se necesitarán imágenes más grandes para mantener la calidad.</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t>Dp</a:t>
            </a:r>
            <a:endParaRPr b="1"/>
          </a:p>
        </p:txBody>
      </p:sp>
      <p:sp>
        <p:nvSpPr>
          <p:cNvPr id="266" name="Google Shape;266;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s-ES"/>
              <a:t>Unidades dp (Density-independent Pixels):</a:t>
            </a:r>
            <a:endParaRPr/>
          </a:p>
          <a:p>
            <a:pPr indent="-228600" lvl="0" marL="228600" rtl="0" algn="l">
              <a:lnSpc>
                <a:spcPct val="90000"/>
              </a:lnSpc>
              <a:spcBef>
                <a:spcPts val="1000"/>
              </a:spcBef>
              <a:spcAft>
                <a:spcPts val="0"/>
              </a:spcAft>
              <a:buClr>
                <a:schemeClr val="dk1"/>
              </a:buClr>
              <a:buSzPts val="2800"/>
              <a:buFont typeface="Arial"/>
              <a:buChar char="•"/>
            </a:pPr>
            <a:r>
              <a:rPr lang="es-ES"/>
              <a:t>Las unidades dp se utilizan para crear interfaces adaptables a diferentes densidades de pantalla.</a:t>
            </a:r>
            <a:endParaRPr/>
          </a:p>
          <a:p>
            <a:pPr indent="-228600" lvl="0" marL="228600" rtl="0" algn="l">
              <a:lnSpc>
                <a:spcPct val="90000"/>
              </a:lnSpc>
              <a:spcBef>
                <a:spcPts val="1000"/>
              </a:spcBef>
              <a:spcAft>
                <a:spcPts val="0"/>
              </a:spcAft>
              <a:buClr>
                <a:schemeClr val="dk1"/>
              </a:buClr>
              <a:buSzPts val="2800"/>
              <a:buFont typeface="Arial"/>
              <a:buChar char="•"/>
            </a:pPr>
            <a:r>
              <a:rPr lang="es-ES"/>
              <a:t>1 dp es aproximadamente igual a 1 píxel en una pantalla mdpi (densidad media).</a:t>
            </a:r>
            <a:endParaRPr/>
          </a:p>
          <a:p>
            <a:pPr indent="-228600" lvl="0" marL="228600" rtl="0" algn="l">
              <a:lnSpc>
                <a:spcPct val="90000"/>
              </a:lnSpc>
              <a:spcBef>
                <a:spcPts val="1000"/>
              </a:spcBef>
              <a:spcAft>
                <a:spcPts val="0"/>
              </a:spcAft>
              <a:buClr>
                <a:schemeClr val="dk1"/>
              </a:buClr>
              <a:buSzPts val="2800"/>
              <a:buFont typeface="Arial"/>
              <a:buChar char="•"/>
            </a:pPr>
            <a:r>
              <a:rPr lang="es-ES"/>
              <a:t>Usar dp garantiza que los elementos de la interfaz tengan un tamaño consistente en diferentes dispositivos.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Conversión dp a píxeles</a:t>
            </a:r>
            <a:endParaRPr/>
          </a:p>
        </p:txBody>
      </p:sp>
      <p:sp>
        <p:nvSpPr>
          <p:cNvPr id="272" name="Google Shape;272;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s-ES"/>
              <a:t>Imagina una app en la que un gesto de desplazamiento se reconozca después de que el dedo del usuario haya recorrido al menos 16 píxeles:</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s-ES"/>
              <a:t> En una pantalla de referencia, un desplazamiento obligatorio del usuario de 16 pixels / 160 ppi, que equivale a un décimo de pulgada (o 2.5 mm) antes de que se reconozca el gesto.</a:t>
            </a:r>
            <a:endParaRPr/>
          </a:p>
          <a:p>
            <a:pPr indent="-228600" lvl="0" marL="228600" rtl="0" algn="l">
              <a:lnSpc>
                <a:spcPct val="90000"/>
              </a:lnSpc>
              <a:spcBef>
                <a:spcPts val="1000"/>
              </a:spcBef>
              <a:spcAft>
                <a:spcPts val="0"/>
              </a:spcAft>
              <a:buClr>
                <a:schemeClr val="dk1"/>
              </a:buClr>
              <a:buSzPts val="2800"/>
              <a:buChar char="•"/>
            </a:pPr>
            <a:r>
              <a:rPr lang="es-ES"/>
              <a:t> En un dispositivo con una pantalla de alta densidad (240 ppi), el dedo del usuario debe desplazarse 16 pixels / 240 dpi, que equivale a un quinceavo de pulgada (o 1.7 mm). La distancia es mucho más corta y, por lo tanto, la app resulta más sensible para el usuario.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Fórmula </a:t>
            </a:r>
            <a:endParaRPr/>
          </a:p>
        </p:txBody>
      </p:sp>
      <p:sp>
        <p:nvSpPr>
          <p:cNvPr id="278" name="Google Shape;278;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14300" lvl="0" marL="228600" rtl="0" algn="l">
              <a:lnSpc>
                <a:spcPct val="90000"/>
              </a:lnSpc>
              <a:spcBef>
                <a:spcPts val="0"/>
              </a:spcBef>
              <a:spcAft>
                <a:spcPts val="0"/>
              </a:spcAft>
              <a:buClr>
                <a:schemeClr val="dk1"/>
              </a:buClr>
              <a:buSzPts val="1800"/>
              <a:buNone/>
            </a:pPr>
            <a:r>
              <a:t/>
            </a:r>
            <a:endParaRPr b="0" i="0" sz="1800" u="none" strike="noStrike">
              <a:solidFill>
                <a:srgbClr val="000000"/>
              </a:solidFill>
            </a:endParaRPr>
          </a:p>
          <a:p>
            <a:pPr indent="0" lvl="0" marL="0" rtl="0" algn="ctr">
              <a:lnSpc>
                <a:spcPct val="90000"/>
              </a:lnSpc>
              <a:spcBef>
                <a:spcPts val="1000"/>
              </a:spcBef>
              <a:spcAft>
                <a:spcPts val="0"/>
              </a:spcAft>
              <a:buClr>
                <a:srgbClr val="000000"/>
              </a:buClr>
              <a:buSzPts val="3200"/>
              <a:buNone/>
            </a:pPr>
            <a:r>
              <a:rPr b="1" i="0" lang="es-ES" sz="3200" u="none" strike="noStrike">
                <a:solidFill>
                  <a:srgbClr val="000000"/>
                </a:solidFill>
              </a:rPr>
              <a:t>px = dp * (ppi/ 160)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t>Píxeles independientes de la densidad - dp</a:t>
            </a:r>
            <a:endParaRPr b="1"/>
          </a:p>
        </p:txBody>
      </p:sp>
      <p:sp>
        <p:nvSpPr>
          <p:cNvPr id="284" name="Google Shape;284;p34"/>
          <p:cNvSpPr txBox="1"/>
          <p:nvPr>
            <p:ph idx="1" type="body"/>
          </p:nvPr>
        </p:nvSpPr>
        <p:spPr>
          <a:xfrm>
            <a:off x="838200" y="1825625"/>
            <a:ext cx="5891784"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s-ES"/>
              <a:t>•Para que el tamaño de tu IU se mantenga visible en pantallas con distintas densidades, debes diseñar tu IU con píxeles independientes de la densidad (dp) como unidad de medida.</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s-ES"/>
              <a:t>•Un dp es una unidad de píxel virtual que prácticamente equivale a un píxel en una pantalla de densidad media (160 dpi; la densidad "de referencia"). Android traduce este valor a la cantidad apropiada de píxeles reales para cada densidad.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285" name="Google Shape;285;p34"/>
          <p:cNvPicPr preferRelativeResize="0"/>
          <p:nvPr/>
        </p:nvPicPr>
        <p:blipFill rotWithShape="1">
          <a:blip r:embed="rId3">
            <a:alphaModFix/>
          </a:blip>
          <a:srcRect b="0" l="0" r="0" t="0"/>
          <a:stretch/>
        </p:blipFill>
        <p:spPr>
          <a:xfrm>
            <a:off x="7055658" y="1572768"/>
            <a:ext cx="4517598" cy="453104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Ejercicio:</a:t>
            </a:r>
            <a:endParaRPr/>
          </a:p>
        </p:txBody>
      </p:sp>
      <p:sp>
        <p:nvSpPr>
          <p:cNvPr id="291" name="Google Shape;291;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s-ES"/>
              <a:t>• Abre Android Studio, crea un nuevo proyecto con una actividad y pon tres botones de anchura 125dp. Visualiza el diseño en el Pixel y en el Pixel 3 XL. ¿Qué sucede?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t>Sp</a:t>
            </a:r>
            <a:r>
              <a:rPr b="0" i="0" lang="es-ES" sz="4400" u="none" strike="noStrike">
                <a:solidFill>
                  <a:srgbClr val="000000"/>
                </a:solidFill>
                <a:latin typeface="Arial"/>
                <a:ea typeface="Arial"/>
                <a:cs typeface="Arial"/>
                <a:sym typeface="Arial"/>
              </a:rPr>
              <a:t> </a:t>
            </a:r>
            <a:endParaRPr/>
          </a:p>
        </p:txBody>
      </p:sp>
      <p:sp>
        <p:nvSpPr>
          <p:cNvPr id="297" name="Google Shape;297;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Al igual que dp es una medida independiente de la densidad.</a:t>
            </a:r>
            <a:endParaRPr/>
          </a:p>
          <a:p>
            <a:pPr indent="-228600" lvl="0" marL="228600" rtl="0" algn="l">
              <a:lnSpc>
                <a:spcPct val="90000"/>
              </a:lnSpc>
              <a:spcBef>
                <a:spcPts val="1000"/>
              </a:spcBef>
              <a:spcAft>
                <a:spcPts val="0"/>
              </a:spcAft>
              <a:buClr>
                <a:schemeClr val="dk1"/>
              </a:buClr>
              <a:buSzPts val="2800"/>
              <a:buChar char="•"/>
            </a:pPr>
            <a:r>
              <a:rPr lang="es-ES"/>
              <a:t>La diferencia es que se escala con respecto al tamaño de fuente elegido por el usuario. </a:t>
            </a:r>
            <a:endParaRPr/>
          </a:p>
          <a:p>
            <a:pPr indent="-228600" lvl="0" marL="228600" rtl="0" algn="l">
              <a:lnSpc>
                <a:spcPct val="90000"/>
              </a:lnSpc>
              <a:spcBef>
                <a:spcPts val="1000"/>
              </a:spcBef>
              <a:spcAft>
                <a:spcPts val="0"/>
              </a:spcAft>
              <a:buClr>
                <a:schemeClr val="dk1"/>
              </a:buClr>
              <a:buSzPts val="2800"/>
              <a:buChar char="•"/>
            </a:pPr>
            <a:r>
              <a:rPr lang="es-ES"/>
              <a:t>Por lo tanto se recomienda su uso a la hora de definir el tamaño del texto.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Arial"/>
              <a:buNone/>
            </a:pPr>
            <a:r>
              <a:rPr b="0" i="0" lang="es-ES" sz="4400" u="none" strike="noStrike">
                <a:solidFill>
                  <a:srgbClr val="000000"/>
                </a:solidFill>
                <a:latin typeface="Arial"/>
                <a:ea typeface="Arial"/>
                <a:cs typeface="Arial"/>
                <a:sym typeface="Arial"/>
              </a:rPr>
              <a:t>Ejercicio</a:t>
            </a:r>
            <a:endParaRPr/>
          </a:p>
        </p:txBody>
      </p:sp>
      <p:sp>
        <p:nvSpPr>
          <p:cNvPr id="303" name="Google Shape;303;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spcBef>
                <a:spcPts val="1000"/>
              </a:spcBef>
              <a:spcAft>
                <a:spcPts val="0"/>
              </a:spcAft>
              <a:buSzPts val="1800"/>
              <a:buChar char="•"/>
            </a:pPr>
            <a:r>
              <a:rPr lang="es-ES"/>
              <a:t>Crea un texto con tamaño 6pt. Visualizalo en el Pixel y en el Pixel 3 XL. ¿Qué sucede?</a:t>
            </a:r>
            <a:endParaRPr/>
          </a:p>
          <a:p>
            <a:pPr indent="-228600" lvl="0" marL="228600" rtl="0" algn="l">
              <a:spcBef>
                <a:spcPts val="1000"/>
              </a:spcBef>
              <a:spcAft>
                <a:spcPts val="0"/>
              </a:spcAft>
              <a:buSzPts val="1800"/>
              <a:buChar char="•"/>
            </a:pPr>
            <a:r>
              <a:rPr lang="es-ES"/>
              <a:t>Crea un texto con tamaño 14sp. Visualizalo en el Pixel y en el Pixel 3 XL. ¿Qué sucede?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t>Tamaño de pantalla</a:t>
            </a:r>
            <a:endParaRPr/>
          </a:p>
        </p:txBody>
      </p:sp>
      <p:sp>
        <p:nvSpPr>
          <p:cNvPr id="309" name="Google Shape;309;p38"/>
          <p:cNvSpPr txBox="1"/>
          <p:nvPr>
            <p:ph idx="1" type="body"/>
          </p:nvPr>
        </p:nvSpPr>
        <p:spPr>
          <a:xfrm>
            <a:off x="838200" y="1825625"/>
            <a:ext cx="5373624"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b="0" i="0" sz="1800" u="none"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000000"/>
              </a:buClr>
              <a:buSzPts val="1800"/>
              <a:buNone/>
            </a:pPr>
            <a:r>
              <a:rPr b="0" i="0" lang="es-ES" sz="1800" u="none" strike="noStrike">
                <a:solidFill>
                  <a:srgbClr val="000000"/>
                </a:solidFill>
                <a:latin typeface="Arial"/>
                <a:ea typeface="Arial"/>
                <a:cs typeface="Arial"/>
                <a:sym typeface="Arial"/>
              </a:rPr>
              <a:t>• Dos pantallas pueden tener la misma resolución pero distinto tamaño (en este caso una pantalla se verá más ‘pixelada’ que la otra)</a:t>
            </a:r>
            <a:endParaRPr/>
          </a:p>
          <a:p>
            <a:pPr indent="0" lvl="0" marL="0" rtl="0" algn="l">
              <a:lnSpc>
                <a:spcPct val="90000"/>
              </a:lnSpc>
              <a:spcBef>
                <a:spcPts val="1000"/>
              </a:spcBef>
              <a:spcAft>
                <a:spcPts val="0"/>
              </a:spcAft>
              <a:buClr>
                <a:schemeClr val="dk1"/>
              </a:buClr>
              <a:buSzPts val="1800"/>
              <a:buNone/>
            </a:pPr>
            <a:r>
              <a:t/>
            </a:r>
            <a:endParaRPr b="0" i="0" sz="1800" u="none"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000000"/>
              </a:buClr>
              <a:buSzPts val="1800"/>
              <a:buNone/>
            </a:pPr>
            <a:r>
              <a:rPr b="0" i="0" lang="es-ES" sz="1800" u="none" strike="noStrike">
                <a:solidFill>
                  <a:srgbClr val="000000"/>
                </a:solidFill>
                <a:latin typeface="Arial"/>
                <a:ea typeface="Arial"/>
                <a:cs typeface="Arial"/>
                <a:sym typeface="Arial"/>
              </a:rPr>
              <a:t>• El tamaño de las pantallas se determina mediante la longitud de la diagonal</a:t>
            </a:r>
            <a:endParaRPr/>
          </a:p>
          <a:p>
            <a:pPr indent="0" lvl="0" marL="0" rtl="0" algn="l">
              <a:lnSpc>
                <a:spcPct val="90000"/>
              </a:lnSpc>
              <a:spcBef>
                <a:spcPts val="1000"/>
              </a:spcBef>
              <a:spcAft>
                <a:spcPts val="0"/>
              </a:spcAft>
              <a:buClr>
                <a:schemeClr val="dk1"/>
              </a:buClr>
              <a:buSzPts val="1800"/>
              <a:buNone/>
            </a:pPr>
            <a:r>
              <a:t/>
            </a:r>
            <a:endParaRPr b="0" i="0" sz="1800" u="none"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000000"/>
              </a:buClr>
              <a:buSzPts val="1800"/>
              <a:buNone/>
            </a:pPr>
            <a:r>
              <a:rPr b="0" i="0" lang="es-ES" sz="1800" u="none" strike="noStrike">
                <a:solidFill>
                  <a:srgbClr val="000000"/>
                </a:solidFill>
                <a:latin typeface="Arial"/>
                <a:ea typeface="Arial"/>
                <a:cs typeface="Arial"/>
                <a:sym typeface="Arial"/>
              </a:rPr>
              <a:t>• Históricamente se ha medido en pulgadas </a:t>
            </a:r>
            <a:endParaRPr/>
          </a:p>
          <a:p>
            <a:pPr indent="0" lvl="0" marL="0" rtl="0" algn="l">
              <a:lnSpc>
                <a:spcPct val="90000"/>
              </a:lnSpc>
              <a:spcBef>
                <a:spcPts val="1000"/>
              </a:spcBef>
              <a:spcAft>
                <a:spcPts val="0"/>
              </a:spcAft>
              <a:buClr>
                <a:srgbClr val="000000"/>
              </a:buClr>
              <a:buSzPts val="1800"/>
              <a:buNone/>
            </a:pPr>
            <a:r>
              <a:rPr b="0" i="0" lang="es-ES" sz="1800" u="none" strike="noStrike">
                <a:solidFill>
                  <a:srgbClr val="000000"/>
                </a:solidFill>
                <a:latin typeface="Arial"/>
                <a:ea typeface="Arial"/>
                <a:cs typeface="Arial"/>
                <a:sym typeface="Arial"/>
              </a:rPr>
              <a:t>(1 inc= 2.54 cm). Se utilizan pulgadas para medir pantallas incluso en países con el Sistema Internacional de Unidades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10" name="Google Shape;310;p38"/>
          <p:cNvPicPr preferRelativeResize="0"/>
          <p:nvPr/>
        </p:nvPicPr>
        <p:blipFill rotWithShape="1">
          <a:blip r:embed="rId3">
            <a:alphaModFix/>
          </a:blip>
          <a:srcRect b="0" l="0" r="0" t="0"/>
          <a:stretch/>
        </p:blipFill>
        <p:spPr>
          <a:xfrm>
            <a:off x="6519672" y="1347216"/>
            <a:ext cx="4057498" cy="468172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Relación con Medidas Web (%)</a:t>
            </a:r>
            <a:endParaRPr/>
          </a:p>
        </p:txBody>
      </p:sp>
      <p:sp>
        <p:nvSpPr>
          <p:cNvPr id="316" name="Google Shape;316;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s-ES"/>
              <a:t>Las medidas en porcentaje (%) se utilizan en diseño web para crear diseños fluidos y escalables.</a:t>
            </a:r>
            <a:endParaRPr/>
          </a:p>
          <a:p>
            <a:pPr indent="-228600" lvl="0" marL="228600" rtl="0" algn="l">
              <a:lnSpc>
                <a:spcPct val="90000"/>
              </a:lnSpc>
              <a:spcBef>
                <a:spcPts val="1000"/>
              </a:spcBef>
              <a:spcAft>
                <a:spcPts val="0"/>
              </a:spcAft>
              <a:buClr>
                <a:schemeClr val="dk1"/>
              </a:buClr>
              <a:buSzPts val="2800"/>
              <a:buFont typeface="Arial"/>
              <a:buChar char="•"/>
            </a:pPr>
            <a:r>
              <a:rPr lang="es-ES"/>
              <a:t>En dispositivos móviles, las unidades dp comparten un concepto similar al permitir diseños adaptables.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Relación con "fr" en CSS Grid</a:t>
            </a:r>
            <a:endParaRPr/>
          </a:p>
        </p:txBody>
      </p:sp>
      <p:sp>
        <p:nvSpPr>
          <p:cNvPr id="322" name="Google Shape;322;p40"/>
          <p:cNvSpPr txBox="1"/>
          <p:nvPr>
            <p:ph idx="1" type="body"/>
          </p:nvPr>
        </p:nvSpPr>
        <p:spPr>
          <a:xfrm>
            <a:off x="838200" y="1800177"/>
            <a:ext cx="8621908" cy="4401205"/>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Calibri"/>
              <a:buNone/>
            </a:pPr>
            <a:r>
              <a:t/>
            </a:r>
            <a:endParaRPr/>
          </a:p>
          <a:p>
            <a:pPr indent="-177800" lvl="0" marL="0" marR="0" rtl="0" algn="l">
              <a:lnSpc>
                <a:spcPct val="100000"/>
              </a:lnSpc>
              <a:spcBef>
                <a:spcPts val="0"/>
              </a:spcBef>
              <a:spcAft>
                <a:spcPts val="0"/>
              </a:spcAft>
              <a:buClr>
                <a:schemeClr val="dk1"/>
              </a:buClr>
              <a:buSzPts val="2800"/>
              <a:buFont typeface="Calibri"/>
              <a:buChar char="•"/>
            </a:pPr>
            <a:r>
              <a:rPr lang="es-ES"/>
              <a:t>La propiedad </a:t>
            </a:r>
            <a:r>
              <a:rPr lang="es-ES">
                <a:solidFill>
                  <a:srgbClr val="C00000"/>
                </a:solidFill>
              </a:rPr>
              <a:t>android:layout_weight </a:t>
            </a:r>
            <a:r>
              <a:rPr lang="es-ES"/>
              <a:t>se utiliza en XML de Android para distribuir el espacio disponible entre elementos en un diseño lineal (LinearLayout) o en una cuadrícula (GridLayout).</a:t>
            </a:r>
            <a:endParaRPr/>
          </a:p>
          <a:p>
            <a:pPr indent="0" lvl="0" marL="0" marR="0" rtl="0" algn="l">
              <a:lnSpc>
                <a:spcPct val="100000"/>
              </a:lnSpc>
              <a:spcBef>
                <a:spcPts val="0"/>
              </a:spcBef>
              <a:spcAft>
                <a:spcPts val="0"/>
              </a:spcAft>
              <a:buClr>
                <a:schemeClr val="dk1"/>
              </a:buClr>
              <a:buSzPts val="2800"/>
              <a:buNone/>
            </a:pPr>
            <a:r>
              <a:t/>
            </a:r>
            <a:endParaRPr/>
          </a:p>
          <a:p>
            <a:pPr indent="-177800" lvl="0" marL="0" marR="0" rtl="0" algn="l">
              <a:lnSpc>
                <a:spcPct val="100000"/>
              </a:lnSpc>
              <a:spcBef>
                <a:spcPts val="0"/>
              </a:spcBef>
              <a:spcAft>
                <a:spcPts val="0"/>
              </a:spcAft>
              <a:buClr>
                <a:schemeClr val="dk1"/>
              </a:buClr>
              <a:buSzPts val="2800"/>
              <a:buFont typeface="Calibri"/>
              <a:buChar char="•"/>
            </a:pPr>
            <a:r>
              <a:rPr lang="es-ES"/>
              <a:t>De manera similar, la unidad "fr" en CSS Grid se utiliza para distribuir el espacio disponible entre columnas o filas en diseño web.</a:t>
            </a:r>
            <a:endParaRPr/>
          </a:p>
          <a:p>
            <a:pPr indent="0" lvl="0" marL="0" marR="0" rtl="0" algn="l">
              <a:lnSpc>
                <a:spcPct val="100000"/>
              </a:lnSpc>
              <a:spcBef>
                <a:spcPts val="0"/>
              </a:spcBef>
              <a:spcAft>
                <a:spcPts val="0"/>
              </a:spcAft>
              <a:buClr>
                <a:schemeClr val="dk1"/>
              </a:buClr>
              <a:buSzPts val="2800"/>
              <a:buFont typeface="Calibri"/>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27ce0ca996c_0_44"/>
          <p:cNvSpPr txBox="1"/>
          <p:nvPr>
            <p:ph type="title"/>
          </p:nvPr>
        </p:nvSpPr>
        <p:spPr>
          <a:xfrm>
            <a:off x="838200" y="365125"/>
            <a:ext cx="10515600" cy="1621800"/>
          </a:xfrm>
          <a:prstGeom prst="rect">
            <a:avLst/>
          </a:prstGeom>
        </p:spPr>
        <p:txBody>
          <a:bodyPr anchorCtr="0" anchor="ctr" bIns="45700" lIns="91425" spcFirstLastPara="1" rIns="91425" wrap="square" tIns="45700">
            <a:normAutofit fontScale="90000"/>
          </a:bodyPr>
          <a:lstStyle/>
          <a:p>
            <a:pPr indent="0" lvl="0" marL="228600" rtl="0" algn="l">
              <a:spcBef>
                <a:spcPts val="1000"/>
              </a:spcBef>
              <a:spcAft>
                <a:spcPts val="0"/>
              </a:spcAft>
              <a:buNone/>
            </a:pPr>
            <a:r>
              <a:rPr lang="es-ES" sz="6865"/>
              <a:t>Guía de diseño y buenas prácticas </a:t>
            </a:r>
            <a:endParaRPr/>
          </a:p>
        </p:txBody>
      </p:sp>
      <p:sp>
        <p:nvSpPr>
          <p:cNvPr id="328" name="Google Shape;328;g27ce0ca996c_0_44"/>
          <p:cNvSpPr txBox="1"/>
          <p:nvPr>
            <p:ph idx="1" type="body"/>
          </p:nvPr>
        </p:nvSpPr>
        <p:spPr>
          <a:xfrm>
            <a:off x="838200" y="2683250"/>
            <a:ext cx="10515600" cy="34935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t>Buenas praxis</a:t>
            </a:r>
            <a:endParaRPr/>
          </a:p>
        </p:txBody>
      </p:sp>
      <p:sp>
        <p:nvSpPr>
          <p:cNvPr id="334" name="Google Shape;334;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s-ES"/>
              <a:t>Una interfaz móvil efectiva va más allá de la apariencia visual; también incluye elementos clave como tipografía, colores, fondos e imágenes.</a:t>
            </a:r>
            <a:endParaRPr/>
          </a:p>
          <a:p>
            <a:pPr indent="-228600" lvl="0" marL="228600" rtl="0" algn="l">
              <a:lnSpc>
                <a:spcPct val="90000"/>
              </a:lnSpc>
              <a:spcBef>
                <a:spcPts val="1000"/>
              </a:spcBef>
              <a:spcAft>
                <a:spcPts val="0"/>
              </a:spcAft>
              <a:buClr>
                <a:schemeClr val="dk1"/>
              </a:buClr>
              <a:buSzPts val="2800"/>
              <a:buFont typeface="Arial"/>
              <a:buChar char="•"/>
            </a:pPr>
            <a:r>
              <a:rPr lang="es-ES"/>
              <a:t>Esta sección se enfocará en las mejores prácticas para aprovechar al máximo estos elementos en el diseño de interfaces móviles.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27ce0ca996c_0_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Usabilidad</a:t>
            </a:r>
            <a:endParaRPr/>
          </a:p>
        </p:txBody>
      </p:sp>
      <p:sp>
        <p:nvSpPr>
          <p:cNvPr id="340" name="Google Shape;340;g27ce0ca996c_0_3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La usabilidad se refiere a la capacidad de un software de ser comprendido, aprendido, usado y ser atractivo para el usuario, en condiciones específicas de uso</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ES"/>
              <a:t>La usabilidad puede resumirse en el principio “no me hagas pensar” para utilizar tu aplicación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27ce0ca996c_0_4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Guía diseño para usabilidad</a:t>
            </a:r>
            <a:endParaRPr/>
          </a:p>
        </p:txBody>
      </p:sp>
      <p:sp>
        <p:nvSpPr>
          <p:cNvPr id="346" name="Google Shape;346;g27ce0ca996c_0_4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Tipografía</a:t>
            </a:r>
            <a:endParaRPr/>
          </a:p>
        </p:txBody>
      </p:sp>
      <p:sp>
        <p:nvSpPr>
          <p:cNvPr id="352" name="Google Shape;352;p42"/>
          <p:cNvSpPr txBox="1"/>
          <p:nvPr>
            <p:ph idx="1" type="body"/>
          </p:nvPr>
        </p:nvSpPr>
        <p:spPr>
          <a:xfrm>
            <a:off x="838200" y="1825625"/>
            <a:ext cx="446532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s-ES"/>
              <a:t>Selección cuidadosa de fuentes que sean legibles en pantallas móviles.</a:t>
            </a:r>
            <a:endParaRPr/>
          </a:p>
          <a:p>
            <a:pPr indent="-228600" lvl="0" marL="228600" rtl="0" algn="l">
              <a:lnSpc>
                <a:spcPct val="90000"/>
              </a:lnSpc>
              <a:spcBef>
                <a:spcPts val="1000"/>
              </a:spcBef>
              <a:spcAft>
                <a:spcPts val="0"/>
              </a:spcAft>
              <a:buClr>
                <a:schemeClr val="dk1"/>
              </a:buClr>
              <a:buSzPts val="2800"/>
              <a:buFont typeface="Arial"/>
              <a:buChar char="•"/>
            </a:pPr>
            <a:r>
              <a:rPr lang="es-ES"/>
              <a:t>Consideración de tamaños de fuente adecuados y espaciado para una lectura cómoda.</a:t>
            </a:r>
            <a:endParaRPr/>
          </a:p>
          <a:p>
            <a:pPr indent="0" lvl="0" marL="0" rtl="0" algn="l">
              <a:lnSpc>
                <a:spcPct val="90000"/>
              </a:lnSpc>
              <a:spcBef>
                <a:spcPts val="1000"/>
              </a:spcBef>
              <a:spcAft>
                <a:spcPts val="0"/>
              </a:spcAft>
              <a:buClr>
                <a:schemeClr val="dk1"/>
              </a:buClr>
              <a:buSzPts val="2800"/>
              <a:buNone/>
            </a:pPr>
            <a:r>
              <a:t/>
            </a:r>
            <a:endParaRPr/>
          </a:p>
        </p:txBody>
      </p:sp>
      <p:sp>
        <p:nvSpPr>
          <p:cNvPr id="353" name="Google Shape;353;p42"/>
          <p:cNvSpPr txBox="1"/>
          <p:nvPr/>
        </p:nvSpPr>
        <p:spPr>
          <a:xfrm>
            <a:off x="6172200" y="682752"/>
            <a:ext cx="5111496" cy="5427155"/>
          </a:xfrm>
          <a:prstGeom prst="rect">
            <a:avLst/>
          </a:prstGeom>
          <a:noFill/>
          <a:ln>
            <a:noFill/>
          </a:ln>
        </p:spPr>
        <p:txBody>
          <a:bodyPr anchorCtr="0" anchor="t" bIns="45700" lIns="91425" spcFirstLastPara="1" rIns="91425" wrap="square" tIns="45700">
            <a:normAutofit/>
          </a:bodyPr>
          <a:lstStyle/>
          <a:p>
            <a:pPr indent="-101600" lvl="0" marL="228600" marR="0" rtl="0" algn="l">
              <a:lnSpc>
                <a:spcPct val="90000"/>
              </a:lnSpc>
              <a:spcBef>
                <a:spcPts val="0"/>
              </a:spcBef>
              <a:spcAft>
                <a:spcPts val="0"/>
              </a:spcAft>
              <a:buClr>
                <a:schemeClr val="dk1"/>
              </a:buClr>
              <a:buSzPts val="2000"/>
              <a:buFont typeface="Arial"/>
              <a:buNone/>
            </a:pPr>
            <a:r>
              <a:t/>
            </a:r>
            <a:endParaRPr b="0" i="0" sz="20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2000"/>
              <a:buFont typeface="Arial"/>
              <a:buChar char="•"/>
            </a:pPr>
            <a:r>
              <a:rPr b="1" i="0" lang="es-ES" sz="2000" u="none" cap="none" strike="noStrike">
                <a:solidFill>
                  <a:srgbClr val="000000"/>
                </a:solidFill>
                <a:latin typeface="Arial"/>
                <a:ea typeface="Arial"/>
                <a:cs typeface="Arial"/>
                <a:sym typeface="Arial"/>
              </a:rPr>
              <a:t>Tipografía</a:t>
            </a:r>
            <a:r>
              <a:rPr b="0" i="0" lang="es-ES" sz="2000" u="none" cap="none" strike="noStrike">
                <a:solidFill>
                  <a:srgbClr val="000000"/>
                </a:solidFill>
                <a:latin typeface="Arial"/>
                <a:ea typeface="Arial"/>
                <a:cs typeface="Arial"/>
                <a:sym typeface="Arial"/>
              </a:rPr>
              <a:t>: </a:t>
            </a:r>
            <a:r>
              <a:rPr b="1" i="0" lang="es-ES" sz="2000" u="none" cap="none" strike="noStrike">
                <a:solidFill>
                  <a:srgbClr val="000000"/>
                </a:solidFill>
                <a:latin typeface="Arial"/>
                <a:ea typeface="Arial"/>
                <a:cs typeface="Arial"/>
                <a:sym typeface="Arial"/>
              </a:rPr>
              <a:t>legible </a:t>
            </a:r>
            <a:r>
              <a:rPr b="0" i="0" lang="es-ES" sz="2000" u="none" cap="none" strike="noStrike">
                <a:solidFill>
                  <a:srgbClr val="000000"/>
                </a:solidFill>
                <a:latin typeface="Arial"/>
                <a:ea typeface="Arial"/>
                <a:cs typeface="Arial"/>
                <a:sym typeface="Arial"/>
              </a:rPr>
              <a:t>y </a:t>
            </a:r>
            <a:r>
              <a:rPr b="1" i="0" lang="es-ES" sz="2000" u="none" cap="none" strike="noStrike">
                <a:solidFill>
                  <a:srgbClr val="000000"/>
                </a:solidFill>
                <a:latin typeface="Arial"/>
                <a:ea typeface="Arial"/>
                <a:cs typeface="Arial"/>
                <a:sym typeface="Arial"/>
              </a:rPr>
              <a:t>adaptada </a:t>
            </a:r>
            <a:r>
              <a:rPr b="0" i="0" lang="es-ES" sz="2000" u="none" cap="none" strike="noStrike">
                <a:solidFill>
                  <a:srgbClr val="000000"/>
                </a:solidFill>
                <a:latin typeface="Arial"/>
                <a:ea typeface="Arial"/>
                <a:cs typeface="Arial"/>
                <a:sym typeface="Arial"/>
              </a:rPr>
              <a:t>a la imagen y personalidad de la aplicación.</a:t>
            </a:r>
            <a:endParaRPr/>
          </a:p>
          <a:p>
            <a:pPr indent="-228600" lvl="0" marL="228600" marR="0" rtl="0" algn="l">
              <a:lnSpc>
                <a:spcPct val="90000"/>
              </a:lnSpc>
              <a:spcBef>
                <a:spcPts val="1000"/>
              </a:spcBef>
              <a:spcAft>
                <a:spcPts val="0"/>
              </a:spcAft>
              <a:buClr>
                <a:srgbClr val="000000"/>
              </a:buClr>
              <a:buSzPts val="2000"/>
              <a:buFont typeface="Arial"/>
              <a:buChar char="•"/>
            </a:pPr>
            <a:r>
              <a:rPr b="1" i="0" lang="es-ES" sz="2000" u="none" cap="none" strike="noStrike">
                <a:solidFill>
                  <a:srgbClr val="000000"/>
                </a:solidFill>
                <a:latin typeface="Arial"/>
                <a:ea typeface="Arial"/>
                <a:cs typeface="Arial"/>
                <a:sym typeface="Arial"/>
              </a:rPr>
              <a:t>Espaciado</a:t>
            </a:r>
            <a:r>
              <a:rPr b="0" i="0" lang="es-ES" sz="2000" u="none" cap="none" strike="noStrike">
                <a:solidFill>
                  <a:srgbClr val="000000"/>
                </a:solidFill>
                <a:latin typeface="Arial"/>
                <a:ea typeface="Arial"/>
                <a:cs typeface="Arial"/>
                <a:sym typeface="Arial"/>
              </a:rPr>
              <a:t>: Ni demasiado ancha ni demasiado condensada</a:t>
            </a:r>
            <a:endParaRPr/>
          </a:p>
          <a:p>
            <a:pPr indent="-228600" lvl="0" marL="228600" marR="0" rtl="0" algn="l">
              <a:lnSpc>
                <a:spcPct val="90000"/>
              </a:lnSpc>
              <a:spcBef>
                <a:spcPts val="1000"/>
              </a:spcBef>
              <a:spcAft>
                <a:spcPts val="0"/>
              </a:spcAft>
              <a:buClr>
                <a:srgbClr val="000000"/>
              </a:buClr>
              <a:buSzPts val="2000"/>
              <a:buFont typeface="Arial"/>
              <a:buChar char="•"/>
            </a:pPr>
            <a:r>
              <a:rPr b="1" i="0" lang="es-ES" sz="2000" u="none" cap="none" strike="noStrike">
                <a:solidFill>
                  <a:srgbClr val="000000"/>
                </a:solidFill>
                <a:latin typeface="Arial"/>
                <a:ea typeface="Arial"/>
                <a:cs typeface="Arial"/>
                <a:sym typeface="Arial"/>
              </a:rPr>
              <a:t>Interlineado</a:t>
            </a:r>
            <a:r>
              <a:rPr b="0" i="0" lang="es-ES" sz="2000" u="none" cap="none" strike="noStrike">
                <a:solidFill>
                  <a:srgbClr val="000000"/>
                </a:solidFill>
                <a:latin typeface="Arial"/>
                <a:ea typeface="Arial"/>
                <a:cs typeface="Arial"/>
                <a:sym typeface="Arial"/>
              </a:rPr>
              <a:t>: aumentar con respecto al utilizado en papel</a:t>
            </a:r>
            <a:endParaRPr/>
          </a:p>
          <a:p>
            <a:pPr indent="-228600" lvl="0" marL="228600" marR="0" rtl="0" algn="l">
              <a:lnSpc>
                <a:spcPct val="90000"/>
              </a:lnSpc>
              <a:spcBef>
                <a:spcPts val="1000"/>
              </a:spcBef>
              <a:spcAft>
                <a:spcPts val="0"/>
              </a:spcAft>
              <a:buClr>
                <a:srgbClr val="000000"/>
              </a:buClr>
              <a:buSzPts val="2000"/>
              <a:buFont typeface="Arial"/>
              <a:buChar char="•"/>
            </a:pPr>
            <a:r>
              <a:rPr b="1" i="0" lang="es-ES" sz="2000" u="none" cap="none" strike="noStrike">
                <a:solidFill>
                  <a:srgbClr val="000000"/>
                </a:solidFill>
                <a:latin typeface="Arial"/>
                <a:ea typeface="Arial"/>
                <a:cs typeface="Arial"/>
                <a:sym typeface="Arial"/>
              </a:rPr>
              <a:t>Estilo</a:t>
            </a:r>
            <a:r>
              <a:rPr b="0" i="0" lang="es-ES" sz="2000" u="none" cap="none" strike="noStrike">
                <a:solidFill>
                  <a:srgbClr val="000000"/>
                </a:solidFill>
                <a:latin typeface="Arial"/>
                <a:ea typeface="Arial"/>
                <a:cs typeface="Arial"/>
                <a:sym typeface="Arial"/>
              </a:rPr>
              <a:t>: no usar palabras subrayadas. Utilizar correctamente la negrita y el estilo itálico</a:t>
            </a:r>
            <a:endParaRPr/>
          </a:p>
          <a:p>
            <a:pPr indent="-228600" lvl="0" marL="228600" marR="0" rtl="0" algn="l">
              <a:lnSpc>
                <a:spcPct val="90000"/>
              </a:lnSpc>
              <a:spcBef>
                <a:spcPts val="1000"/>
              </a:spcBef>
              <a:spcAft>
                <a:spcPts val="0"/>
              </a:spcAft>
              <a:buClr>
                <a:srgbClr val="000000"/>
              </a:buClr>
              <a:buSzPts val="2000"/>
              <a:buFont typeface="Arial"/>
              <a:buChar char="•"/>
            </a:pPr>
            <a:r>
              <a:rPr b="1" i="0" lang="es-ES" sz="2000" u="none" cap="none" strike="noStrike">
                <a:solidFill>
                  <a:srgbClr val="000000"/>
                </a:solidFill>
                <a:latin typeface="Arial"/>
                <a:ea typeface="Arial"/>
                <a:cs typeface="Arial"/>
                <a:sym typeface="Arial"/>
              </a:rPr>
              <a:t>Alineación</a:t>
            </a:r>
            <a:r>
              <a:rPr b="0" i="0" lang="es-ES" sz="2000" u="none" cap="none" strike="noStrike">
                <a:solidFill>
                  <a:srgbClr val="000000"/>
                </a:solidFill>
                <a:latin typeface="Arial"/>
                <a:ea typeface="Arial"/>
                <a:cs typeface="Arial"/>
                <a:sym typeface="Arial"/>
              </a:rPr>
              <a:t>: texto alineado la izquierda mejor que justificado (al contrario que en el papel)</a:t>
            </a:r>
            <a:endParaRPr/>
          </a:p>
          <a:p>
            <a:pPr indent="-228600" lvl="0" marL="228600" marR="0" rtl="0" algn="l">
              <a:lnSpc>
                <a:spcPct val="90000"/>
              </a:lnSpc>
              <a:spcBef>
                <a:spcPts val="1000"/>
              </a:spcBef>
              <a:spcAft>
                <a:spcPts val="0"/>
              </a:spcAft>
              <a:buClr>
                <a:srgbClr val="000000"/>
              </a:buClr>
              <a:buSzPts val="2000"/>
              <a:buFont typeface="Arial"/>
              <a:buChar char="•"/>
            </a:pPr>
            <a:r>
              <a:rPr b="1" i="0" lang="es-ES" sz="2000" u="none" cap="none" strike="noStrike">
                <a:solidFill>
                  <a:srgbClr val="000000"/>
                </a:solidFill>
                <a:latin typeface="Arial"/>
                <a:ea typeface="Arial"/>
                <a:cs typeface="Arial"/>
                <a:sym typeface="Arial"/>
              </a:rPr>
              <a:t>Color</a:t>
            </a:r>
            <a:r>
              <a:rPr b="0" i="0" lang="es-ES" sz="2000" u="none" cap="none" strike="noStrike">
                <a:solidFill>
                  <a:srgbClr val="000000"/>
                </a:solidFill>
                <a:latin typeface="Arial"/>
                <a:ea typeface="Arial"/>
                <a:cs typeface="Arial"/>
                <a:sym typeface="Arial"/>
              </a:rPr>
              <a:t>: buen contraste entre el color de la fuente y el color del fondo </a:t>
            </a: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3"/>
          <p:cNvSpPr txBox="1"/>
          <p:nvPr>
            <p:ph type="title"/>
          </p:nvPr>
        </p:nvSpPr>
        <p:spPr>
          <a:xfrm>
            <a:off x="838200" y="365125"/>
            <a:ext cx="10515600" cy="83578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Colores y Fondos</a:t>
            </a:r>
            <a:endParaRPr/>
          </a:p>
        </p:txBody>
      </p:sp>
      <p:sp>
        <p:nvSpPr>
          <p:cNvPr id="359" name="Google Shape;359;p43"/>
          <p:cNvSpPr txBox="1"/>
          <p:nvPr>
            <p:ph idx="1" type="body"/>
          </p:nvPr>
        </p:nvSpPr>
        <p:spPr>
          <a:xfrm>
            <a:off x="513025" y="1396275"/>
            <a:ext cx="11172900" cy="504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s-ES"/>
              <a:t>Uso de paletas de colores coherentes y agradables visualmente.</a:t>
            </a:r>
            <a:endParaRPr/>
          </a:p>
          <a:p>
            <a:pPr indent="0" lvl="0" marL="0" rtl="0" algn="l">
              <a:lnSpc>
                <a:spcPct val="90000"/>
              </a:lnSpc>
              <a:spcBef>
                <a:spcPts val="1000"/>
              </a:spcBef>
              <a:spcAft>
                <a:spcPts val="0"/>
              </a:spcAft>
              <a:buClr>
                <a:schemeClr val="dk1"/>
              </a:buClr>
              <a:buSzPts val="2800"/>
              <a:buNone/>
            </a:pPr>
            <a:r>
              <a:rPr lang="es-ES"/>
              <a:t>- </a:t>
            </a:r>
            <a:r>
              <a:rPr lang="es-ES" u="sng">
                <a:solidFill>
                  <a:schemeClr val="hlink"/>
                </a:solidFill>
                <a:hlinkClick r:id="rId3"/>
              </a:rPr>
              <a:t>https://m3.material.io/</a:t>
            </a:r>
            <a:endParaRPr/>
          </a:p>
          <a:p>
            <a:pPr indent="0" lvl="0" marL="0" rtl="0" algn="l">
              <a:lnSpc>
                <a:spcPct val="90000"/>
              </a:lnSpc>
              <a:spcBef>
                <a:spcPts val="1000"/>
              </a:spcBef>
              <a:spcAft>
                <a:spcPts val="0"/>
              </a:spcAft>
              <a:buClr>
                <a:schemeClr val="dk1"/>
              </a:buClr>
              <a:buSzPts val="2800"/>
              <a:buNone/>
            </a:pPr>
            <a:r>
              <a:rPr lang="es-ES"/>
              <a:t>- </a:t>
            </a:r>
            <a:r>
              <a:rPr lang="es-ES" u="sng">
                <a:solidFill>
                  <a:schemeClr val="hlink"/>
                </a:solidFill>
                <a:hlinkClick r:id="rId4"/>
              </a:rPr>
              <a:t>https://developer.android.com/guide/topics/ui/look-and-feel?hl=es-419</a:t>
            </a:r>
            <a:endParaRPr/>
          </a:p>
          <a:p>
            <a:pPr indent="0" lvl="0" marL="0" rtl="0" algn="l">
              <a:lnSpc>
                <a:spcPct val="90000"/>
              </a:lnSpc>
              <a:spcBef>
                <a:spcPts val="1000"/>
              </a:spcBef>
              <a:spcAft>
                <a:spcPts val="0"/>
              </a:spcAft>
              <a:buClr>
                <a:schemeClr val="dk1"/>
              </a:buClr>
              <a:buSzPts val="2800"/>
              <a:buNone/>
            </a:pPr>
            <a:r>
              <a:rPr lang="es-ES"/>
              <a:t>- </a:t>
            </a:r>
            <a:r>
              <a:rPr lang="es-ES" u="sng">
                <a:solidFill>
                  <a:schemeClr val="hlink"/>
                </a:solidFill>
                <a:hlinkClick r:id="rId5"/>
              </a:rPr>
              <a:t>h</a:t>
            </a:r>
            <a:r>
              <a:rPr lang="es-ES" u="sng">
                <a:solidFill>
                  <a:schemeClr val="hlink"/>
                </a:solidFill>
                <a:hlinkClick r:id="rId6"/>
              </a:rPr>
              <a:t>ttps://developer.android.com/training/material/palette-colors?hl=es-419</a:t>
            </a:r>
            <a:endParaRPr/>
          </a:p>
          <a:p>
            <a:pPr indent="-228600" lvl="0" marL="228600" rtl="0" algn="l">
              <a:lnSpc>
                <a:spcPct val="90000"/>
              </a:lnSpc>
              <a:spcBef>
                <a:spcPts val="1000"/>
              </a:spcBef>
              <a:spcAft>
                <a:spcPts val="0"/>
              </a:spcAft>
              <a:buClr>
                <a:schemeClr val="dk1"/>
              </a:buClr>
              <a:buSzPts val="2800"/>
              <a:buFont typeface="Arial"/>
              <a:buChar char="•"/>
            </a:pPr>
            <a:r>
              <a:rPr lang="es-ES"/>
              <a:t>Fondos que no distraigan del contenido principal y proporcionen un contraste adecuado para la legibilidad.</a:t>
            </a:r>
            <a:endParaRPr b="0" i="0" sz="1800" u="none" strike="noStrike">
              <a:solidFill>
                <a:srgbClr val="000000"/>
              </a:solidFill>
              <a:latin typeface="Arial"/>
              <a:ea typeface="Arial"/>
              <a:cs typeface="Arial"/>
              <a:sym typeface="Arial"/>
            </a:endParaRPr>
          </a:p>
          <a:p>
            <a:pPr indent="-241300" lvl="1" marL="685800" rtl="0" algn="l">
              <a:lnSpc>
                <a:spcPct val="90000"/>
              </a:lnSpc>
              <a:spcBef>
                <a:spcPts val="500"/>
              </a:spcBef>
              <a:spcAft>
                <a:spcPts val="0"/>
              </a:spcAft>
              <a:buClr>
                <a:srgbClr val="000000"/>
              </a:buClr>
              <a:buSzPts val="1600"/>
              <a:buChar char="•"/>
            </a:pPr>
            <a:r>
              <a:rPr b="0" i="0" lang="es-ES" sz="1600" u="none" strike="noStrike">
                <a:solidFill>
                  <a:srgbClr val="000000"/>
                </a:solidFill>
                <a:latin typeface="Arial"/>
                <a:ea typeface="Arial"/>
                <a:cs typeface="Arial"/>
                <a:sym typeface="Arial"/>
              </a:rPr>
              <a:t>Entre el color del texto y el fondo la norma principal ha de ser que haya un contraste alto. En ese sentido las opciones obvias son texto negro y fondo blanco o texto blanco y fondo negro. Podemos arriesgar más pero siempre y cuando contraste sea alto: </a:t>
            </a:r>
            <a:endParaRPr sz="2600"/>
          </a:p>
          <a:p>
            <a:pPr indent="0" lvl="1" marL="457200" rtl="0" algn="l">
              <a:lnSpc>
                <a:spcPct val="90000"/>
              </a:lnSpc>
              <a:spcBef>
                <a:spcPts val="500"/>
              </a:spcBef>
              <a:spcAft>
                <a:spcPts val="0"/>
              </a:spcAft>
              <a:buClr>
                <a:srgbClr val="0462C1"/>
              </a:buClr>
              <a:buSzPts val="1400"/>
              <a:buNone/>
            </a:pPr>
            <a:r>
              <a:rPr b="0" i="0" lang="es-ES" sz="1600" u="none" strike="noStrike">
                <a:solidFill>
                  <a:srgbClr val="0462C1"/>
                </a:solidFill>
                <a:latin typeface="Arial"/>
                <a:ea typeface="Arial"/>
                <a:cs typeface="Arial"/>
                <a:sym typeface="Arial"/>
              </a:rPr>
              <a:t>https://webaim.org/resources/contrastchecker/ </a:t>
            </a:r>
            <a:endParaRPr sz="2600"/>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27ce0ca996c_0_9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365" name="Google Shape;365;g27ce0ca996c_0_97"/>
          <p:cNvPicPr preferRelativeResize="0"/>
          <p:nvPr/>
        </p:nvPicPr>
        <p:blipFill>
          <a:blip r:embed="rId3">
            <a:alphaModFix/>
          </a:blip>
          <a:stretch>
            <a:fillRect/>
          </a:stretch>
        </p:blipFill>
        <p:spPr>
          <a:xfrm>
            <a:off x="431925" y="488826"/>
            <a:ext cx="11183119" cy="60406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27ce0ca996c_0_5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Colores</a:t>
            </a:r>
            <a:endParaRPr/>
          </a:p>
        </p:txBody>
      </p:sp>
      <p:sp>
        <p:nvSpPr>
          <p:cNvPr id="371" name="Google Shape;371;g27ce0ca996c_0_5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•Respetar el significado de los colores, i.e.: no usar un fondo rojo para un mensaje de información. Recuerda: </a:t>
            </a:r>
            <a:r>
              <a:rPr lang="es-ES">
                <a:solidFill>
                  <a:srgbClr val="C00000"/>
                </a:solidFill>
              </a:rPr>
              <a:t>rojo </a:t>
            </a:r>
            <a:r>
              <a:rPr lang="es-ES"/>
              <a:t>error, </a:t>
            </a:r>
            <a:r>
              <a:rPr lang="es-ES">
                <a:solidFill>
                  <a:schemeClr val="accent4"/>
                </a:solidFill>
              </a:rPr>
              <a:t>amarillo </a:t>
            </a:r>
            <a:r>
              <a:rPr lang="es-ES"/>
              <a:t>advertencia, </a:t>
            </a:r>
            <a:r>
              <a:rPr lang="es-ES">
                <a:solidFill>
                  <a:srgbClr val="0462C1"/>
                </a:solidFill>
              </a:rPr>
              <a:t>azul </a:t>
            </a:r>
            <a:r>
              <a:rPr lang="es-ES"/>
              <a:t>info y </a:t>
            </a:r>
            <a:r>
              <a:rPr lang="es-ES">
                <a:solidFill>
                  <a:srgbClr val="6AA84F"/>
                </a:solidFill>
              </a:rPr>
              <a:t>verde </a:t>
            </a:r>
            <a:r>
              <a:rPr lang="es-ES"/>
              <a:t>acción realizada con éxito</a:t>
            </a:r>
            <a:endParaRPr/>
          </a:p>
          <a:p>
            <a:pPr indent="0" lvl="0" marL="0" rtl="0" algn="l">
              <a:spcBef>
                <a:spcPts val="1000"/>
              </a:spcBef>
              <a:spcAft>
                <a:spcPts val="0"/>
              </a:spcAft>
              <a:buClr>
                <a:schemeClr val="dk1"/>
              </a:buClr>
              <a:buSzPts val="1100"/>
              <a:buFont typeface="Arial"/>
              <a:buNone/>
            </a:pPr>
            <a:r>
              <a:rPr lang="es-ES"/>
              <a:t>•Contraste entre los elementos y el fondo</a:t>
            </a:r>
            <a:endParaRPr/>
          </a:p>
          <a:p>
            <a:pPr indent="0" lvl="0" marL="0" rtl="0" algn="l">
              <a:spcBef>
                <a:spcPts val="100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1" i="0" lang="es-ES">
                <a:latin typeface="Arial"/>
                <a:ea typeface="Arial"/>
                <a:cs typeface="Arial"/>
                <a:sym typeface="Arial"/>
              </a:rPr>
              <a:t>Imágenes</a:t>
            </a:r>
            <a:endParaRPr/>
          </a:p>
        </p:txBody>
      </p:sp>
      <p:sp>
        <p:nvSpPr>
          <p:cNvPr id="377" name="Google Shape;377;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lang="es-ES"/>
              <a:t>Elección de imágenes de alta calidad que complementen el contenido.</a:t>
            </a:r>
            <a:endParaRPr/>
          </a:p>
          <a:p>
            <a:pPr indent="-228600" lvl="0" marL="228600" rtl="0" algn="l">
              <a:lnSpc>
                <a:spcPct val="90000"/>
              </a:lnSpc>
              <a:spcBef>
                <a:spcPts val="1000"/>
              </a:spcBef>
              <a:spcAft>
                <a:spcPts val="0"/>
              </a:spcAft>
              <a:buClr>
                <a:schemeClr val="dk1"/>
              </a:buClr>
              <a:buSzPts val="2800"/>
              <a:buFont typeface="Arial"/>
              <a:buChar char="•"/>
            </a:pPr>
            <a:r>
              <a:rPr lang="es-ES"/>
              <a:t>Optimización de imágenes para una carga rápida y eficiente en dispositivos móviles.</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s-ES"/>
              <a:t>Multimedia</a:t>
            </a:r>
            <a:endParaRPr/>
          </a:p>
        </p:txBody>
      </p:sp>
      <p:sp>
        <p:nvSpPr>
          <p:cNvPr id="383" name="Google Shape;383;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Salvo que se trate de una aplicación artística o de entretenimiento el uso de música ha de limitarse</a:t>
            </a:r>
            <a:endParaRPr/>
          </a:p>
          <a:p>
            <a:pPr indent="-228600" lvl="0" marL="228600" rtl="0" algn="l">
              <a:lnSpc>
                <a:spcPct val="90000"/>
              </a:lnSpc>
              <a:spcBef>
                <a:spcPts val="1000"/>
              </a:spcBef>
              <a:spcAft>
                <a:spcPts val="0"/>
              </a:spcAft>
              <a:buClr>
                <a:schemeClr val="dk1"/>
              </a:buClr>
              <a:buSzPts val="2800"/>
              <a:buChar char="•"/>
            </a:pPr>
            <a:r>
              <a:rPr lang="es-ES"/>
              <a:t>Los videos deben empezar pausados y el usuario explícitamente iniciarlos si así desea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27ce0ca996c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s-ES" sz="3000"/>
              <a:t>Consistencia</a:t>
            </a:r>
            <a:endParaRPr b="1" sz="4600"/>
          </a:p>
        </p:txBody>
      </p:sp>
      <p:sp>
        <p:nvSpPr>
          <p:cNvPr id="389" name="Google Shape;389;g27ce0ca996c_0_0"/>
          <p:cNvSpPr txBox="1"/>
          <p:nvPr>
            <p:ph idx="1" type="body"/>
          </p:nvPr>
        </p:nvSpPr>
        <p:spPr>
          <a:xfrm>
            <a:off x="838200" y="1825625"/>
            <a:ext cx="7299600" cy="4351200"/>
          </a:xfrm>
          <a:prstGeom prst="rect">
            <a:avLst/>
          </a:prstGeom>
        </p:spPr>
        <p:txBody>
          <a:bodyPr anchorCtr="0" anchor="t" bIns="45700" lIns="91425" spcFirstLastPara="1" rIns="91425" wrap="square" tIns="45700">
            <a:normAutofit fontScale="85000" lnSpcReduction="20000"/>
          </a:bodyPr>
          <a:lstStyle/>
          <a:p>
            <a:pPr indent="0" lvl="0" marL="0" rtl="0" algn="l">
              <a:spcBef>
                <a:spcPts val="1000"/>
              </a:spcBef>
              <a:spcAft>
                <a:spcPts val="0"/>
              </a:spcAft>
              <a:buClr>
                <a:schemeClr val="dk1"/>
              </a:buClr>
              <a:buSzPct val="39285"/>
              <a:buFont typeface="Arial"/>
              <a:buNone/>
            </a:pPr>
            <a:r>
              <a:rPr lang="es-ES"/>
              <a:t>La consistencia es un principio fundamental del diseño.</a:t>
            </a:r>
            <a:endParaRPr/>
          </a:p>
          <a:p>
            <a:pPr indent="0" lvl="0" marL="0" rtl="0" algn="l">
              <a:spcBef>
                <a:spcPts val="1000"/>
              </a:spcBef>
              <a:spcAft>
                <a:spcPts val="0"/>
              </a:spcAft>
              <a:buNone/>
            </a:pPr>
            <a:r>
              <a:rPr lang="es-ES"/>
              <a:t>La app debe mostrar una UI consistente en todas las pantallas</a:t>
            </a:r>
            <a:endParaRPr/>
          </a:p>
          <a:p>
            <a:pPr indent="0" lvl="0" marL="0" rtl="0" algn="l">
              <a:spcBef>
                <a:spcPts val="1000"/>
              </a:spcBef>
              <a:spcAft>
                <a:spcPts val="0"/>
              </a:spcAft>
              <a:buClr>
                <a:schemeClr val="dk1"/>
              </a:buClr>
              <a:buSzPct val="39285"/>
              <a:buFont typeface="Arial"/>
              <a:buNone/>
            </a:pPr>
            <a:r>
              <a:t/>
            </a:r>
            <a:endParaRPr/>
          </a:p>
          <a:p>
            <a:pPr indent="0" lvl="0" marL="0" rtl="0" algn="l">
              <a:spcBef>
                <a:spcPts val="1000"/>
              </a:spcBef>
              <a:spcAft>
                <a:spcPts val="0"/>
              </a:spcAft>
              <a:buClr>
                <a:schemeClr val="dk1"/>
              </a:buClr>
              <a:buSzPct val="39285"/>
              <a:buFont typeface="Arial"/>
              <a:buNone/>
            </a:pPr>
            <a:r>
              <a:rPr lang="es-ES"/>
              <a:t>•</a:t>
            </a:r>
            <a:r>
              <a:rPr b="1" lang="es-ES"/>
              <a:t>Consistencia visual</a:t>
            </a:r>
            <a:r>
              <a:rPr lang="es-ES"/>
              <a:t>: tipografía, botones, iconos y colores deben de mantenerse consistentes a lo largo de de toda la app</a:t>
            </a:r>
            <a:endParaRPr/>
          </a:p>
          <a:p>
            <a:pPr indent="0" lvl="0" marL="0" rtl="0" algn="l">
              <a:spcBef>
                <a:spcPts val="1000"/>
              </a:spcBef>
              <a:spcAft>
                <a:spcPts val="0"/>
              </a:spcAft>
              <a:buClr>
                <a:schemeClr val="dk1"/>
              </a:buClr>
              <a:buSzPct val="39285"/>
              <a:buFont typeface="Arial"/>
              <a:buNone/>
            </a:pPr>
            <a:r>
              <a:rPr lang="es-ES"/>
              <a:t>•</a:t>
            </a:r>
            <a:r>
              <a:rPr b="1" lang="es-ES"/>
              <a:t>Consistencia funcional</a:t>
            </a:r>
            <a:r>
              <a:rPr lang="es-ES"/>
              <a:t>: los elementos interactivos deben funcionar igual a lo largo de toda la app</a:t>
            </a:r>
            <a:endParaRPr/>
          </a:p>
          <a:p>
            <a:pPr indent="0" lvl="0" marL="0" rtl="0" algn="l">
              <a:spcBef>
                <a:spcPts val="1000"/>
              </a:spcBef>
              <a:spcAft>
                <a:spcPts val="0"/>
              </a:spcAft>
              <a:buClr>
                <a:schemeClr val="dk1"/>
              </a:buClr>
              <a:buSzPct val="39285"/>
              <a:buFont typeface="Arial"/>
              <a:buNone/>
            </a:pPr>
            <a:r>
              <a:rPr lang="es-ES"/>
              <a:t>•</a:t>
            </a:r>
            <a:r>
              <a:rPr b="1" lang="es-ES"/>
              <a:t>Consistencia externa</a:t>
            </a:r>
            <a:r>
              <a:rPr lang="es-ES"/>
              <a:t>: el diseño debe ser consistente con otras app para que el usuario pueda utilizar el conocimiento previo usando otras apps</a:t>
            </a:r>
            <a:endParaRPr/>
          </a:p>
          <a:p>
            <a:pPr indent="0" lvl="0" marL="0" rtl="0" algn="l">
              <a:spcBef>
                <a:spcPts val="1000"/>
              </a:spcBef>
              <a:spcAft>
                <a:spcPts val="0"/>
              </a:spcAft>
              <a:buNone/>
            </a:pPr>
            <a:r>
              <a:t/>
            </a:r>
            <a:endParaRPr/>
          </a:p>
        </p:txBody>
      </p:sp>
      <p:pic>
        <p:nvPicPr>
          <p:cNvPr id="390" name="Google Shape;390;g27ce0ca996c_0_0"/>
          <p:cNvPicPr preferRelativeResize="0"/>
          <p:nvPr/>
        </p:nvPicPr>
        <p:blipFill>
          <a:blip r:embed="rId3">
            <a:alphaModFix/>
          </a:blip>
          <a:stretch>
            <a:fillRect/>
          </a:stretch>
        </p:blipFill>
        <p:spPr>
          <a:xfrm>
            <a:off x="7938725" y="925600"/>
            <a:ext cx="3702376" cy="18458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27ce0ca996c_0_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Predecible</a:t>
            </a:r>
            <a:endParaRPr/>
          </a:p>
        </p:txBody>
      </p:sp>
      <p:sp>
        <p:nvSpPr>
          <p:cNvPr id="396" name="Google Shape;396;g27ce0ca996c_0_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Clr>
                <a:schemeClr val="dk1"/>
              </a:buClr>
              <a:buSzPts val="1100"/>
              <a:buFont typeface="Arial"/>
              <a:buNone/>
            </a:pPr>
            <a:r>
              <a:rPr lang="es-ES"/>
              <a:t>Mantener una interfaz predecible es imprescindible.</a:t>
            </a:r>
            <a:endParaRPr/>
          </a:p>
          <a:p>
            <a:pPr indent="0" lvl="0" marL="0" rtl="0" algn="l">
              <a:spcBef>
                <a:spcPts val="1000"/>
              </a:spcBef>
              <a:spcAft>
                <a:spcPts val="0"/>
              </a:spcAft>
              <a:buNone/>
            </a:pPr>
            <a:r>
              <a:rPr lang="es-ES"/>
              <a:t>Si las cosas no funcionan de la forma que el usuario prevé su experiencia se uso se verá empeorada.</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s-ES"/>
              <a:t>Un ejemplo sería el correcto uso del botón atrás:</a:t>
            </a:r>
            <a:endParaRPr/>
          </a:p>
          <a:p>
            <a:pPr indent="0" lvl="0" marL="0" rtl="0" algn="l">
              <a:spcBef>
                <a:spcPts val="1000"/>
              </a:spcBef>
              <a:spcAft>
                <a:spcPts val="0"/>
              </a:spcAft>
              <a:buClr>
                <a:schemeClr val="dk1"/>
              </a:buClr>
              <a:buSzPts val="1100"/>
              <a:buFont typeface="Arial"/>
              <a:buNone/>
            </a:pPr>
            <a:r>
              <a:rPr lang="es-ES"/>
              <a:t>•El botón de atrás debe (salvo excepciones) llevar a la pantalla anterior.</a:t>
            </a:r>
            <a:endParaRPr/>
          </a:p>
          <a:p>
            <a:pPr indent="0" lvl="0" marL="0" rtl="0" algn="l">
              <a:spcBef>
                <a:spcPts val="1000"/>
              </a:spcBef>
              <a:spcAft>
                <a:spcPts val="0"/>
              </a:spcAft>
              <a:buClr>
                <a:schemeClr val="dk1"/>
              </a:buClr>
              <a:buSzPts val="1100"/>
              <a:buFont typeface="Arial"/>
              <a:buNone/>
            </a:pPr>
            <a:r>
              <a:rPr lang="es-ES"/>
              <a:t>•Estar en mitad de un formulario de varias pantalla, pulsar atrás y volver a la pantalla de inicio es una experiencia bastante frustrante para el usuario.</a:t>
            </a:r>
            <a:endParaRPr/>
          </a:p>
          <a:p>
            <a:pPr indent="0" lvl="0" marL="0" rtl="0" algn="l">
              <a:spcBef>
                <a:spcPts val="1000"/>
              </a:spcBef>
              <a:spcAft>
                <a:spcPts val="0"/>
              </a:spcAft>
              <a:buNone/>
            </a:pPr>
            <a:r>
              <a:t/>
            </a:r>
            <a:endParaRPr/>
          </a:p>
        </p:txBody>
      </p:sp>
      <p:pic>
        <p:nvPicPr>
          <p:cNvPr id="397" name="Google Shape;397;g27ce0ca996c_0_7"/>
          <p:cNvPicPr preferRelativeResize="0"/>
          <p:nvPr/>
        </p:nvPicPr>
        <p:blipFill>
          <a:blip r:embed="rId3">
            <a:alphaModFix/>
          </a:blip>
          <a:stretch>
            <a:fillRect/>
          </a:stretch>
        </p:blipFill>
        <p:spPr>
          <a:xfrm>
            <a:off x="4281238" y="740625"/>
            <a:ext cx="4581525" cy="7048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27ce0ca996c_0_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Ayuda</a:t>
            </a:r>
            <a:endParaRPr/>
          </a:p>
        </p:txBody>
      </p:sp>
      <p:sp>
        <p:nvSpPr>
          <p:cNvPr id="403" name="Google Shape;403;g27ce0ca996c_0_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•Cuando hagas referencia a algo que el usuario puede que no sepa lo que es debes ofrecer un enlace que lo explique.</a:t>
            </a:r>
            <a:endParaRPr/>
          </a:p>
        </p:txBody>
      </p:sp>
      <p:pic>
        <p:nvPicPr>
          <p:cNvPr id="404" name="Google Shape;404;g27ce0ca996c_0_15"/>
          <p:cNvPicPr preferRelativeResize="0"/>
          <p:nvPr/>
        </p:nvPicPr>
        <p:blipFill>
          <a:blip r:embed="rId3">
            <a:alphaModFix/>
          </a:blip>
          <a:stretch>
            <a:fillRect/>
          </a:stretch>
        </p:blipFill>
        <p:spPr>
          <a:xfrm>
            <a:off x="1244850" y="3187738"/>
            <a:ext cx="7410450" cy="23336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27ce0ca996c_0_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Experiencia de usuario</a:t>
            </a:r>
            <a:endParaRPr/>
          </a:p>
        </p:txBody>
      </p:sp>
      <p:sp>
        <p:nvSpPr>
          <p:cNvPr id="410" name="Google Shape;410;g27ce0ca996c_0_2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0" lvl="0" marL="0" rtl="0" algn="l">
              <a:spcBef>
                <a:spcPts val="1000"/>
              </a:spcBef>
              <a:spcAft>
                <a:spcPts val="0"/>
              </a:spcAft>
              <a:buClr>
                <a:schemeClr val="dk1"/>
              </a:buClr>
              <a:buSzPts val="1100"/>
              <a:buFont typeface="Arial"/>
              <a:buNone/>
            </a:pPr>
            <a:r>
              <a:rPr lang="es-ES"/>
              <a:t>•La experiencia de usuario (UX por sus siglas en inglés) es el sentimiento subjetivo de satisfacción que una persona tiene o no al usar una aplicación.</a:t>
            </a:r>
            <a:endParaRPr/>
          </a:p>
          <a:p>
            <a:pPr indent="0" lvl="0" marL="0" rtl="0" algn="l">
              <a:spcBef>
                <a:spcPts val="1000"/>
              </a:spcBef>
              <a:spcAft>
                <a:spcPts val="0"/>
              </a:spcAft>
              <a:buNone/>
            </a:pPr>
            <a:r>
              <a:rPr lang="es-ES"/>
              <a:t>•Dicha experiencia estará contextualizada por los conocimientos previos del usuario y por sus expectativas antes la aplicación.</a:t>
            </a:r>
            <a:endParaRPr/>
          </a:p>
          <a:p>
            <a:pPr indent="0" lvl="0" marL="0" rtl="0" algn="l">
              <a:spcBef>
                <a:spcPts val="1000"/>
              </a:spcBef>
              <a:spcAft>
                <a:spcPts val="0"/>
              </a:spcAft>
              <a:buNone/>
            </a:pPr>
            <a:r>
              <a:t/>
            </a:r>
            <a:endParaRPr/>
          </a:p>
          <a:p>
            <a:pPr indent="0" lvl="0" marL="0" rtl="0" algn="l">
              <a:spcBef>
                <a:spcPts val="1000"/>
              </a:spcBef>
              <a:spcAft>
                <a:spcPts val="0"/>
              </a:spcAft>
              <a:buClr>
                <a:schemeClr val="dk1"/>
              </a:buClr>
              <a:buSzPts val="1100"/>
              <a:buFont typeface="Arial"/>
              <a:buNone/>
            </a:pPr>
            <a:r>
              <a:rPr i="1" lang="es-ES" sz="2900"/>
              <a:t>La principal recomendación para una buena experiencia de usuaria es, además de seguir todo lo comentado con respecto a la usabilidad, el usar un tipo de fuente y los colores que casen con la temática y marca de la aplicación/web</a:t>
            </a:r>
            <a:endParaRPr i="1" sz="2900"/>
          </a:p>
          <a:p>
            <a:pPr indent="0" lvl="0" marL="0" rtl="0" algn="l">
              <a:spcBef>
                <a:spcPts val="100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27d2204a555_0_18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ES"/>
              <a:t>Causas de abandono de una app en el</a:t>
            </a:r>
            <a:endParaRPr/>
          </a:p>
          <a:p>
            <a:pPr indent="0" lvl="0" marL="0" rtl="0" algn="l">
              <a:spcBef>
                <a:spcPts val="0"/>
              </a:spcBef>
              <a:spcAft>
                <a:spcPts val="0"/>
              </a:spcAft>
              <a:buNone/>
            </a:pPr>
            <a:r>
              <a:rPr lang="es-ES"/>
              <a:t>primer uso</a:t>
            </a:r>
            <a:endParaRPr/>
          </a:p>
        </p:txBody>
      </p:sp>
      <p:pic>
        <p:nvPicPr>
          <p:cNvPr id="416" name="Google Shape;416;g27d2204a555_0_184"/>
          <p:cNvPicPr preferRelativeResize="0"/>
          <p:nvPr/>
        </p:nvPicPr>
        <p:blipFill>
          <a:blip r:embed="rId3">
            <a:alphaModFix/>
          </a:blip>
          <a:stretch>
            <a:fillRect/>
          </a:stretch>
        </p:blipFill>
        <p:spPr>
          <a:xfrm>
            <a:off x="1429413" y="1643775"/>
            <a:ext cx="9191625" cy="471487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27d2204a555_0_19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Por lo tanto...</a:t>
            </a:r>
            <a:endParaRPr/>
          </a:p>
        </p:txBody>
      </p:sp>
      <p:sp>
        <p:nvSpPr>
          <p:cNvPr id="422" name="Google Shape;422;g27d2204a555_0_19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spcBef>
                <a:spcPts val="1000"/>
              </a:spcBef>
              <a:spcAft>
                <a:spcPts val="0"/>
              </a:spcAft>
              <a:buClr>
                <a:schemeClr val="dk1"/>
              </a:buClr>
              <a:buSzPct val="39285"/>
              <a:buFont typeface="Arial"/>
              <a:buNone/>
            </a:pPr>
            <a:r>
              <a:rPr lang="es-ES"/>
              <a:t>• Mucho cuidado con las notificaciones</a:t>
            </a:r>
            <a:endParaRPr/>
          </a:p>
          <a:p>
            <a:pPr indent="0" lvl="0" marL="0" rtl="0" algn="l">
              <a:spcBef>
                <a:spcPts val="1000"/>
              </a:spcBef>
              <a:spcAft>
                <a:spcPts val="0"/>
              </a:spcAft>
              <a:buClr>
                <a:schemeClr val="dk1"/>
              </a:buClr>
              <a:buSzPct val="39285"/>
              <a:buFont typeface="Arial"/>
              <a:buNone/>
            </a:pPr>
            <a:r>
              <a:rPr lang="es-ES"/>
              <a:t>• Haz que se registren solo si es necesario</a:t>
            </a:r>
            <a:endParaRPr/>
          </a:p>
          <a:p>
            <a:pPr indent="0" lvl="0" marL="0" rtl="0" algn="l">
              <a:spcBef>
                <a:spcPts val="1000"/>
              </a:spcBef>
              <a:spcAft>
                <a:spcPts val="0"/>
              </a:spcAft>
              <a:buClr>
                <a:schemeClr val="dk1"/>
              </a:buClr>
              <a:buSzPct val="39285"/>
              <a:buFont typeface="Arial"/>
              <a:buNone/>
            </a:pPr>
            <a:r>
              <a:rPr lang="es-ES"/>
              <a:t>• De tener que registrarse, de ser posible, usa las APIs de Facebook, Gmail</a:t>
            </a:r>
            <a:endParaRPr/>
          </a:p>
          <a:p>
            <a:pPr indent="0" lvl="0" marL="0" rtl="0" algn="l">
              <a:spcBef>
                <a:spcPts val="1000"/>
              </a:spcBef>
              <a:spcAft>
                <a:spcPts val="0"/>
              </a:spcAft>
              <a:buClr>
                <a:schemeClr val="dk1"/>
              </a:buClr>
              <a:buSzPct val="39285"/>
              <a:buFont typeface="Arial"/>
              <a:buNone/>
            </a:pPr>
            <a:r>
              <a:rPr lang="es-ES"/>
              <a:t>y/o Twitter</a:t>
            </a:r>
            <a:endParaRPr/>
          </a:p>
          <a:p>
            <a:pPr indent="0" lvl="0" marL="0" rtl="0" algn="l">
              <a:spcBef>
                <a:spcPts val="1000"/>
              </a:spcBef>
              <a:spcAft>
                <a:spcPts val="0"/>
              </a:spcAft>
              <a:buClr>
                <a:schemeClr val="dk1"/>
              </a:buClr>
              <a:buSzPct val="39285"/>
              <a:buFont typeface="Arial"/>
              <a:buNone/>
            </a:pPr>
            <a:r>
              <a:rPr lang="es-ES"/>
              <a:t>• Prueba bien tu app para evitar que se cuelgue</a:t>
            </a:r>
            <a:endParaRPr/>
          </a:p>
          <a:p>
            <a:pPr indent="0" lvl="0" marL="0" rtl="0" algn="l">
              <a:spcBef>
                <a:spcPts val="1000"/>
              </a:spcBef>
              <a:spcAft>
                <a:spcPts val="0"/>
              </a:spcAft>
              <a:buClr>
                <a:schemeClr val="dk1"/>
              </a:buClr>
              <a:buSzPct val="39285"/>
              <a:buFont typeface="Arial"/>
              <a:buNone/>
            </a:pPr>
            <a:r>
              <a:rPr lang="es-ES"/>
              <a:t>• Pide datos personales </a:t>
            </a:r>
            <a:r>
              <a:rPr lang="es-ES"/>
              <a:t>sólo</a:t>
            </a:r>
            <a:r>
              <a:rPr lang="es-ES"/>
              <a:t> cuando sea estrictamente necesario y ten</a:t>
            </a:r>
            <a:endParaRPr/>
          </a:p>
          <a:p>
            <a:pPr indent="0" lvl="0" marL="0" rtl="0" algn="l">
              <a:spcBef>
                <a:spcPts val="1000"/>
              </a:spcBef>
              <a:spcAft>
                <a:spcPts val="0"/>
              </a:spcAft>
              <a:buClr>
                <a:schemeClr val="dk1"/>
              </a:buClr>
              <a:buSzPct val="39285"/>
              <a:buFont typeface="Arial"/>
              <a:buNone/>
            </a:pPr>
            <a:r>
              <a:rPr lang="es-ES"/>
              <a:t>cuenta que de hacerlo tienes que </a:t>
            </a:r>
            <a:r>
              <a:rPr lang="es-ES"/>
              <a:t>ceñirte</a:t>
            </a:r>
            <a:r>
              <a:rPr lang="es-ES"/>
              <a:t> a Ley Orgánica 3/2018, de 5 de</a:t>
            </a:r>
            <a:endParaRPr/>
          </a:p>
          <a:p>
            <a:pPr indent="0" lvl="0" marL="0" rtl="0" algn="l">
              <a:spcBef>
                <a:spcPts val="1000"/>
              </a:spcBef>
              <a:spcAft>
                <a:spcPts val="0"/>
              </a:spcAft>
              <a:buClr>
                <a:schemeClr val="dk1"/>
              </a:buClr>
              <a:buSzPct val="39285"/>
              <a:buFont typeface="Arial"/>
              <a:buNone/>
            </a:pPr>
            <a:r>
              <a:rPr lang="es-ES"/>
              <a:t>diciembre, de Protección de Datos Personales y garantía de los derechos</a:t>
            </a:r>
            <a:endParaRPr/>
          </a:p>
          <a:p>
            <a:pPr indent="0" lvl="0" marL="0" rtl="0" algn="l">
              <a:spcBef>
                <a:spcPts val="1000"/>
              </a:spcBef>
              <a:spcAft>
                <a:spcPts val="0"/>
              </a:spcAft>
              <a:buClr>
                <a:schemeClr val="dk1"/>
              </a:buClr>
              <a:buSzPct val="39285"/>
              <a:buFont typeface="Arial"/>
              <a:buNone/>
            </a:pPr>
            <a:r>
              <a:rPr lang="es-ES"/>
              <a:t>digitales.</a:t>
            </a:r>
            <a:endParaRPr/>
          </a:p>
          <a:p>
            <a:pPr indent="0" lvl="0" marL="0" rtl="0" algn="l">
              <a:spcBef>
                <a:spcPts val="100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g27d2204a555_0_19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Evita pedir permisos al principios</a:t>
            </a:r>
            <a:endParaRPr/>
          </a:p>
        </p:txBody>
      </p:sp>
      <p:sp>
        <p:nvSpPr>
          <p:cNvPr id="428" name="Google Shape;428;g27d2204a555_0_198"/>
          <p:cNvSpPr txBox="1"/>
          <p:nvPr>
            <p:ph idx="1" type="body"/>
          </p:nvPr>
        </p:nvSpPr>
        <p:spPr>
          <a:xfrm>
            <a:off x="838200" y="1825625"/>
            <a:ext cx="4347000" cy="4351200"/>
          </a:xfrm>
          <a:prstGeom prst="rect">
            <a:avLst/>
          </a:prstGeom>
        </p:spPr>
        <p:txBody>
          <a:bodyPr anchorCtr="0" anchor="t" bIns="45700" lIns="91425" spcFirstLastPara="1" rIns="91425" wrap="square" tIns="45700">
            <a:normAutofit fontScale="70000" lnSpcReduction="10000"/>
          </a:bodyPr>
          <a:lstStyle/>
          <a:p>
            <a:pPr indent="0" lvl="0" marL="0" rtl="0" algn="l">
              <a:lnSpc>
                <a:spcPct val="100000"/>
              </a:lnSpc>
              <a:spcBef>
                <a:spcPts val="1000"/>
              </a:spcBef>
              <a:spcAft>
                <a:spcPts val="0"/>
              </a:spcAft>
              <a:buNone/>
            </a:pPr>
            <a:r>
              <a:rPr lang="es-ES"/>
              <a:t>• Si la primera cosa que hace tu aplicación nada más iniciarse es pedir permisos genera una m</a:t>
            </a:r>
            <a:r>
              <a:rPr lang="es-ES"/>
              <a:t>a</a:t>
            </a:r>
            <a:r>
              <a:rPr lang="es-ES"/>
              <a:t>la impresión en el usuario.</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rPr lang="es-ES"/>
              <a:t>• Hazlo solo cuando sea imprescindible.</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rPr lang="es-ES"/>
              <a:t>• Pide los permisos cuando sea vaya a utilizar el </a:t>
            </a:r>
            <a:r>
              <a:rPr lang="es-ES"/>
              <a:t>recurso</a:t>
            </a:r>
            <a:r>
              <a:rPr lang="es-ES"/>
              <a:t> a solicitar, p.e.: cámara</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rPr lang="es-ES"/>
              <a:t>• </a:t>
            </a:r>
            <a:r>
              <a:rPr lang="es-ES"/>
              <a:t>Explica</a:t>
            </a:r>
            <a:r>
              <a:rPr lang="es-ES"/>
              <a:t> el por qué solicitas los permisos</a:t>
            </a:r>
            <a:endParaRPr/>
          </a:p>
          <a:p>
            <a:pPr indent="0" lvl="0" marL="0" rtl="0" algn="l">
              <a:spcBef>
                <a:spcPts val="1000"/>
              </a:spcBef>
              <a:spcAft>
                <a:spcPts val="0"/>
              </a:spcAft>
              <a:buNone/>
            </a:pPr>
            <a:r>
              <a:t/>
            </a:r>
            <a:endParaRPr/>
          </a:p>
        </p:txBody>
      </p:sp>
      <p:pic>
        <p:nvPicPr>
          <p:cNvPr id="429" name="Google Shape;429;g27d2204a555_0_198"/>
          <p:cNvPicPr preferRelativeResize="0"/>
          <p:nvPr/>
        </p:nvPicPr>
        <p:blipFill>
          <a:blip r:embed="rId3">
            <a:alphaModFix/>
          </a:blip>
          <a:stretch>
            <a:fillRect/>
          </a:stretch>
        </p:blipFill>
        <p:spPr>
          <a:xfrm>
            <a:off x="6212550" y="1895475"/>
            <a:ext cx="3933825" cy="30670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27d2204a555_0_20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Haz que tu app cargue rápido</a:t>
            </a:r>
            <a:endParaRPr/>
          </a:p>
        </p:txBody>
      </p:sp>
      <p:sp>
        <p:nvSpPr>
          <p:cNvPr id="435" name="Google Shape;435;g27d2204a555_0_20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El 47% de los usuarios se impacientan si una app tarda más de 2</a:t>
            </a:r>
            <a:endParaRPr/>
          </a:p>
          <a:p>
            <a:pPr indent="0" lvl="0" marL="0" rtl="0" algn="l">
              <a:spcBef>
                <a:spcPts val="1000"/>
              </a:spcBef>
              <a:spcAft>
                <a:spcPts val="0"/>
              </a:spcAft>
              <a:buClr>
                <a:schemeClr val="dk1"/>
              </a:buClr>
              <a:buSzPts val="1100"/>
              <a:buFont typeface="Arial"/>
              <a:buNone/>
            </a:pPr>
            <a:r>
              <a:rPr lang="es-ES"/>
              <a:t>segundos en cargar.</a:t>
            </a:r>
            <a:endParaRPr/>
          </a:p>
          <a:p>
            <a:pPr indent="0" lvl="0" marL="0" rtl="0" algn="l">
              <a:spcBef>
                <a:spcPts val="1000"/>
              </a:spcBef>
              <a:spcAft>
                <a:spcPts val="0"/>
              </a:spcAft>
              <a:buClr>
                <a:schemeClr val="dk1"/>
              </a:buClr>
              <a:buSzPts val="1100"/>
              <a:buFont typeface="Arial"/>
              <a:buNone/>
            </a:pPr>
            <a:r>
              <a:rPr lang="es-ES"/>
              <a:t>• Si tu app tarda en cargar, haz que cargue por partes, primero aquellas que sean visibles</a:t>
            </a:r>
            <a:endParaRPr/>
          </a:p>
          <a:p>
            <a:pPr indent="0" lvl="0" marL="0" rtl="0" algn="l">
              <a:spcBef>
                <a:spcPts val="1000"/>
              </a:spcBef>
              <a:spcAft>
                <a:spcPts val="0"/>
              </a:spcAft>
              <a:buClr>
                <a:schemeClr val="dk1"/>
              </a:buClr>
              <a:buSzPts val="1100"/>
              <a:buFont typeface="Arial"/>
              <a:buNone/>
            </a:pPr>
            <a:r>
              <a:rPr lang="es-ES"/>
              <a:t>• En el caso de que no puedas evitar la carga, hazla explícita con una barra de progreso y con una distracción visual</a:t>
            </a:r>
            <a:endParaRPr/>
          </a:p>
          <a:p>
            <a:pPr indent="0" lvl="0" marL="0" rtl="0" algn="l">
              <a:spcBef>
                <a:spcPts val="100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27d2204a555_0_21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ES"/>
              <a:t>Céntrate</a:t>
            </a:r>
            <a:r>
              <a:rPr lang="es-ES"/>
              <a:t> en una primera buena</a:t>
            </a:r>
            <a:endParaRPr/>
          </a:p>
          <a:p>
            <a:pPr indent="0" lvl="0" marL="0" rtl="0" algn="l">
              <a:spcBef>
                <a:spcPts val="0"/>
              </a:spcBef>
              <a:spcAft>
                <a:spcPts val="0"/>
              </a:spcAft>
              <a:buNone/>
            </a:pPr>
            <a:r>
              <a:rPr lang="es-ES"/>
              <a:t>impresión</a:t>
            </a:r>
            <a:endParaRPr/>
          </a:p>
        </p:txBody>
      </p:sp>
      <p:sp>
        <p:nvSpPr>
          <p:cNvPr id="441" name="Google Shape;441;g27d2204a555_0_213"/>
          <p:cNvSpPr txBox="1"/>
          <p:nvPr>
            <p:ph idx="1" type="body"/>
          </p:nvPr>
        </p:nvSpPr>
        <p:spPr>
          <a:xfrm>
            <a:off x="838200" y="1825625"/>
            <a:ext cx="44628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El 24% de los usuario solo abre la app una vez, céntrate en ofrecer una primera buena impresión</a:t>
            </a:r>
            <a:endParaRPr/>
          </a:p>
          <a:p>
            <a:pPr indent="0" lvl="0" marL="0" rtl="0" algn="l">
              <a:spcBef>
                <a:spcPts val="1000"/>
              </a:spcBef>
              <a:spcAft>
                <a:spcPts val="0"/>
              </a:spcAft>
              <a:buNone/>
            </a:pPr>
            <a:r>
              <a:t/>
            </a:r>
            <a:endParaRPr/>
          </a:p>
        </p:txBody>
      </p:sp>
      <p:pic>
        <p:nvPicPr>
          <p:cNvPr id="442" name="Google Shape;442;g27d2204a555_0_213"/>
          <p:cNvPicPr preferRelativeResize="0"/>
          <p:nvPr/>
        </p:nvPicPr>
        <p:blipFill>
          <a:blip r:embed="rId3">
            <a:alphaModFix/>
          </a:blip>
          <a:stretch>
            <a:fillRect/>
          </a:stretch>
        </p:blipFill>
        <p:spPr>
          <a:xfrm>
            <a:off x="5660698" y="1767623"/>
            <a:ext cx="5958000" cy="42090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27d2204a555_0_2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Consideraciones finales</a:t>
            </a:r>
            <a:endParaRPr/>
          </a:p>
        </p:txBody>
      </p:sp>
      <p:sp>
        <p:nvSpPr>
          <p:cNvPr id="448" name="Google Shape;448;g27d2204a555_0_2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Un buen diseño es la combinación de estilo y de una buena funcionalidad. No olvides la funcionalidad. No olvides el estilo.</a:t>
            </a:r>
            <a:endParaRPr/>
          </a:p>
          <a:p>
            <a:pPr indent="0" lvl="0" marL="0" rtl="0" algn="l">
              <a:spcBef>
                <a:spcPts val="1000"/>
              </a:spcBef>
              <a:spcAft>
                <a:spcPts val="0"/>
              </a:spcAft>
              <a:buClr>
                <a:schemeClr val="dk1"/>
              </a:buClr>
              <a:buSzPts val="1100"/>
              <a:buFont typeface="Arial"/>
              <a:buNone/>
            </a:pPr>
            <a:r>
              <a:rPr lang="es-ES"/>
              <a:t>• No intentes crear una interfaz perfecta en tus primeros intentos, es</a:t>
            </a:r>
            <a:endParaRPr/>
          </a:p>
          <a:p>
            <a:pPr indent="0" lvl="0" marL="0" rtl="0" algn="l">
              <a:spcBef>
                <a:spcPts val="1000"/>
              </a:spcBef>
              <a:spcAft>
                <a:spcPts val="0"/>
              </a:spcAft>
              <a:buClr>
                <a:schemeClr val="dk1"/>
              </a:buClr>
              <a:buSzPts val="1100"/>
              <a:buFont typeface="Arial"/>
              <a:buNone/>
            </a:pPr>
            <a:r>
              <a:rPr lang="es-ES"/>
              <a:t>imposible.</a:t>
            </a:r>
            <a:endParaRPr/>
          </a:p>
          <a:p>
            <a:pPr indent="0" lvl="0" marL="0" rtl="0" algn="l">
              <a:spcBef>
                <a:spcPts val="1000"/>
              </a:spcBef>
              <a:spcAft>
                <a:spcPts val="0"/>
              </a:spcAft>
              <a:buClr>
                <a:schemeClr val="dk1"/>
              </a:buClr>
              <a:buSzPts val="1100"/>
              <a:buFont typeface="Arial"/>
              <a:buNone/>
            </a:pPr>
            <a:r>
              <a:rPr lang="es-ES"/>
              <a:t>• Itera sobre tu interfaz, no esperes a tener la interfaz perfecta, publica tu app, recoge el feedback de tus usuarios y mejora constantemente la</a:t>
            </a:r>
            <a:endParaRPr/>
          </a:p>
          <a:p>
            <a:pPr indent="0" lvl="0" marL="0" rtl="0" algn="l">
              <a:spcBef>
                <a:spcPts val="1000"/>
              </a:spcBef>
              <a:spcAft>
                <a:spcPts val="0"/>
              </a:spcAft>
              <a:buClr>
                <a:schemeClr val="dk1"/>
              </a:buClr>
              <a:buSzPts val="1100"/>
              <a:buFont typeface="Arial"/>
              <a:buNone/>
            </a:pPr>
            <a:r>
              <a:rPr lang="es-ES"/>
              <a:t>interfaz</a:t>
            </a:r>
            <a:endParaRPr/>
          </a:p>
          <a:p>
            <a:pPr indent="0" lvl="0" marL="0" rtl="0" algn="l">
              <a:spcBef>
                <a:spcPts val="100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27ce0ca996c_0_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Ejercicio</a:t>
            </a:r>
            <a:endParaRPr/>
          </a:p>
        </p:txBody>
      </p:sp>
      <p:sp>
        <p:nvSpPr>
          <p:cNvPr id="454" name="Google Shape;454;g27ce0ca996c_0_2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Analizar una web/app al gusto y señalar los puntos fuertes y flojos de diseño y cual es la experiencia de usuario resultante.</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ES"/>
              <a:t>Analizar su </a:t>
            </a:r>
            <a:r>
              <a:rPr lang="es-ES"/>
              <a:t>versión</a:t>
            </a:r>
            <a:r>
              <a:rPr lang="es-ES"/>
              <a:t> responsive.</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27ce0ca996c_0_6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 tener en cuenta en el desarrollo para dispositivos móviles</a:t>
            </a:r>
            <a:endParaRPr/>
          </a:p>
        </p:txBody>
      </p:sp>
      <p:sp>
        <p:nvSpPr>
          <p:cNvPr id="460" name="Google Shape;460;g27ce0ca996c_0_6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•Menor tamaño de pantalla</a:t>
            </a:r>
            <a:endParaRPr/>
          </a:p>
          <a:p>
            <a:pPr indent="0" lvl="0" marL="0" rtl="0" algn="l">
              <a:spcBef>
                <a:spcPts val="1000"/>
              </a:spcBef>
              <a:spcAft>
                <a:spcPts val="0"/>
              </a:spcAft>
              <a:buClr>
                <a:schemeClr val="dk1"/>
              </a:buClr>
              <a:buSzPts val="1100"/>
              <a:buFont typeface="Arial"/>
              <a:buNone/>
            </a:pPr>
            <a:r>
              <a:rPr lang="es-ES"/>
              <a:t>•Métodos de entrada/salida de datos distintos:</a:t>
            </a:r>
            <a:endParaRPr/>
          </a:p>
          <a:p>
            <a:pPr indent="-342900" lvl="0" marL="457200" rtl="0" algn="l">
              <a:spcBef>
                <a:spcPts val="1000"/>
              </a:spcBef>
              <a:spcAft>
                <a:spcPts val="0"/>
              </a:spcAft>
              <a:buSzPts val="1800"/>
              <a:buChar char="•"/>
            </a:pPr>
            <a:r>
              <a:rPr lang="es-ES"/>
              <a:t>Teclado y ratón vs control táctil</a:t>
            </a:r>
            <a:endParaRPr/>
          </a:p>
          <a:p>
            <a:pPr indent="-342900" lvl="0" marL="457200" rtl="0" algn="l">
              <a:spcBef>
                <a:spcPts val="0"/>
              </a:spcBef>
              <a:spcAft>
                <a:spcPts val="0"/>
              </a:spcAft>
              <a:buSzPts val="1800"/>
              <a:buChar char="•"/>
            </a:pPr>
            <a:r>
              <a:rPr lang="es-ES"/>
              <a:t>En los dispositivos móviles se puede asumir la existencia de una cámara y micrófono</a:t>
            </a:r>
            <a:endParaRPr/>
          </a:p>
          <a:p>
            <a:pPr indent="0" lvl="0" marL="0" rtl="0" algn="l">
              <a:spcBef>
                <a:spcPts val="100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27ce0ca996c_0_6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Posicionamiento de los elementos en pantalla</a:t>
            </a:r>
            <a:endParaRPr/>
          </a:p>
        </p:txBody>
      </p:sp>
      <p:sp>
        <p:nvSpPr>
          <p:cNvPr id="466" name="Google Shape;466;g27ce0ca996c_0_6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27ce0ca996c_0_7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UI en dispositivos móviles. Recomendaciones.</a:t>
            </a:r>
            <a:endParaRPr/>
          </a:p>
        </p:txBody>
      </p:sp>
      <p:pic>
        <p:nvPicPr>
          <p:cNvPr id="472" name="Google Shape;472;g27ce0ca996c_0_75"/>
          <p:cNvPicPr preferRelativeResize="0"/>
          <p:nvPr/>
        </p:nvPicPr>
        <p:blipFill>
          <a:blip r:embed="rId3">
            <a:alphaModFix/>
          </a:blip>
          <a:stretch>
            <a:fillRect/>
          </a:stretch>
        </p:blipFill>
        <p:spPr>
          <a:xfrm>
            <a:off x="838200" y="1825613"/>
            <a:ext cx="10496550" cy="44481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27ce0ca996c_0_8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Menos es más</a:t>
            </a:r>
            <a:endParaRPr/>
          </a:p>
        </p:txBody>
      </p:sp>
      <p:sp>
        <p:nvSpPr>
          <p:cNvPr id="478" name="Google Shape;478;g27ce0ca996c_0_8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•Recuerda: en los dispositivos móviles el tamaño de la pantalla es reducido. Incluye solo las acciones principales, las secundarias mejor en menús desplegables.</a:t>
            </a:r>
            <a:endParaRPr/>
          </a:p>
        </p:txBody>
      </p:sp>
      <p:pic>
        <p:nvPicPr>
          <p:cNvPr id="479" name="Google Shape;479;g27ce0ca996c_0_84"/>
          <p:cNvPicPr preferRelativeResize="0"/>
          <p:nvPr/>
        </p:nvPicPr>
        <p:blipFill>
          <a:blip r:embed="rId3">
            <a:alphaModFix/>
          </a:blip>
          <a:stretch>
            <a:fillRect/>
          </a:stretch>
        </p:blipFill>
        <p:spPr>
          <a:xfrm>
            <a:off x="1510575" y="3567213"/>
            <a:ext cx="7848600" cy="20859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27ce0ca996c_0_9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s-ES" sz="3200"/>
              <a:t>Métodos de entrada</a:t>
            </a:r>
            <a:endParaRPr b="1" sz="4800"/>
          </a:p>
        </p:txBody>
      </p:sp>
      <p:sp>
        <p:nvSpPr>
          <p:cNvPr id="485" name="Google Shape;485;g27ce0ca996c_0_9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•Ten siempre en cuenta que los métodos de entrada de un dispositivo móvil no son los mismo que un equipo de escritorio</a:t>
            </a:r>
            <a:endParaRPr/>
          </a:p>
          <a:p>
            <a:pPr indent="0" lvl="0" marL="0" rtl="0" algn="l">
              <a:spcBef>
                <a:spcPts val="1000"/>
              </a:spcBef>
              <a:spcAft>
                <a:spcPts val="0"/>
              </a:spcAft>
              <a:buClr>
                <a:schemeClr val="dk1"/>
              </a:buClr>
              <a:buSzPts val="1100"/>
              <a:buFont typeface="Arial"/>
              <a:buNone/>
            </a:pPr>
            <a:r>
              <a:rPr lang="es-ES"/>
              <a:t>•Intenta minimizar la cantidad de texto que el usuario debe teclear, e.g.: con autocompletado</a:t>
            </a:r>
            <a:endParaRPr/>
          </a:p>
          <a:p>
            <a:pPr indent="0" lvl="0" marL="0" rtl="0" algn="l">
              <a:spcBef>
                <a:spcPts val="1000"/>
              </a:spcBef>
              <a:spcAft>
                <a:spcPts val="0"/>
              </a:spcAft>
              <a:buClr>
                <a:schemeClr val="dk1"/>
              </a:buClr>
              <a:buSzPts val="1100"/>
              <a:buFont typeface="Arial"/>
              <a:buNone/>
            </a:pPr>
            <a:r>
              <a:rPr lang="es-ES"/>
              <a:t>•Algunos efectos que en escritorio funcionan bien de cara a la usabilidad, e.g.: efecto hover, no son posibles con control táctil</a:t>
            </a:r>
            <a:endParaRPr/>
          </a:p>
          <a:p>
            <a:pPr indent="0" lvl="0" marL="0" rtl="0" algn="l">
              <a:spcBef>
                <a:spcPts val="1000"/>
              </a:spcBef>
              <a:spcAft>
                <a:spcPts val="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27ce0ca996c_0_1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ES"/>
              <a:t>Textos </a:t>
            </a:r>
            <a:endParaRPr/>
          </a:p>
        </p:txBody>
      </p:sp>
      <p:sp>
        <p:nvSpPr>
          <p:cNvPr id="491" name="Google Shape;491;g27ce0ca996c_0_13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27ce0ca996c_0_10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Textos </a:t>
            </a:r>
            <a:endParaRPr/>
          </a:p>
        </p:txBody>
      </p:sp>
      <p:sp>
        <p:nvSpPr>
          <p:cNvPr id="497" name="Google Shape;497;g27ce0ca996c_0_104"/>
          <p:cNvSpPr txBox="1"/>
          <p:nvPr>
            <p:ph idx="1" type="body"/>
          </p:nvPr>
        </p:nvSpPr>
        <p:spPr>
          <a:xfrm>
            <a:off x="838200" y="1825625"/>
            <a:ext cx="64623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•El tamaño mínimo de fuente debería ser 16dp</a:t>
            </a:r>
            <a:endParaRPr/>
          </a:p>
          <a:p>
            <a:pPr indent="0" lvl="0" marL="0" rtl="0" algn="l">
              <a:spcBef>
                <a:spcPts val="1000"/>
              </a:spcBef>
              <a:spcAft>
                <a:spcPts val="0"/>
              </a:spcAft>
              <a:buClr>
                <a:schemeClr val="dk1"/>
              </a:buClr>
              <a:buSzPts val="1100"/>
              <a:buFont typeface="Arial"/>
              <a:buNone/>
            </a:pPr>
            <a:r>
              <a:rPr lang="es-ES"/>
              <a:t>•Se recomienda utilizar fuentes sans-serif en las aplicaciones para dispositivos móviles.</a:t>
            </a:r>
            <a:endParaRPr/>
          </a:p>
          <a:p>
            <a:pPr indent="0" lvl="0" marL="0" rtl="0" algn="l">
              <a:spcBef>
                <a:spcPts val="1000"/>
              </a:spcBef>
              <a:spcAft>
                <a:spcPts val="0"/>
              </a:spcAft>
              <a:buClr>
                <a:schemeClr val="dk1"/>
              </a:buClr>
              <a:buSzPts val="1100"/>
              <a:buFont typeface="Arial"/>
              <a:buNone/>
            </a:pPr>
            <a:r>
              <a:rPr lang="es-ES"/>
              <a:t>•Fuentes recomendadas: Open Sans, Monteserrat, Lato, Nexa y Roboto son elecciones seguras para el desarrollo de aplicaciones móviles.</a:t>
            </a:r>
            <a:endParaRPr/>
          </a:p>
          <a:p>
            <a:pPr indent="0" lvl="0" marL="0" rtl="0" algn="l">
              <a:spcBef>
                <a:spcPts val="1000"/>
              </a:spcBef>
              <a:spcAft>
                <a:spcPts val="0"/>
              </a:spcAft>
              <a:buNone/>
            </a:pPr>
            <a:r>
              <a:t/>
            </a:r>
            <a:endParaRPr/>
          </a:p>
        </p:txBody>
      </p:sp>
      <p:pic>
        <p:nvPicPr>
          <p:cNvPr id="498" name="Google Shape;498;g27ce0ca996c_0_104"/>
          <p:cNvPicPr preferRelativeResize="0"/>
          <p:nvPr/>
        </p:nvPicPr>
        <p:blipFill>
          <a:blip r:embed="rId3">
            <a:alphaModFix/>
          </a:blip>
          <a:stretch>
            <a:fillRect/>
          </a:stretch>
        </p:blipFill>
        <p:spPr>
          <a:xfrm>
            <a:off x="7206075" y="1279075"/>
            <a:ext cx="4586701" cy="246475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27ce0ca996c_0_1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Colores</a:t>
            </a:r>
            <a:endParaRPr/>
          </a:p>
        </p:txBody>
      </p:sp>
      <p:sp>
        <p:nvSpPr>
          <p:cNvPr id="504" name="Google Shape;504;g27ce0ca996c_0_12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27ce0ca996c_0_1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Colores</a:t>
            </a:r>
            <a:endParaRPr/>
          </a:p>
        </p:txBody>
      </p:sp>
      <p:sp>
        <p:nvSpPr>
          <p:cNvPr id="510" name="Google Shape;510;g27ce0ca996c_0_1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•A parte de todo lo dicho en la sección usabilidad, Google dispone de una herramienta para conseguir una paleta de colores consistente para tu app </a:t>
            </a:r>
            <a:r>
              <a:rPr lang="es-ES" u="sng">
                <a:solidFill>
                  <a:schemeClr val="hlink"/>
                </a:solidFill>
                <a:hlinkClick r:id="rId3"/>
              </a:rPr>
              <a:t>https://m3.material.io/styles/color/dynamic-color/overview</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27ce0ca996c_0_1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Sistemas de colores</a:t>
            </a:r>
            <a:endParaRPr/>
          </a:p>
        </p:txBody>
      </p:sp>
      <p:sp>
        <p:nvSpPr>
          <p:cNvPr id="516" name="Google Shape;516;g27ce0ca996c_0_119"/>
          <p:cNvSpPr txBox="1"/>
          <p:nvPr>
            <p:ph idx="1" type="body"/>
          </p:nvPr>
        </p:nvSpPr>
        <p:spPr>
          <a:xfrm>
            <a:off x="838200" y="1825625"/>
            <a:ext cx="68943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En informática hay tres formas principales de definir un color:</a:t>
            </a:r>
            <a:endParaRPr/>
          </a:p>
          <a:p>
            <a:pPr indent="0" lvl="0" marL="0" rtl="0" algn="l">
              <a:spcBef>
                <a:spcPts val="1000"/>
              </a:spcBef>
              <a:spcAft>
                <a:spcPts val="0"/>
              </a:spcAft>
              <a:buClr>
                <a:schemeClr val="dk1"/>
              </a:buClr>
              <a:buSzPts val="1100"/>
              <a:buFont typeface="Arial"/>
              <a:buNone/>
            </a:pPr>
            <a:r>
              <a:rPr lang="es-ES"/>
              <a:t>•Mediante su nombre</a:t>
            </a:r>
            <a:endParaRPr/>
          </a:p>
          <a:p>
            <a:pPr indent="0" lvl="0" marL="0" rtl="0" algn="l">
              <a:spcBef>
                <a:spcPts val="1000"/>
              </a:spcBef>
              <a:spcAft>
                <a:spcPts val="0"/>
              </a:spcAft>
              <a:buClr>
                <a:schemeClr val="dk1"/>
              </a:buClr>
              <a:buSzPts val="1100"/>
              <a:buFont typeface="Arial"/>
              <a:buNone/>
            </a:pPr>
            <a:r>
              <a:rPr lang="es-ES"/>
              <a:t>•Mediante su código RGB</a:t>
            </a:r>
            <a:endParaRPr/>
          </a:p>
          <a:p>
            <a:pPr indent="0" lvl="0" marL="0" rtl="0" algn="l">
              <a:spcBef>
                <a:spcPts val="1000"/>
              </a:spcBef>
              <a:spcAft>
                <a:spcPts val="0"/>
              </a:spcAft>
              <a:buClr>
                <a:schemeClr val="dk1"/>
              </a:buClr>
              <a:buSzPts val="1100"/>
              <a:buFont typeface="Arial"/>
              <a:buNone/>
            </a:pPr>
            <a:r>
              <a:rPr lang="es-ES"/>
              <a:t>•Mediante su código RGBA o ARGB</a:t>
            </a:r>
            <a:endParaRPr/>
          </a:p>
          <a:p>
            <a:pPr indent="0" lvl="0" marL="0" rtl="0" algn="l">
              <a:spcBef>
                <a:spcPts val="1000"/>
              </a:spcBef>
              <a:spcAft>
                <a:spcPts val="0"/>
              </a:spcAft>
              <a:buNone/>
            </a:pPr>
            <a:r>
              <a:t/>
            </a:r>
            <a:endParaRPr/>
          </a:p>
        </p:txBody>
      </p:sp>
      <p:pic>
        <p:nvPicPr>
          <p:cNvPr id="517" name="Google Shape;517;g27ce0ca996c_0_119"/>
          <p:cNvPicPr preferRelativeResize="0"/>
          <p:nvPr/>
        </p:nvPicPr>
        <p:blipFill>
          <a:blip r:embed="rId3">
            <a:alphaModFix/>
          </a:blip>
          <a:stretch>
            <a:fillRect/>
          </a:stretch>
        </p:blipFill>
        <p:spPr>
          <a:xfrm>
            <a:off x="8017000" y="1587600"/>
            <a:ext cx="3645275" cy="34580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27ce0ca996c_0_1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RGB</a:t>
            </a:r>
            <a:endParaRPr/>
          </a:p>
        </p:txBody>
      </p:sp>
      <p:sp>
        <p:nvSpPr>
          <p:cNvPr id="523" name="Google Shape;523;g27ce0ca996c_0_13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spcBef>
                <a:spcPts val="1000"/>
              </a:spcBef>
              <a:spcAft>
                <a:spcPts val="0"/>
              </a:spcAft>
              <a:buClr>
                <a:schemeClr val="dk1"/>
              </a:buClr>
              <a:buSzPct val="39285"/>
              <a:buFont typeface="Arial"/>
              <a:buNone/>
            </a:pPr>
            <a:r>
              <a:rPr lang="es-ES"/>
              <a:t>El color es definido por tres componente (nivel de rojo, nivel de verde, nivel de azul)</a:t>
            </a:r>
            <a:endParaRPr/>
          </a:p>
          <a:p>
            <a:pPr indent="0" lvl="0" marL="0" rtl="0" algn="l">
              <a:spcBef>
                <a:spcPts val="1000"/>
              </a:spcBef>
              <a:spcAft>
                <a:spcPts val="0"/>
              </a:spcAft>
              <a:buNone/>
            </a:pPr>
            <a:r>
              <a:rPr lang="es-ES"/>
              <a:t>Cada componente toma un valor entre 0 y 255</a:t>
            </a:r>
            <a:endParaRPr/>
          </a:p>
          <a:p>
            <a:pPr indent="0" lvl="0" marL="0" rtl="0" algn="l">
              <a:spcBef>
                <a:spcPts val="1000"/>
              </a:spcBef>
              <a:spcAft>
                <a:spcPts val="0"/>
              </a:spcAft>
              <a:buClr>
                <a:schemeClr val="dk1"/>
              </a:buClr>
              <a:buSzPct val="39285"/>
              <a:buFont typeface="Arial"/>
              <a:buNone/>
            </a:pPr>
            <a:r>
              <a:t/>
            </a:r>
            <a:endParaRPr/>
          </a:p>
          <a:p>
            <a:pPr indent="0" lvl="0" marL="0" rtl="0" algn="l">
              <a:spcBef>
                <a:spcPts val="1000"/>
              </a:spcBef>
              <a:spcAft>
                <a:spcPts val="0"/>
              </a:spcAft>
              <a:buNone/>
            </a:pPr>
            <a:r>
              <a:rPr b="1" lang="es-ES"/>
              <a:t>Ejemplos:</a:t>
            </a:r>
            <a:endParaRPr b="1"/>
          </a:p>
          <a:p>
            <a:pPr indent="0" lvl="0" marL="0" rtl="0" algn="l">
              <a:spcBef>
                <a:spcPts val="1000"/>
              </a:spcBef>
              <a:spcAft>
                <a:spcPts val="0"/>
              </a:spcAft>
              <a:buClr>
                <a:schemeClr val="dk1"/>
              </a:buClr>
              <a:buSzPct val="39285"/>
              <a:buFont typeface="Arial"/>
              <a:buNone/>
            </a:pPr>
            <a:r>
              <a:t/>
            </a:r>
            <a:endParaRPr b="1"/>
          </a:p>
          <a:p>
            <a:pPr indent="0" lvl="0" marL="0" rtl="0" algn="l">
              <a:spcBef>
                <a:spcPts val="1000"/>
              </a:spcBef>
              <a:spcAft>
                <a:spcPts val="0"/>
              </a:spcAft>
              <a:buClr>
                <a:schemeClr val="dk1"/>
              </a:buClr>
              <a:buSzPct val="39285"/>
              <a:buFont typeface="Arial"/>
              <a:buNone/>
            </a:pPr>
            <a:r>
              <a:rPr lang="es-ES"/>
              <a:t>•Rojo 255,0,0</a:t>
            </a:r>
            <a:endParaRPr/>
          </a:p>
          <a:p>
            <a:pPr indent="0" lvl="0" marL="0" rtl="0" algn="l">
              <a:spcBef>
                <a:spcPts val="1000"/>
              </a:spcBef>
              <a:spcAft>
                <a:spcPts val="0"/>
              </a:spcAft>
              <a:buClr>
                <a:schemeClr val="dk1"/>
              </a:buClr>
              <a:buSzPct val="39285"/>
              <a:buFont typeface="Arial"/>
              <a:buNone/>
            </a:pPr>
            <a:r>
              <a:rPr lang="es-ES"/>
              <a:t>•Azul 0,0,255</a:t>
            </a:r>
            <a:endParaRPr/>
          </a:p>
          <a:p>
            <a:pPr indent="0" lvl="0" marL="0" rtl="0" algn="l">
              <a:spcBef>
                <a:spcPts val="1000"/>
              </a:spcBef>
              <a:spcAft>
                <a:spcPts val="0"/>
              </a:spcAft>
              <a:buClr>
                <a:schemeClr val="dk1"/>
              </a:buClr>
              <a:buSzPct val="39285"/>
              <a:buFont typeface="Arial"/>
              <a:buNone/>
            </a:pPr>
            <a:r>
              <a:rPr lang="es-ES"/>
              <a:t>•Amarillo 255, 255, 0</a:t>
            </a:r>
            <a:endParaRPr/>
          </a:p>
          <a:p>
            <a:pPr indent="0" lvl="0" marL="0" rtl="0" algn="l">
              <a:spcBef>
                <a:spcPts val="1000"/>
              </a:spcBef>
              <a:spcAft>
                <a:spcPts val="0"/>
              </a:spcAft>
              <a:buClr>
                <a:schemeClr val="dk1"/>
              </a:buClr>
              <a:buSzPct val="39285"/>
              <a:buFont typeface="Arial"/>
              <a:buNone/>
            </a:pPr>
            <a:r>
              <a:rPr lang="es-ES"/>
              <a:t>•Negro 0, 0, 0</a:t>
            </a:r>
            <a:endParaRPr/>
          </a:p>
          <a:p>
            <a:pPr indent="0" lvl="0" marL="0" rtl="0" algn="l">
              <a:spcBef>
                <a:spcPts val="1000"/>
              </a:spcBef>
              <a:spcAft>
                <a:spcPts val="0"/>
              </a:spcAft>
              <a:buNone/>
            </a:pPr>
            <a:r>
              <a:rPr lang="es-ES"/>
              <a:t>•Blanco 255, 255, 255</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27ce0ca996c_0_14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De 0 a 255</a:t>
            </a:r>
            <a:endParaRPr/>
          </a:p>
        </p:txBody>
      </p:sp>
      <p:sp>
        <p:nvSpPr>
          <p:cNvPr id="529" name="Google Shape;529;g27ce0ca996c_0_14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pic>
        <p:nvPicPr>
          <p:cNvPr id="530" name="Google Shape;530;g27ce0ca996c_0_146"/>
          <p:cNvPicPr preferRelativeResize="0"/>
          <p:nvPr/>
        </p:nvPicPr>
        <p:blipFill>
          <a:blip r:embed="rId3">
            <a:alphaModFix/>
          </a:blip>
          <a:stretch>
            <a:fillRect/>
          </a:stretch>
        </p:blipFill>
        <p:spPr>
          <a:xfrm>
            <a:off x="838188" y="1833550"/>
            <a:ext cx="8315325" cy="319087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27ce0ca996c_0_15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Why?</a:t>
            </a:r>
            <a:endParaRPr/>
          </a:p>
        </p:txBody>
      </p:sp>
      <p:sp>
        <p:nvSpPr>
          <p:cNvPr id="536" name="Google Shape;536;g27ce0ca996c_0_15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Los valores RGB (Red, Green, Blue) van del 0 al 255 porque están representados en una escala de 8 bits por canal de color. Esta elección de 8 bits tiene raíces en la forma en que las computadoras almacenan y procesan información binaria y se ha convertido en un estándar ampliamente aceptado en la representación de colores.</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27ce0ca996c_0_15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Hexadecimal</a:t>
            </a:r>
            <a:endParaRPr/>
          </a:p>
        </p:txBody>
      </p:sp>
      <p:sp>
        <p:nvSpPr>
          <p:cNvPr id="542" name="Google Shape;542;g27ce0ca996c_0_152"/>
          <p:cNvSpPr txBox="1"/>
          <p:nvPr>
            <p:ph idx="1" type="body"/>
          </p:nvPr>
        </p:nvSpPr>
        <p:spPr>
          <a:xfrm>
            <a:off x="838200" y="1781550"/>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s-ES"/>
              <a:t>La notación hexadecimal es más compacta que otras notaciones, como RGB (Red, Green, Blue) o RGBA (Red, Green, Blue, Alpha). En lugar de escribir números separados por comas o puntos, </a:t>
            </a:r>
            <a:r>
              <a:rPr lang="es-ES"/>
              <a:t>pueden</a:t>
            </a:r>
            <a:r>
              <a:rPr lang="es-ES"/>
              <a:t> representar un color con solo seis caracteres (por ejemplo, #FF5733 para un tono de naranja).</a:t>
            </a:r>
            <a:endParaRPr/>
          </a:p>
          <a:p>
            <a:pPr indent="0" lvl="0" marL="0" rtl="0" algn="l">
              <a:spcBef>
                <a:spcPts val="1000"/>
              </a:spcBef>
              <a:spcAft>
                <a:spcPts val="0"/>
              </a:spcAft>
              <a:buNone/>
            </a:pPr>
            <a:r>
              <a:t/>
            </a:r>
            <a:endParaRPr/>
          </a:p>
          <a:p>
            <a:pPr indent="0" lvl="0" marL="0" rtl="0" algn="l">
              <a:spcBef>
                <a:spcPts val="1000"/>
              </a:spcBef>
              <a:spcAft>
                <a:spcPts val="0"/>
              </a:spcAft>
              <a:buNone/>
            </a:pPr>
            <a:r>
              <a:rPr i="1" lang="es-ES"/>
              <a:t>Se suele anteceder el prefijo 0x para indicar que un número es </a:t>
            </a:r>
            <a:r>
              <a:rPr i="1" lang="es-ES"/>
              <a:t>hexadecimal</a:t>
            </a:r>
            <a:endParaRPr i="1"/>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g27ce0ca996c_0_18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Transparencia</a:t>
            </a:r>
            <a:r>
              <a:rPr lang="es-ES"/>
              <a:t> Hex</a:t>
            </a:r>
            <a:endParaRPr/>
          </a:p>
        </p:txBody>
      </p:sp>
      <p:sp>
        <p:nvSpPr>
          <p:cNvPr id="548" name="Google Shape;548;g27ce0ca996c_0_18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En hexadecimal, también puedes representar la transparencia de un color utilizando pares de caracteres adicionales (por ejemplo, #FF5733AA para un tono de naranja con cierto nivel de transparencia). Esta capacidad es útil en diseño web y aplicaciones que requieren capas superpuestas con transparencia.</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27ce0ca996c_0_16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ES"/>
              <a:t>Conversión de binario a hexadecimal</a:t>
            </a:r>
            <a:endParaRPr/>
          </a:p>
        </p:txBody>
      </p:sp>
      <p:sp>
        <p:nvSpPr>
          <p:cNvPr id="554" name="Google Shape;554;g27ce0ca996c_0_164"/>
          <p:cNvSpPr txBox="1"/>
          <p:nvPr>
            <p:ph idx="1" type="body"/>
          </p:nvPr>
        </p:nvSpPr>
        <p:spPr>
          <a:xfrm>
            <a:off x="838200" y="1825625"/>
            <a:ext cx="64623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s-ES"/>
              <a:t>Dividir en grupos de cuatro bits de derecha a izquierda.</a:t>
            </a:r>
            <a:endParaRPr/>
          </a:p>
          <a:p>
            <a:pPr indent="-342900" lvl="0" marL="457200" rtl="0" algn="l">
              <a:spcBef>
                <a:spcPts val="1000"/>
              </a:spcBef>
              <a:spcAft>
                <a:spcPts val="0"/>
              </a:spcAft>
              <a:buSzPts val="1800"/>
              <a:buChar char="●"/>
            </a:pPr>
            <a:r>
              <a:rPr lang="es-ES"/>
              <a:t>Tomar cada grupo de cuatro bits y obtener el equivalente en sistema hexadecimal.</a:t>
            </a:r>
            <a:endParaRPr/>
          </a:p>
          <a:p>
            <a:pPr indent="-342900" lvl="0" marL="457200" rtl="0" algn="l">
              <a:spcBef>
                <a:spcPts val="1000"/>
              </a:spcBef>
              <a:spcAft>
                <a:spcPts val="0"/>
              </a:spcAft>
              <a:buSzPts val="1800"/>
              <a:buChar char="●"/>
            </a:pPr>
            <a:r>
              <a:rPr lang="es-ES"/>
              <a:t>Escribir el nuevo número en el mismo orden que se realizó la separación.</a:t>
            </a:r>
            <a:endParaRPr/>
          </a:p>
        </p:txBody>
      </p:sp>
      <p:pic>
        <p:nvPicPr>
          <p:cNvPr id="555" name="Google Shape;555;g27ce0ca996c_0_164"/>
          <p:cNvPicPr preferRelativeResize="0"/>
          <p:nvPr/>
        </p:nvPicPr>
        <p:blipFill>
          <a:blip r:embed="rId3">
            <a:alphaModFix/>
          </a:blip>
          <a:stretch>
            <a:fillRect/>
          </a:stretch>
        </p:blipFill>
        <p:spPr>
          <a:xfrm>
            <a:off x="7300500" y="1825625"/>
            <a:ext cx="4332326" cy="4001999"/>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pic>
        <p:nvPicPr>
          <p:cNvPr id="560" name="Google Shape;560;g27ce0ca996c_0_170"/>
          <p:cNvPicPr preferRelativeResize="0"/>
          <p:nvPr/>
        </p:nvPicPr>
        <p:blipFill>
          <a:blip r:embed="rId3">
            <a:alphaModFix/>
          </a:blip>
          <a:stretch>
            <a:fillRect/>
          </a:stretch>
        </p:blipFill>
        <p:spPr>
          <a:xfrm>
            <a:off x="951625" y="371551"/>
            <a:ext cx="10288750" cy="58149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27ce0ca996c_0_17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ES"/>
              <a:t>Preguntas</a:t>
            </a:r>
            <a:endParaRPr/>
          </a:p>
        </p:txBody>
      </p:sp>
      <p:sp>
        <p:nvSpPr>
          <p:cNvPr id="566" name="Google Shape;566;g27ce0ca996c_0_17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Clr>
                <a:schemeClr val="dk1"/>
              </a:buClr>
              <a:buSzPts val="1100"/>
              <a:buFont typeface="Arial"/>
              <a:buNone/>
            </a:pPr>
            <a:r>
              <a:rPr lang="es-ES"/>
              <a:t>•¿Cuánto es 16 en hexadecimal?</a:t>
            </a:r>
            <a:endParaRPr/>
          </a:p>
          <a:p>
            <a:pPr indent="0" lvl="0" marL="0" rtl="0" algn="l">
              <a:spcBef>
                <a:spcPts val="1000"/>
              </a:spcBef>
              <a:spcAft>
                <a:spcPts val="0"/>
              </a:spcAft>
              <a:buClr>
                <a:schemeClr val="dk1"/>
              </a:buClr>
              <a:buSzPts val="1100"/>
              <a:buFont typeface="Arial"/>
              <a:buNone/>
            </a:pPr>
            <a:r>
              <a:rPr lang="es-ES"/>
              <a:t>•¿Cuánto es 0xF+0x1 en hexadecimal?</a:t>
            </a:r>
            <a:endParaRPr/>
          </a:p>
          <a:p>
            <a:pPr indent="0" lvl="0" marL="0" rtl="0" algn="l">
              <a:spcBef>
                <a:spcPts val="1000"/>
              </a:spcBef>
              <a:spcAft>
                <a:spcPts val="0"/>
              </a:spcAft>
              <a:buClr>
                <a:schemeClr val="dk1"/>
              </a:buClr>
              <a:buSzPts val="1100"/>
              <a:buFont typeface="Arial"/>
              <a:buNone/>
            </a:pPr>
            <a:r>
              <a:rPr lang="es-ES"/>
              <a:t>•¿Cuánto es 0x11 en decimal?</a:t>
            </a:r>
            <a:endParaRPr/>
          </a:p>
          <a:p>
            <a:pPr indent="0" lvl="0" marL="0" rtl="0" algn="l">
              <a:spcBef>
                <a:spcPts val="1000"/>
              </a:spcBef>
              <a:spcAft>
                <a:spcPts val="0"/>
              </a:spcAft>
              <a:buClr>
                <a:schemeClr val="dk1"/>
              </a:buClr>
              <a:buSzPts val="1100"/>
              <a:buFont typeface="Arial"/>
              <a:buNone/>
            </a:pPr>
            <a:r>
              <a:rPr lang="es-ES"/>
              <a:t>•¿Cuánto es 0xFF en decimal?</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ES"/>
              <a:t>¿Problemas? </a:t>
            </a:r>
            <a:r>
              <a:rPr lang="es-ES" u="sng">
                <a:solidFill>
                  <a:schemeClr val="hlink"/>
                </a:solidFill>
                <a:hlinkClick r:id="rId3"/>
              </a:rPr>
              <a:t>https://www.calculator.net/hex-calculator.html</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g27ce0ca996c_0_19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572" name="Google Shape;572;g27ce0ca996c_0_19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La suma de "0xF" y "0x1" en hexadecimal es igual a "0x10".</a:t>
            </a:r>
            <a:endParaRPr/>
          </a:p>
          <a:p>
            <a:pPr indent="0" lvl="0" marL="0" rtl="0" algn="l">
              <a:spcBef>
                <a:spcPts val="1000"/>
              </a:spcBef>
              <a:spcAft>
                <a:spcPts val="0"/>
              </a:spcAft>
              <a:buClr>
                <a:schemeClr val="dk1"/>
              </a:buClr>
              <a:buSzPts val="1100"/>
              <a:buFont typeface="Arial"/>
              <a:buNone/>
            </a:pPr>
            <a:r>
              <a:rPr lang="es-ES"/>
              <a:t>En hexadecimal, los números se representan utilizando los dígitos del 0 al 9 y las letras de la "A" a la "F". Cuando sumas "0xF" (que es igual a 15 en decimal) y "0x1" (que es igual a 1 en decimal), obtienes "0x10", que es igual a 16 en decimal.</a:t>
            </a:r>
            <a:endParaRPr/>
          </a:p>
          <a:p>
            <a:pPr indent="0" lvl="0" marL="0" rtl="0" algn="l">
              <a:spcBef>
                <a:spcPts val="1000"/>
              </a:spcBef>
              <a:spcAft>
                <a:spcPts val="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27ce0ca996c_0_19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Ejercicio</a:t>
            </a:r>
            <a:endParaRPr/>
          </a:p>
        </p:txBody>
      </p:sp>
      <p:sp>
        <p:nvSpPr>
          <p:cNvPr id="578" name="Google Shape;578;g27ce0ca996c_0_19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¿Cuántas combinaciones de colores hay en sistema RGB?</a:t>
            </a:r>
            <a:endParaRPr b="1" sz="1700">
              <a:solidFill>
                <a:srgbClr val="141414"/>
              </a:solidFill>
              <a:highlight>
                <a:srgbClr val="FEFEFE"/>
              </a:highlight>
              <a:latin typeface="Roboto"/>
              <a:ea typeface="Roboto"/>
              <a:cs typeface="Roboto"/>
              <a:sym typeface="Roboto"/>
            </a:endParaRPr>
          </a:p>
          <a:p>
            <a:pPr indent="0" lvl="0" marL="0" rtl="0" algn="l">
              <a:spcBef>
                <a:spcPts val="1000"/>
              </a:spcBef>
              <a:spcAft>
                <a:spcPts val="0"/>
              </a:spcAft>
              <a:buClr>
                <a:schemeClr val="dk1"/>
              </a:buClr>
              <a:buSzPts val="1100"/>
              <a:buFont typeface="Arial"/>
              <a:buNone/>
            </a:pPr>
            <a:r>
              <a:rPr lang="es-ES"/>
              <a:t>¿Cuantos bits ocupa?</a:t>
            </a:r>
            <a:endParaRPr/>
          </a:p>
          <a:p>
            <a:pPr indent="0" lvl="0" marL="0" rtl="0" algn="l">
              <a:spcBef>
                <a:spcPts val="1000"/>
              </a:spcBef>
              <a:spcAft>
                <a:spcPts val="0"/>
              </a:spcAft>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27ce0ca996c_0_20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ARGB</a:t>
            </a:r>
            <a:endParaRPr/>
          </a:p>
        </p:txBody>
      </p:sp>
      <p:sp>
        <p:nvSpPr>
          <p:cNvPr id="584" name="Google Shape;584;g27ce0ca996c_0_20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Se añade un nuevo componente (Alpha, Red, Green, Blue). El componente Alpha determina la </a:t>
            </a:r>
            <a:r>
              <a:rPr lang="es-ES"/>
              <a:t>transparencia</a:t>
            </a:r>
            <a:r>
              <a:rPr lang="es-ES"/>
              <a:t> de un color. Su valor, al igual que los otros tres, va de 0 a FF</a:t>
            </a:r>
            <a:endParaRPr/>
          </a:p>
          <a:p>
            <a:pPr indent="0" lvl="0" marL="0" rtl="0" algn="l">
              <a:spcBef>
                <a:spcPts val="1000"/>
              </a:spcBef>
              <a:spcAft>
                <a:spcPts val="0"/>
              </a:spcAft>
              <a:buClr>
                <a:schemeClr val="dk1"/>
              </a:buClr>
              <a:buSzPts val="1100"/>
              <a:buFont typeface="Arial"/>
              <a:buNone/>
            </a:pPr>
            <a:r>
              <a:rPr lang="es-ES"/>
              <a:t>•Alpha = FF, indica un color opaco</a:t>
            </a:r>
            <a:endParaRPr/>
          </a:p>
          <a:p>
            <a:pPr indent="0" lvl="0" marL="0" rtl="0" algn="l">
              <a:spcBef>
                <a:spcPts val="1000"/>
              </a:spcBef>
              <a:spcAft>
                <a:spcPts val="0"/>
              </a:spcAft>
              <a:buClr>
                <a:schemeClr val="dk1"/>
              </a:buClr>
              <a:buSzPts val="1100"/>
              <a:buFont typeface="Arial"/>
              <a:buNone/>
            </a:pPr>
            <a:r>
              <a:rPr lang="es-ES"/>
              <a:t>•Alpha = 00, indica un </a:t>
            </a:r>
            <a:r>
              <a:rPr lang="es-ES"/>
              <a:t>color</a:t>
            </a:r>
            <a:r>
              <a:rPr lang="es-ES"/>
              <a:t> transparente por completo (no se vería)</a:t>
            </a:r>
            <a:endParaRPr/>
          </a:p>
          <a:p>
            <a:pPr indent="0" lvl="0" marL="0" rtl="0" algn="l">
              <a:spcBef>
                <a:spcPts val="1000"/>
              </a:spcBef>
              <a:spcAft>
                <a:spcPts val="0"/>
              </a:spcAft>
              <a:buClr>
                <a:schemeClr val="dk1"/>
              </a:buClr>
              <a:buSzPts val="1100"/>
              <a:buFont typeface="Arial"/>
              <a:buNone/>
            </a:pPr>
            <a:r>
              <a:rPr lang="es-ES"/>
              <a:t>•Valores intermedios cambian el nivel de </a:t>
            </a:r>
            <a:r>
              <a:rPr lang="es-ES"/>
              <a:t>transparencia</a:t>
            </a:r>
            <a:r>
              <a:rPr lang="es-ES"/>
              <a:t> del color.</a:t>
            </a:r>
            <a:endParaRPr/>
          </a:p>
          <a:p>
            <a:pPr indent="0" lvl="0" marL="0" rtl="0" algn="l">
              <a:spcBef>
                <a:spcPts val="100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27ce0ca996c_0_20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Tenemos ARGB y RGBA</a:t>
            </a:r>
            <a:endParaRPr/>
          </a:p>
        </p:txBody>
      </p:sp>
      <p:sp>
        <p:nvSpPr>
          <p:cNvPr id="590" name="Google Shape;590;g27ce0ca996c_0_20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Son la misma forma de definir colores, solo que en RGBA el canal alpha se especifica al final. En la web se utiliza RGBA y en Android Studio utilizamos ARGB</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27ce0ca996c_0_2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Imágenes</a:t>
            </a:r>
            <a:endParaRPr/>
          </a:p>
        </p:txBody>
      </p:sp>
      <p:sp>
        <p:nvSpPr>
          <p:cNvPr id="596" name="Google Shape;596;g27ce0ca996c_0_2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g27ce0ca996c_0_2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Imagen Mapa de Bits</a:t>
            </a:r>
            <a:endParaRPr/>
          </a:p>
        </p:txBody>
      </p:sp>
      <p:sp>
        <p:nvSpPr>
          <p:cNvPr id="602" name="Google Shape;602;g27ce0ca996c_0_22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s-ES"/>
              <a:t>Las imágenes mapa de bits se almacenan como una matriz de ternas, donde cada terna especifica un color.</a:t>
            </a:r>
            <a:endParaRPr/>
          </a:p>
          <a:p>
            <a:pPr indent="-342900" lvl="0" marL="457200" rtl="0" algn="l">
              <a:spcBef>
                <a:spcPts val="1000"/>
              </a:spcBef>
              <a:spcAft>
                <a:spcPts val="0"/>
              </a:spcAft>
              <a:buSzPts val="1800"/>
              <a:buChar char="●"/>
            </a:pPr>
            <a:r>
              <a:rPr lang="es-ES"/>
              <a:t>Cada pixel en la imagen tiene un valor de color específico, lo que las hace ideales para fotografías y gráficos complejos.</a:t>
            </a:r>
            <a:endParaRPr/>
          </a:p>
          <a:p>
            <a:pPr indent="-342900" lvl="0" marL="457200" rtl="0" algn="l">
              <a:spcBef>
                <a:spcPts val="1000"/>
              </a:spcBef>
              <a:spcAft>
                <a:spcPts val="0"/>
              </a:spcAft>
              <a:buSzPts val="1800"/>
              <a:buChar char="●"/>
            </a:pPr>
            <a:r>
              <a:rPr lang="es-ES"/>
              <a:t>Ejemplo: Formatos de archivo como JPEG y PNG suelen ser imágenes mapa de bits.</a:t>
            </a:r>
            <a:endParaRPr/>
          </a:p>
          <a:p>
            <a:pPr indent="0" lvl="0" marL="0" rtl="0" algn="l">
              <a:spcBef>
                <a:spcPts val="1000"/>
              </a:spcBef>
              <a:spcAft>
                <a:spcPts val="0"/>
              </a:spcAft>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27ce0ca996c_0_2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Imagen Vectorial</a:t>
            </a:r>
            <a:endParaRPr/>
          </a:p>
        </p:txBody>
      </p:sp>
      <p:sp>
        <p:nvSpPr>
          <p:cNvPr id="608" name="Google Shape;608;g27ce0ca996c_0_23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s-ES"/>
              <a:t>Las imágenes vectoriales se especifican como un conjunto de puntos en el plano cartesiano, conectados por líneas y curvas.</a:t>
            </a:r>
            <a:endParaRPr/>
          </a:p>
          <a:p>
            <a:pPr indent="-342900" lvl="0" marL="457200" rtl="0" algn="l">
              <a:spcBef>
                <a:spcPts val="1000"/>
              </a:spcBef>
              <a:spcAft>
                <a:spcPts val="0"/>
              </a:spcAft>
              <a:buSzPts val="1800"/>
              <a:buChar char="●"/>
            </a:pPr>
            <a:r>
              <a:rPr lang="es-ES"/>
              <a:t>Son ideales para gráficos simples, logotipos y diseños que necesitan escalarse sin perder calidad.</a:t>
            </a:r>
            <a:endParaRPr/>
          </a:p>
          <a:p>
            <a:pPr indent="-342900" lvl="0" marL="457200" rtl="0" algn="l">
              <a:spcBef>
                <a:spcPts val="1000"/>
              </a:spcBef>
              <a:spcAft>
                <a:spcPts val="0"/>
              </a:spcAft>
              <a:buSzPts val="1800"/>
              <a:buChar char="●"/>
            </a:pPr>
            <a:r>
              <a:rPr lang="es-ES"/>
              <a:t>Ejemplo: Formatos de archivo como SVG (Scalable Vector Graphics) son imágenes vectoriales.</a:t>
            </a:r>
            <a:endParaRPr/>
          </a:p>
          <a:p>
            <a:pPr indent="0" lvl="0" marL="0" rtl="0" algn="l">
              <a:spcBef>
                <a:spcPts val="1000"/>
              </a:spcBef>
              <a:spcAft>
                <a:spcPts val="0"/>
              </a:spcAft>
              <a:buNone/>
            </a:pPr>
            <a:r>
              <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27ce0ca996c_0_2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Mapa de bits</a:t>
            </a:r>
            <a:endParaRPr/>
          </a:p>
        </p:txBody>
      </p:sp>
      <p:pic>
        <p:nvPicPr>
          <p:cNvPr id="614" name="Google Shape;614;g27ce0ca996c_0_227"/>
          <p:cNvPicPr preferRelativeResize="0"/>
          <p:nvPr/>
        </p:nvPicPr>
        <p:blipFill>
          <a:blip r:embed="rId3">
            <a:alphaModFix/>
          </a:blip>
          <a:stretch>
            <a:fillRect/>
          </a:stretch>
        </p:blipFill>
        <p:spPr>
          <a:xfrm>
            <a:off x="758075" y="2206324"/>
            <a:ext cx="10515600" cy="311272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27ce0ca996c_0_2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Vectoriales</a:t>
            </a:r>
            <a:endParaRPr/>
          </a:p>
        </p:txBody>
      </p:sp>
      <p:pic>
        <p:nvPicPr>
          <p:cNvPr id="620" name="Google Shape;620;g27ce0ca996c_0_233"/>
          <p:cNvPicPr preferRelativeResize="0"/>
          <p:nvPr/>
        </p:nvPicPr>
        <p:blipFill>
          <a:blip r:embed="rId3">
            <a:alphaModFix/>
          </a:blip>
          <a:stretch>
            <a:fillRect/>
          </a:stretch>
        </p:blipFill>
        <p:spPr>
          <a:xfrm>
            <a:off x="608250" y="1979600"/>
            <a:ext cx="10515600" cy="3366941"/>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pic>
        <p:nvPicPr>
          <p:cNvPr id="625" name="Google Shape;625;g27ce0ca996c_0_252"/>
          <p:cNvPicPr preferRelativeResize="0"/>
          <p:nvPr/>
        </p:nvPicPr>
        <p:blipFill>
          <a:blip r:embed="rId3">
            <a:alphaModFix/>
          </a:blip>
          <a:stretch>
            <a:fillRect/>
          </a:stretch>
        </p:blipFill>
        <p:spPr>
          <a:xfrm>
            <a:off x="1471613" y="866775"/>
            <a:ext cx="9248775" cy="512445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27ce0ca996c_0_25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Mapa de bits en Android Studio</a:t>
            </a:r>
            <a:endParaRPr/>
          </a:p>
        </p:txBody>
      </p:sp>
      <p:sp>
        <p:nvSpPr>
          <p:cNvPr id="631" name="Google Shape;631;g27ce0ca996c_0_258"/>
          <p:cNvSpPr txBox="1"/>
          <p:nvPr>
            <p:ph idx="1" type="body"/>
          </p:nvPr>
        </p:nvSpPr>
        <p:spPr>
          <a:xfrm>
            <a:off x="838200" y="1825625"/>
            <a:ext cx="46287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•Las imágenes mapa de bits soportadas por Android Studio son: BMP, JPEG, PNG, GIF, WebPy HEIF</a:t>
            </a:r>
            <a:endParaRPr/>
          </a:p>
          <a:p>
            <a:pPr indent="0" lvl="0" marL="0" rtl="0" algn="l">
              <a:spcBef>
                <a:spcPts val="1000"/>
              </a:spcBef>
              <a:spcAft>
                <a:spcPts val="0"/>
              </a:spcAft>
              <a:buClr>
                <a:schemeClr val="dk1"/>
              </a:buClr>
              <a:buSzPts val="1100"/>
              <a:buFont typeface="Arial"/>
              <a:buNone/>
            </a:pPr>
            <a:r>
              <a:rPr lang="es-ES"/>
              <a:t>•Puedes agregar imágenes desde la pestaña ResourceManager &gt; drawable:</a:t>
            </a:r>
            <a:endParaRPr/>
          </a:p>
          <a:p>
            <a:pPr indent="0" lvl="0" marL="0" rtl="0" algn="l">
              <a:spcBef>
                <a:spcPts val="1000"/>
              </a:spcBef>
              <a:spcAft>
                <a:spcPts val="0"/>
              </a:spcAft>
              <a:buNone/>
            </a:pPr>
            <a:r>
              <a:t/>
            </a:r>
            <a:endParaRPr/>
          </a:p>
        </p:txBody>
      </p:sp>
      <p:pic>
        <p:nvPicPr>
          <p:cNvPr id="632" name="Google Shape;632;g27ce0ca996c_0_258"/>
          <p:cNvPicPr preferRelativeResize="0"/>
          <p:nvPr/>
        </p:nvPicPr>
        <p:blipFill>
          <a:blip r:embed="rId3">
            <a:alphaModFix/>
          </a:blip>
          <a:stretch>
            <a:fillRect/>
          </a:stretch>
        </p:blipFill>
        <p:spPr>
          <a:xfrm>
            <a:off x="6280625" y="1690825"/>
            <a:ext cx="5009700" cy="4501918"/>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27ce0ca996c_0_265"/>
          <p:cNvSpPr txBox="1"/>
          <p:nvPr>
            <p:ph type="title"/>
          </p:nvPr>
        </p:nvSpPr>
        <p:spPr>
          <a:xfrm>
            <a:off x="660600" y="16240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Mapa vectorial</a:t>
            </a:r>
            <a:r>
              <a:rPr lang="es-ES"/>
              <a:t> en Android Studio</a:t>
            </a:r>
            <a:endParaRPr/>
          </a:p>
        </p:txBody>
      </p:sp>
      <p:pic>
        <p:nvPicPr>
          <p:cNvPr id="638" name="Google Shape;638;g27ce0ca996c_0_265"/>
          <p:cNvPicPr preferRelativeResize="0"/>
          <p:nvPr/>
        </p:nvPicPr>
        <p:blipFill>
          <a:blip r:embed="rId3">
            <a:alphaModFix/>
          </a:blip>
          <a:stretch>
            <a:fillRect/>
          </a:stretch>
        </p:blipFill>
        <p:spPr>
          <a:xfrm>
            <a:off x="1467675" y="1391550"/>
            <a:ext cx="8231551" cy="508215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27ce0ca996c_0_27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Fórmula</a:t>
            </a:r>
            <a:r>
              <a:rPr lang="es-ES"/>
              <a:t> </a:t>
            </a:r>
            <a:r>
              <a:rPr lang="es-ES"/>
              <a:t>relación</a:t>
            </a:r>
            <a:r>
              <a:rPr lang="es-ES"/>
              <a:t> de </a:t>
            </a:r>
            <a:r>
              <a:rPr lang="es-ES"/>
              <a:t>aspecto</a:t>
            </a:r>
            <a:endParaRPr/>
          </a:p>
        </p:txBody>
      </p:sp>
      <p:sp>
        <p:nvSpPr>
          <p:cNvPr id="644" name="Google Shape;644;g27ce0ca996c_0_27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Relación de Aspecto = Altura / Anchura</a:t>
            </a:r>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a:p>
            <a:pPr indent="0" lvl="0" marL="0" rtl="0" algn="l">
              <a:spcBef>
                <a:spcPts val="1000"/>
              </a:spcBef>
              <a:spcAft>
                <a:spcPts val="0"/>
              </a:spcAft>
              <a:buClr>
                <a:schemeClr val="dk1"/>
              </a:buClr>
              <a:buSzPts val="1100"/>
              <a:buFont typeface="Arial"/>
              <a:buNone/>
            </a:pPr>
            <a:r>
              <a:rPr b="1" lang="es-ES"/>
              <a:t>Ejemplo</a:t>
            </a:r>
            <a:r>
              <a:rPr lang="es-ES"/>
              <a:t>: Supongamos que tienes una imagen con una anchura de 800 píxeles y una altura de 600 píxeles.</a:t>
            </a:r>
            <a:endParaRPr/>
          </a:p>
          <a:p>
            <a:pPr indent="0" lvl="0" marL="0" rtl="0" algn="l">
              <a:spcBef>
                <a:spcPts val="1000"/>
              </a:spcBef>
              <a:spcAft>
                <a:spcPts val="0"/>
              </a:spcAft>
              <a:buClr>
                <a:schemeClr val="dk1"/>
              </a:buClr>
              <a:buSzPts val="1100"/>
              <a:buFont typeface="Arial"/>
              <a:buNone/>
            </a:pPr>
            <a:r>
              <a:rPr lang="es-ES"/>
              <a:t>Relación de Aspecto = 600 / 800 = 0.75 = 75/100 = 3/4</a:t>
            </a:r>
            <a:endParaRPr/>
          </a:p>
          <a:p>
            <a:pPr indent="0" lvl="0" marL="0" rtl="0" algn="l">
              <a:spcBef>
                <a:spcPts val="1000"/>
              </a:spcBef>
              <a:spcAft>
                <a:spcPts val="0"/>
              </a:spcAft>
              <a:buClr>
                <a:schemeClr val="dk1"/>
              </a:buClr>
              <a:buSzPts val="1100"/>
              <a:buFont typeface="Arial"/>
              <a:buNone/>
            </a:pPr>
            <a:r>
              <a:rPr lang="es-ES"/>
              <a:t>Esta relación de aspecto se puede expresar como 3:4 al simplificar.</a:t>
            </a:r>
            <a:endParaRPr sz="1200">
              <a:solidFill>
                <a:srgbClr val="D1D5DB"/>
              </a:solidFill>
              <a:highlight>
                <a:srgbClr val="444654"/>
              </a:highlight>
              <a:latin typeface="Roboto"/>
              <a:ea typeface="Roboto"/>
              <a:cs typeface="Roboto"/>
              <a:sym typeface="Roboto"/>
            </a:endParaRPr>
          </a:p>
          <a:p>
            <a:pPr indent="0" lvl="0" marL="0" rtl="0" algn="l">
              <a:spcBef>
                <a:spcPts val="1000"/>
              </a:spcBef>
              <a:spcAft>
                <a:spcPts val="0"/>
              </a:spcAft>
              <a:buNone/>
            </a:pPr>
            <a:r>
              <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g27ce0ca996c_0_27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Ejercicios</a:t>
            </a:r>
            <a:endParaRPr/>
          </a:p>
        </p:txBody>
      </p:sp>
      <p:sp>
        <p:nvSpPr>
          <p:cNvPr id="650" name="Google Shape;650;g27ce0ca996c_0_27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•¿Una imagen de 1920x1080px es más alta que ancha?</a:t>
            </a:r>
            <a:endParaRPr/>
          </a:p>
          <a:p>
            <a:pPr indent="0" lvl="0" marL="0" rtl="0" algn="l">
              <a:spcBef>
                <a:spcPts val="1000"/>
              </a:spcBef>
              <a:spcAft>
                <a:spcPts val="0"/>
              </a:spcAft>
              <a:buClr>
                <a:schemeClr val="dk1"/>
              </a:buClr>
              <a:buSzPts val="1100"/>
              <a:buFont typeface="Arial"/>
              <a:buNone/>
            </a:pPr>
            <a:r>
              <a:rPr lang="es-ES"/>
              <a:t>•¿Qué relación de aspecto tiene una imagen de 1920x1080px?</a:t>
            </a:r>
            <a:endParaRPr/>
          </a:p>
          <a:p>
            <a:pPr indent="0" lvl="0" marL="0" rtl="0" algn="l">
              <a:spcBef>
                <a:spcPts val="1000"/>
              </a:spcBef>
              <a:spcAft>
                <a:spcPts val="0"/>
              </a:spcAft>
              <a:buClr>
                <a:schemeClr val="dk1"/>
              </a:buClr>
              <a:buSzPts val="1100"/>
              <a:buFont typeface="Arial"/>
              <a:buNone/>
            </a:pPr>
            <a:r>
              <a:rPr lang="es-ES"/>
              <a:t>•¿Una imagen de 300x300px se puede redimensionar a 200x200? ¿100x100? ¿150x150? ¿500x500? ¿250x200?</a:t>
            </a:r>
            <a:endParaRPr/>
          </a:p>
          <a:p>
            <a:pPr indent="0" lvl="0" marL="0" rtl="0" algn="l">
              <a:spcBef>
                <a:spcPts val="1000"/>
              </a:spcBef>
              <a:spcAft>
                <a:spcPts val="0"/>
              </a:spcAft>
              <a:buClr>
                <a:schemeClr val="dk1"/>
              </a:buClr>
              <a:buSzPts val="1100"/>
              <a:buFont typeface="Arial"/>
              <a:buNone/>
            </a:pPr>
            <a:r>
              <a:rPr lang="es-ES"/>
              <a:t>•¿Una imagen de 600x900 se puede redimensionar a 400x600?</a:t>
            </a:r>
            <a:endParaRPr/>
          </a:p>
          <a:p>
            <a:pPr indent="0" lvl="0" marL="0" rtl="0" algn="l">
              <a:spcBef>
                <a:spcPts val="1000"/>
              </a:spcBef>
              <a:spcAft>
                <a:spcPts val="0"/>
              </a:spcAft>
              <a:buClr>
                <a:schemeClr val="dk1"/>
              </a:buClr>
              <a:buSzPts val="1100"/>
              <a:buFont typeface="Arial"/>
              <a:buNone/>
            </a:pPr>
            <a:r>
              <a:rPr lang="es-ES"/>
              <a:t>•Una imagen tiene una relación de aspecto 4:3 y su anchura es de 200px ¿Cuál es su altura?</a:t>
            </a:r>
            <a:endParaRPr/>
          </a:p>
          <a:p>
            <a:pPr indent="0" lvl="0" marL="0" rtl="0" algn="l">
              <a:spcBef>
                <a:spcPts val="1000"/>
              </a:spcBef>
              <a:spcAft>
                <a:spcPts val="0"/>
              </a:spcAft>
              <a:buNone/>
            </a:pPr>
            <a:r>
              <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27ce0ca996c_0_28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b="1" lang="es-ES" sz="2800"/>
              <a:t>¿Una imagen de 1920x1080px es más alta que ancha?</a:t>
            </a:r>
            <a:endParaRPr b="1"/>
          </a:p>
        </p:txBody>
      </p:sp>
      <p:sp>
        <p:nvSpPr>
          <p:cNvPr id="656" name="Google Shape;656;g27ce0ca996c_0_28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342900" lvl="0" marL="457200" rtl="0" algn="l">
              <a:spcBef>
                <a:spcPts val="1000"/>
              </a:spcBef>
              <a:spcAft>
                <a:spcPts val="0"/>
              </a:spcAft>
              <a:buSzPts val="1800"/>
              <a:buChar char="●"/>
            </a:pPr>
            <a:r>
              <a:rPr lang="es-ES"/>
              <a:t>Para determinar si una imagen es más alta que ancha, comparamos las dimensiones. En este caso, 1920 píxeles de ancho y 1080 píxeles de alto.</a:t>
            </a:r>
            <a:endParaRPr/>
          </a:p>
          <a:p>
            <a:pPr indent="-342900" lvl="0" marL="457200" rtl="0" algn="l">
              <a:spcBef>
                <a:spcPts val="1000"/>
              </a:spcBef>
              <a:spcAft>
                <a:spcPts val="0"/>
              </a:spcAft>
              <a:buSzPts val="1800"/>
              <a:buChar char="●"/>
            </a:pPr>
            <a:r>
              <a:rPr lang="es-ES"/>
              <a:t>Cómo</a:t>
            </a:r>
            <a:r>
              <a:rPr lang="es-ES"/>
              <a:t> 1080 es mayor que 1920, la imagen es más alta que ancha.</a:t>
            </a:r>
            <a:endParaRPr/>
          </a:p>
          <a:p>
            <a:pPr indent="0" lvl="0" marL="0" rtl="0" algn="l">
              <a:spcBef>
                <a:spcPts val="1000"/>
              </a:spcBef>
              <a:spcAft>
                <a:spcPts val="0"/>
              </a:spcAft>
              <a:buNone/>
            </a:pPr>
            <a:r>
              <a:t/>
            </a:r>
            <a:endParaRPr b="1"/>
          </a:p>
          <a:p>
            <a:pPr indent="0" lvl="0" marL="0" rtl="0" algn="l">
              <a:spcBef>
                <a:spcPts val="1000"/>
              </a:spcBef>
              <a:spcAft>
                <a:spcPts val="0"/>
              </a:spcAft>
              <a:buNone/>
            </a:pPr>
            <a:r>
              <a:rPr b="1" lang="es-ES"/>
              <a:t>¿Qué relación de aspecto tiene una imagen de 1920x1080px?</a:t>
            </a:r>
            <a:endParaRPr b="1"/>
          </a:p>
          <a:p>
            <a:pPr indent="0" lvl="0" marL="0" rtl="0" algn="l">
              <a:spcBef>
                <a:spcPts val="1000"/>
              </a:spcBef>
              <a:spcAft>
                <a:spcPts val="0"/>
              </a:spcAft>
              <a:buNone/>
            </a:pPr>
            <a:r>
              <a:t/>
            </a:r>
            <a:endParaRPr/>
          </a:p>
          <a:p>
            <a:pPr indent="-342900" lvl="0" marL="457200" rtl="0" algn="l">
              <a:spcBef>
                <a:spcPts val="1000"/>
              </a:spcBef>
              <a:spcAft>
                <a:spcPts val="0"/>
              </a:spcAft>
              <a:buSzPts val="1800"/>
              <a:buChar char="●"/>
            </a:pPr>
            <a:r>
              <a:rPr lang="es-ES"/>
              <a:t>La relación de aspecto se calcula dividiendo la altura entre el ancho. En este caso, 1080 ÷ 1920 = 0.5625.</a:t>
            </a:r>
            <a:endParaRPr/>
          </a:p>
          <a:p>
            <a:pPr indent="-342900" lvl="0" marL="457200" rtl="0" algn="l">
              <a:spcBef>
                <a:spcPts val="1000"/>
              </a:spcBef>
              <a:spcAft>
                <a:spcPts val="0"/>
              </a:spcAft>
              <a:buSzPts val="1800"/>
              <a:buChar char="●"/>
            </a:pPr>
            <a:r>
              <a:rPr lang="es-ES"/>
              <a:t>La relación de aspecto es 16:9.</a:t>
            </a:r>
            <a:endParaRPr/>
          </a:p>
          <a:p>
            <a:pPr indent="0" lvl="0" marL="0" rtl="0" algn="l">
              <a:spcBef>
                <a:spcPts val="1000"/>
              </a:spcBef>
              <a:spcAft>
                <a:spcPts val="0"/>
              </a:spcAft>
              <a:buNone/>
            </a:pPr>
            <a:r>
              <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27ce0ca996c_0_29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None/>
            </a:pPr>
            <a:r>
              <a:rPr b="1" lang="es-ES" sz="2800"/>
              <a:t>¿Una imagen de 300x300px se puede redimensionar a 200x200? ¿100x100? ¿150x150? ¿500x500? ¿250x200?</a:t>
            </a:r>
            <a:endParaRPr b="1"/>
          </a:p>
        </p:txBody>
      </p:sp>
      <p:sp>
        <p:nvSpPr>
          <p:cNvPr id="662" name="Google Shape;662;g27ce0ca996c_0_29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334327" lvl="0" marL="457200" rtl="0" algn="l">
              <a:spcBef>
                <a:spcPts val="1000"/>
              </a:spcBef>
              <a:spcAft>
                <a:spcPts val="0"/>
              </a:spcAft>
              <a:buSzPct val="64285"/>
              <a:buChar char="●"/>
            </a:pPr>
            <a:r>
              <a:rPr lang="es-ES"/>
              <a:t>Una imagen de 300x300 se puede redimensionar a cualquier tamaño que mantenga la misma relación de aspecto (3:3 o 1:1).</a:t>
            </a:r>
            <a:endParaRPr/>
          </a:p>
          <a:p>
            <a:pPr indent="-334327" lvl="0" marL="457200" rtl="0" algn="l">
              <a:spcBef>
                <a:spcPts val="1000"/>
              </a:spcBef>
              <a:spcAft>
                <a:spcPts val="0"/>
              </a:spcAft>
              <a:buSzPct val="64285"/>
              <a:buChar char="●"/>
            </a:pPr>
            <a:r>
              <a:rPr lang="es-ES"/>
              <a:t>Se puede redimensionar a 200x200, 100x100, 150x150, 500x500, y </a:t>
            </a:r>
            <a:r>
              <a:rPr lang="es-ES"/>
              <a:t>250x250</a:t>
            </a:r>
            <a:r>
              <a:rPr lang="es-ES"/>
              <a:t> manteniendo la relación de aspecto.</a:t>
            </a:r>
            <a:endParaRPr/>
          </a:p>
          <a:p>
            <a:pPr indent="0" lvl="0" marL="0" rtl="0" algn="l">
              <a:spcBef>
                <a:spcPts val="1000"/>
              </a:spcBef>
              <a:spcAft>
                <a:spcPts val="0"/>
              </a:spcAft>
              <a:buNone/>
            </a:pPr>
            <a:r>
              <a:t/>
            </a:r>
            <a:endParaRPr b="1"/>
          </a:p>
          <a:p>
            <a:pPr indent="0" lvl="0" marL="0" rtl="0" algn="l">
              <a:spcBef>
                <a:spcPts val="1000"/>
              </a:spcBef>
              <a:spcAft>
                <a:spcPts val="0"/>
              </a:spcAft>
              <a:buNone/>
            </a:pPr>
            <a:r>
              <a:rPr b="1" lang="es-ES"/>
              <a:t>¿Una imagen de 600x900 se puede redimensionar a 400x600?</a:t>
            </a:r>
            <a:endParaRPr b="1"/>
          </a:p>
          <a:p>
            <a:pPr indent="0" lvl="0" marL="0" rtl="0" algn="l">
              <a:spcBef>
                <a:spcPts val="1000"/>
              </a:spcBef>
              <a:spcAft>
                <a:spcPts val="0"/>
              </a:spcAft>
              <a:buNone/>
            </a:pPr>
            <a:r>
              <a:t/>
            </a:r>
            <a:endParaRPr b="1"/>
          </a:p>
          <a:p>
            <a:pPr indent="-334327" lvl="0" marL="457200" rtl="0" algn="l">
              <a:spcBef>
                <a:spcPts val="1000"/>
              </a:spcBef>
              <a:spcAft>
                <a:spcPts val="0"/>
              </a:spcAft>
              <a:buSzPct val="64285"/>
              <a:buChar char="●"/>
            </a:pPr>
            <a:r>
              <a:rPr lang="es-ES"/>
              <a:t>Las dimensiones 400x600 y 600x900 tienen la misma relación de aspecto, que es 2:3, ya que ambos cocientes son iguales a 1.5.</a:t>
            </a:r>
            <a:endParaRPr/>
          </a:p>
          <a:p>
            <a:pPr indent="-334327" lvl="0" marL="457200" rtl="0" algn="l">
              <a:spcBef>
                <a:spcPts val="1000"/>
              </a:spcBef>
              <a:spcAft>
                <a:spcPts val="0"/>
              </a:spcAft>
              <a:buSzPct val="64285"/>
              <a:buChar char="●"/>
            </a:pPr>
            <a:r>
              <a:rPr lang="es-ES"/>
              <a:t> Por lo tanto, puedes redimensionar una imagen de 600x900 a 400x600 manteniendo la misma relación de aspecto sin distorsionarla.</a:t>
            </a:r>
            <a:endParaRPr/>
          </a:p>
          <a:p>
            <a:pPr indent="0" lvl="0" marL="0" rtl="0" algn="l">
              <a:spcBef>
                <a:spcPts val="1000"/>
              </a:spcBef>
              <a:spcAft>
                <a:spcPts val="0"/>
              </a:spcAft>
              <a:buClr>
                <a:schemeClr val="dk1"/>
              </a:buClr>
              <a:buSzPct val="39285"/>
              <a:buFont typeface="Arial"/>
              <a:buNone/>
            </a:pPr>
            <a:r>
              <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g27ce0ca996c_0_30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None/>
            </a:pPr>
            <a:r>
              <a:rPr lang="es-ES" sz="2800"/>
              <a:t>Una imagen tiene una relación de aspecto 4:3 y su anchura es de 200px ¿Cuál es su altura?</a:t>
            </a:r>
            <a:endParaRPr/>
          </a:p>
        </p:txBody>
      </p:sp>
      <p:sp>
        <p:nvSpPr>
          <p:cNvPr id="668" name="Google Shape;668;g27ce0ca996c_0_30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s-ES"/>
              <a:t>Dado que la relación de aspecto es 4:3 y conocemos la anchura (200px), podemos calcular la altura dividiendo la anchura por la proporción de la relación de aspecto.</a:t>
            </a:r>
            <a:endParaRPr/>
          </a:p>
          <a:p>
            <a:pPr indent="-342900" lvl="0" marL="457200" rtl="0" algn="l">
              <a:spcBef>
                <a:spcPts val="1000"/>
              </a:spcBef>
              <a:spcAft>
                <a:spcPts val="0"/>
              </a:spcAft>
              <a:buSzPts val="1800"/>
              <a:buChar char="●"/>
            </a:pPr>
            <a:r>
              <a:rPr lang="es-ES"/>
              <a:t>Altura = (Anchura / 4) * 3 = (200 / 4) * 3 = 50 * 3 = 150px.</a:t>
            </a:r>
            <a:endParaRPr/>
          </a:p>
          <a:p>
            <a:pPr indent="-342900" lvl="0" marL="457200" rtl="0" algn="l">
              <a:spcBef>
                <a:spcPts val="1000"/>
              </a:spcBef>
              <a:spcAft>
                <a:spcPts val="0"/>
              </a:spcAft>
              <a:buSzPts val="1800"/>
              <a:buChar char="●"/>
            </a:pPr>
            <a:r>
              <a:rPr lang="es-ES"/>
              <a:t>La altura es de 150 píxeles.</a:t>
            </a:r>
            <a:endParaRPr sz="1200">
              <a:solidFill>
                <a:srgbClr val="D1D5DB"/>
              </a:solidFill>
              <a:highlight>
                <a:srgbClr val="444654"/>
              </a:highlight>
              <a:latin typeface="Roboto"/>
              <a:ea typeface="Roboto"/>
              <a:cs typeface="Roboto"/>
              <a:sym typeface="Roboto"/>
            </a:endParaRPr>
          </a:p>
          <a:p>
            <a:pPr indent="0" lvl="0" marL="0" rtl="0" algn="l">
              <a:spcBef>
                <a:spcPts val="1000"/>
              </a:spcBef>
              <a:spcAft>
                <a:spcPts val="0"/>
              </a:spcAft>
              <a:buNone/>
            </a:pPr>
            <a:r>
              <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27d2204a555_0_1"/>
          <p:cNvSpPr txBox="1"/>
          <p:nvPr>
            <p:ph type="title"/>
          </p:nvPr>
        </p:nvSpPr>
        <p:spPr>
          <a:xfrm>
            <a:off x="838200" y="365125"/>
            <a:ext cx="6656700" cy="825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Imágenes en Android Studio</a:t>
            </a:r>
            <a:endParaRPr/>
          </a:p>
        </p:txBody>
      </p:sp>
      <p:sp>
        <p:nvSpPr>
          <p:cNvPr id="674" name="Google Shape;674;g27d2204a555_0_1"/>
          <p:cNvSpPr txBox="1"/>
          <p:nvPr>
            <p:ph idx="1" type="body"/>
          </p:nvPr>
        </p:nvSpPr>
        <p:spPr>
          <a:xfrm>
            <a:off x="806025" y="1516825"/>
            <a:ext cx="10515600" cy="3932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Para proporcionar gráficos de buena calidad en dispositivos con diferentes densidades de píxeles, debes brindar varias versiones de cada mapa de bits en tu app (una para cada intervalo de densidad) en la resolución correspondiente.</a:t>
            </a:r>
            <a:endParaRPr/>
          </a:p>
          <a:p>
            <a:pPr indent="0" lvl="0" marL="0" rtl="0" algn="l">
              <a:spcBef>
                <a:spcPts val="1000"/>
              </a:spcBef>
              <a:spcAft>
                <a:spcPts val="0"/>
              </a:spcAft>
              <a:buNone/>
            </a:pPr>
            <a:r>
              <a:rPr lang="es-ES"/>
              <a:t>De lo contrario, Android deberá escalar tu mapa de bits para que ocupe el mismo espacio visible en cada pantalla, lo que generará artefactos de escalamiento como imágenes borrosas.</a:t>
            </a:r>
            <a:endParaRPr/>
          </a:p>
        </p:txBody>
      </p:sp>
      <p:pic>
        <p:nvPicPr>
          <p:cNvPr id="675" name="Google Shape;675;g27d2204a555_0_1"/>
          <p:cNvPicPr preferRelativeResize="0"/>
          <p:nvPr/>
        </p:nvPicPr>
        <p:blipFill>
          <a:blip r:embed="rId3">
            <a:alphaModFix/>
          </a:blip>
          <a:stretch>
            <a:fillRect/>
          </a:stretch>
        </p:blipFill>
        <p:spPr>
          <a:xfrm>
            <a:off x="3553250" y="4584688"/>
            <a:ext cx="4171950" cy="157162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pic>
        <p:nvPicPr>
          <p:cNvPr id="680" name="Google Shape;680;g27d2204a555_0_10"/>
          <p:cNvPicPr preferRelativeResize="0"/>
          <p:nvPr/>
        </p:nvPicPr>
        <p:blipFill>
          <a:blip r:embed="rId3">
            <a:alphaModFix/>
          </a:blip>
          <a:stretch>
            <a:fillRect/>
          </a:stretch>
        </p:blipFill>
        <p:spPr>
          <a:xfrm>
            <a:off x="494150" y="701850"/>
            <a:ext cx="11269675" cy="4258275"/>
          </a:xfrm>
          <a:prstGeom prst="rect">
            <a:avLst/>
          </a:prstGeom>
          <a:noFill/>
          <a:ln>
            <a:noFill/>
          </a:ln>
        </p:spPr>
      </p:pic>
      <p:sp>
        <p:nvSpPr>
          <p:cNvPr id="681" name="Google Shape;681;g27d2204a555_0_10"/>
          <p:cNvSpPr txBox="1"/>
          <p:nvPr/>
        </p:nvSpPr>
        <p:spPr>
          <a:xfrm>
            <a:off x="823475" y="5262525"/>
            <a:ext cx="10042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ES"/>
              <a:t>Debes seguir la proporción de escalamiento </a:t>
            </a:r>
            <a:r>
              <a:rPr b="1" lang="es-ES"/>
              <a:t>3:4:6:8:12:16</a:t>
            </a:r>
            <a:r>
              <a:rPr lang="es-ES"/>
              <a:t> (0.75, 1, 1.5, 2, 3, 4) entre las seis densidades principales</a:t>
            </a:r>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g27d2204a555_0_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sz="2800"/>
              <a:t>Ejercicio </a:t>
            </a:r>
            <a:endParaRPr/>
          </a:p>
        </p:txBody>
      </p:sp>
      <p:sp>
        <p:nvSpPr>
          <p:cNvPr id="687" name="Google Shape;687;g27d2204a555_0_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342900" lvl="0" marL="457200" rtl="0" algn="l">
              <a:spcBef>
                <a:spcPts val="1000"/>
              </a:spcBef>
              <a:spcAft>
                <a:spcPts val="0"/>
              </a:spcAft>
              <a:buSzPts val="1800"/>
              <a:buChar char="●"/>
            </a:pPr>
            <a:r>
              <a:rPr lang="es-ES"/>
              <a:t>1 - </a:t>
            </a:r>
            <a:r>
              <a:rPr lang="es-ES"/>
              <a:t>Imagina que tienes una imagen de 48x48px que queda bien en dispositivos mdpi ¿Cuál deberá ser su tamaños para los dispositivos ldpi, hdpi, xhdpi, xxhdpi y xxxhdpi? </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s-ES"/>
              <a:t> 2 - </a:t>
            </a:r>
            <a:r>
              <a:rPr lang="es-ES"/>
              <a:t>Imagina que tienes una imagen de 36x28 px que queda bien en dispositivos ldpi ¿Cuál deberá ser su tamaños para los dispositivos mdpi, hdpi, xhdpi, xxhdpi y xxxhdpi? </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s-ES"/>
              <a:t>3 - Imagina que tienes una imagen de 150x125 px que queda bien en dispositivos xxxhdpi ¿Cuál deberá ser su tamaños para los dispositivos ldpi, mdpi, hdpi, xhdpi y xxhdpi?</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g27d2204a555_0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1</a:t>
            </a:r>
            <a:endParaRPr/>
          </a:p>
        </p:txBody>
      </p:sp>
      <p:sp>
        <p:nvSpPr>
          <p:cNvPr id="693" name="Google Shape;693;g27d2204a555_0_2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342900" lvl="0" marL="457200" rtl="0" algn="l">
              <a:lnSpc>
                <a:spcPct val="150000"/>
              </a:lnSpc>
              <a:spcBef>
                <a:spcPts val="1000"/>
              </a:spcBef>
              <a:spcAft>
                <a:spcPts val="0"/>
              </a:spcAft>
              <a:buSzPts val="1800"/>
              <a:buChar char="•"/>
            </a:pPr>
            <a:r>
              <a:rPr lang="es-ES"/>
              <a:t>ldpi (densidad baja): 36x36 px (48 px * 0.75)</a:t>
            </a:r>
            <a:endParaRPr/>
          </a:p>
          <a:p>
            <a:pPr indent="-342900" lvl="0" marL="457200" rtl="0" algn="l">
              <a:lnSpc>
                <a:spcPct val="150000"/>
              </a:lnSpc>
              <a:spcBef>
                <a:spcPts val="0"/>
              </a:spcBef>
              <a:spcAft>
                <a:spcPts val="0"/>
              </a:spcAft>
              <a:buSzPts val="1800"/>
              <a:buChar char="•"/>
            </a:pPr>
            <a:r>
              <a:rPr lang="es-ES"/>
              <a:t>mdpi (densidad media): 48x48 px (base)</a:t>
            </a:r>
            <a:endParaRPr/>
          </a:p>
          <a:p>
            <a:pPr indent="-342900" lvl="0" marL="457200" rtl="0" algn="l">
              <a:lnSpc>
                <a:spcPct val="150000"/>
              </a:lnSpc>
              <a:spcBef>
                <a:spcPts val="0"/>
              </a:spcBef>
              <a:spcAft>
                <a:spcPts val="0"/>
              </a:spcAft>
              <a:buSzPts val="1800"/>
              <a:buChar char="•"/>
            </a:pPr>
            <a:r>
              <a:rPr lang="es-ES"/>
              <a:t>hdpi (densidad alta): 72x72 px (48 px * 1.5)</a:t>
            </a:r>
            <a:endParaRPr/>
          </a:p>
          <a:p>
            <a:pPr indent="-342900" lvl="0" marL="457200" rtl="0" algn="l">
              <a:lnSpc>
                <a:spcPct val="150000"/>
              </a:lnSpc>
              <a:spcBef>
                <a:spcPts val="0"/>
              </a:spcBef>
              <a:spcAft>
                <a:spcPts val="0"/>
              </a:spcAft>
              <a:buSzPts val="1800"/>
              <a:buChar char="•"/>
            </a:pPr>
            <a:r>
              <a:rPr lang="es-ES"/>
              <a:t>xhdpi (densidad extra alta): 96x96 px (48 px * 2)</a:t>
            </a:r>
            <a:endParaRPr/>
          </a:p>
          <a:p>
            <a:pPr indent="-342900" lvl="0" marL="457200" rtl="0" algn="l">
              <a:lnSpc>
                <a:spcPct val="150000"/>
              </a:lnSpc>
              <a:spcBef>
                <a:spcPts val="0"/>
              </a:spcBef>
              <a:spcAft>
                <a:spcPts val="0"/>
              </a:spcAft>
              <a:buSzPts val="1800"/>
              <a:buChar char="•"/>
            </a:pPr>
            <a:r>
              <a:rPr lang="es-ES"/>
              <a:t>xxhdpi (densidad extra extra alta): 144x144 px (48 px * 3)</a:t>
            </a:r>
            <a:endParaRPr/>
          </a:p>
          <a:p>
            <a:pPr indent="-342900" lvl="0" marL="457200" rtl="0" algn="l">
              <a:lnSpc>
                <a:spcPct val="150000"/>
              </a:lnSpc>
              <a:spcBef>
                <a:spcPts val="0"/>
              </a:spcBef>
              <a:spcAft>
                <a:spcPts val="0"/>
              </a:spcAft>
              <a:buSzPts val="1800"/>
              <a:buChar char="•"/>
            </a:pPr>
            <a:r>
              <a:rPr lang="es-ES"/>
              <a:t>xxxhdpi (densidad extra extra extra alta): 192x192 px (48 px * 4)</a:t>
            </a:r>
            <a:endParaRPr sz="1200">
              <a:solidFill>
                <a:srgbClr val="D1D5DB"/>
              </a:solidFill>
              <a:highlight>
                <a:srgbClr val="444654"/>
              </a:highlight>
              <a:latin typeface="Roboto"/>
              <a:ea typeface="Roboto"/>
              <a:cs typeface="Roboto"/>
              <a:sym typeface="Roboto"/>
            </a:endParaRPr>
          </a:p>
          <a:p>
            <a:pPr indent="0" lvl="0" marL="0" rtl="0" algn="l">
              <a:spcBef>
                <a:spcPts val="1000"/>
              </a:spcBef>
              <a:spcAft>
                <a:spcPts val="0"/>
              </a:spcAft>
              <a:buNone/>
            </a:pPr>
            <a:r>
              <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27d2204a555_0_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2</a:t>
            </a:r>
            <a:endParaRPr/>
          </a:p>
        </p:txBody>
      </p:sp>
      <p:sp>
        <p:nvSpPr>
          <p:cNvPr id="699" name="Google Shape;699;g27d2204a555_0_31"/>
          <p:cNvSpPr txBox="1"/>
          <p:nvPr>
            <p:ph idx="1" type="body"/>
          </p:nvPr>
        </p:nvSpPr>
        <p:spPr>
          <a:xfrm>
            <a:off x="514675" y="1825625"/>
            <a:ext cx="11058900" cy="4351200"/>
          </a:xfrm>
          <a:prstGeom prst="rect">
            <a:avLst/>
          </a:prstGeom>
        </p:spPr>
        <p:txBody>
          <a:bodyPr anchorCtr="0" anchor="t" bIns="45700" lIns="91425" spcFirstLastPara="1" rIns="91425" wrap="square" tIns="45700">
            <a:normAutofit/>
          </a:bodyPr>
          <a:lstStyle/>
          <a:p>
            <a:pPr indent="-323850" lvl="0" marL="457200" rtl="0" algn="l">
              <a:lnSpc>
                <a:spcPct val="140000"/>
              </a:lnSpc>
              <a:spcBef>
                <a:spcPts val="1000"/>
              </a:spcBef>
              <a:spcAft>
                <a:spcPts val="0"/>
              </a:spcAft>
              <a:buSzPts val="1500"/>
              <a:buChar char="•"/>
            </a:pPr>
            <a:r>
              <a:rPr lang="es-ES" sz="2500"/>
              <a:t>ldpi (densidad baja): 36x28 px (base)</a:t>
            </a:r>
            <a:endParaRPr sz="2500"/>
          </a:p>
          <a:p>
            <a:pPr indent="-323850" lvl="0" marL="457200" rtl="0" algn="l">
              <a:lnSpc>
                <a:spcPct val="140000"/>
              </a:lnSpc>
              <a:spcBef>
                <a:spcPts val="0"/>
              </a:spcBef>
              <a:spcAft>
                <a:spcPts val="0"/>
              </a:spcAft>
              <a:buSzPts val="1500"/>
              <a:buChar char="•"/>
            </a:pPr>
            <a:r>
              <a:rPr lang="es-ES" sz="2500"/>
              <a:t>mdpi (densidad media): 48x36 px (36 px * 1.33, 28 px * 1.33)  -&gt; </a:t>
            </a:r>
            <a:r>
              <a:rPr lang="es-ES" sz="2500">
                <a:solidFill>
                  <a:srgbClr val="C00000"/>
                </a:solidFill>
              </a:rPr>
              <a:t>4/3 = 1.33…</a:t>
            </a:r>
            <a:endParaRPr sz="2500">
              <a:solidFill>
                <a:srgbClr val="C00000"/>
              </a:solidFill>
            </a:endParaRPr>
          </a:p>
          <a:p>
            <a:pPr indent="-323850" lvl="0" marL="457200" rtl="0" algn="l">
              <a:lnSpc>
                <a:spcPct val="140000"/>
              </a:lnSpc>
              <a:spcBef>
                <a:spcPts val="0"/>
              </a:spcBef>
              <a:spcAft>
                <a:spcPts val="0"/>
              </a:spcAft>
              <a:buSzPts val="1500"/>
              <a:buChar char="•"/>
            </a:pPr>
            <a:r>
              <a:rPr lang="es-ES" sz="2500"/>
              <a:t>hdpi (densidad alta): 72x54 px (36 px * 2, 28 px * 2) -&gt; </a:t>
            </a:r>
            <a:r>
              <a:rPr lang="es-ES" sz="2500">
                <a:solidFill>
                  <a:srgbClr val="C00000"/>
                </a:solidFill>
              </a:rPr>
              <a:t>6/3 = 2</a:t>
            </a:r>
            <a:endParaRPr sz="2500">
              <a:solidFill>
                <a:srgbClr val="C00000"/>
              </a:solidFill>
            </a:endParaRPr>
          </a:p>
          <a:p>
            <a:pPr indent="-323850" lvl="0" marL="457200" rtl="0" algn="l">
              <a:lnSpc>
                <a:spcPct val="140000"/>
              </a:lnSpc>
              <a:spcBef>
                <a:spcPts val="0"/>
              </a:spcBef>
              <a:spcAft>
                <a:spcPts val="0"/>
              </a:spcAft>
              <a:buSzPts val="1500"/>
              <a:buChar char="•"/>
            </a:pPr>
            <a:r>
              <a:rPr lang="es-ES" sz="2500"/>
              <a:t>xhdpi (densidad extra alta): 96x72 px (36 px * 2.67, 28 px * 2.67) </a:t>
            </a:r>
            <a:r>
              <a:rPr lang="es-ES" sz="2500"/>
              <a:t>-&gt; </a:t>
            </a:r>
            <a:r>
              <a:rPr lang="es-ES" sz="2500">
                <a:solidFill>
                  <a:srgbClr val="C00000"/>
                </a:solidFill>
              </a:rPr>
              <a:t>8/3 = 2.66..</a:t>
            </a:r>
            <a:endParaRPr sz="2500"/>
          </a:p>
          <a:p>
            <a:pPr indent="-323850" lvl="0" marL="457200" rtl="0" algn="l">
              <a:lnSpc>
                <a:spcPct val="140000"/>
              </a:lnSpc>
              <a:spcBef>
                <a:spcPts val="0"/>
              </a:spcBef>
              <a:spcAft>
                <a:spcPts val="0"/>
              </a:spcAft>
              <a:buSzPts val="1500"/>
              <a:buChar char="•"/>
            </a:pPr>
            <a:r>
              <a:rPr lang="es-ES" sz="2500"/>
              <a:t>xxhdpi (densidad extra extra alta): 144x108 px (36 px * 4, 28 px * 4)</a:t>
            </a:r>
            <a:endParaRPr sz="2500"/>
          </a:p>
          <a:p>
            <a:pPr indent="-323850" lvl="0" marL="457200" rtl="0" algn="l">
              <a:lnSpc>
                <a:spcPct val="140000"/>
              </a:lnSpc>
              <a:spcBef>
                <a:spcPts val="0"/>
              </a:spcBef>
              <a:spcAft>
                <a:spcPts val="0"/>
              </a:spcAft>
              <a:buSzPts val="1500"/>
              <a:buChar char="•"/>
            </a:pPr>
            <a:r>
              <a:rPr lang="es-ES" sz="2500"/>
              <a:t>xxxhdpi (densidad extra extra extra alta): 192x144 px (36 px * 5.33, 28 px * 5.33)</a:t>
            </a:r>
            <a:endParaRPr sz="2500"/>
          </a:p>
        </p:txBody>
      </p:sp>
      <p:sp>
        <p:nvSpPr>
          <p:cNvPr id="700" name="Google Shape;700;g27d2204a555_0_31"/>
          <p:cNvSpPr txBox="1"/>
          <p:nvPr/>
        </p:nvSpPr>
        <p:spPr>
          <a:xfrm>
            <a:off x="2225950" y="778450"/>
            <a:ext cx="3474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ES" sz="2000">
                <a:solidFill>
                  <a:schemeClr val="dk1"/>
                </a:solidFill>
              </a:rPr>
              <a:t>3:4:6:8:12:16</a:t>
            </a:r>
            <a:endParaRPr sz="2000"/>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g27d2204a555_0_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3</a:t>
            </a:r>
            <a:endParaRPr/>
          </a:p>
        </p:txBody>
      </p:sp>
      <p:sp>
        <p:nvSpPr>
          <p:cNvPr id="706" name="Google Shape;706;g27d2204a555_0_39"/>
          <p:cNvSpPr txBox="1"/>
          <p:nvPr>
            <p:ph idx="1" type="body"/>
          </p:nvPr>
        </p:nvSpPr>
        <p:spPr>
          <a:xfrm>
            <a:off x="424600" y="1825625"/>
            <a:ext cx="11355000" cy="4351200"/>
          </a:xfrm>
          <a:prstGeom prst="rect">
            <a:avLst/>
          </a:prstGeom>
        </p:spPr>
        <p:txBody>
          <a:bodyPr anchorCtr="0" anchor="t" bIns="45700" lIns="91425" spcFirstLastPara="1" rIns="91425" wrap="square" tIns="45700">
            <a:normAutofit fontScale="92500"/>
          </a:bodyPr>
          <a:lstStyle/>
          <a:p>
            <a:pPr indent="-334327" lvl="0" marL="457200" rtl="0" algn="l">
              <a:lnSpc>
                <a:spcPct val="150000"/>
              </a:lnSpc>
              <a:spcBef>
                <a:spcPts val="1000"/>
              </a:spcBef>
              <a:spcAft>
                <a:spcPts val="0"/>
              </a:spcAft>
              <a:buSzPct val="64285"/>
              <a:buChar char="•"/>
            </a:pPr>
            <a:r>
              <a:rPr lang="es-ES"/>
              <a:t>xxhdpi (densidad extra extra alta): 112.5x93.75 px (150 px * 0.75, 125 px * 0.75)</a:t>
            </a:r>
            <a:endParaRPr/>
          </a:p>
          <a:p>
            <a:pPr indent="-334327" lvl="0" marL="457200" rtl="0" algn="l">
              <a:lnSpc>
                <a:spcPct val="150000"/>
              </a:lnSpc>
              <a:spcBef>
                <a:spcPts val="0"/>
              </a:spcBef>
              <a:spcAft>
                <a:spcPts val="0"/>
              </a:spcAft>
              <a:buSzPct val="64285"/>
              <a:buChar char="•"/>
            </a:pPr>
            <a:r>
              <a:rPr lang="es-ES"/>
              <a:t>xhdpi (densidad extra alta): 75x62.5 px (150 px * 0.5, 125 px * 0.5)</a:t>
            </a:r>
            <a:endParaRPr/>
          </a:p>
          <a:p>
            <a:pPr indent="-334327" lvl="0" marL="457200" rtl="0" algn="l">
              <a:lnSpc>
                <a:spcPct val="150000"/>
              </a:lnSpc>
              <a:spcBef>
                <a:spcPts val="0"/>
              </a:spcBef>
              <a:spcAft>
                <a:spcPts val="0"/>
              </a:spcAft>
              <a:buSzPct val="64285"/>
              <a:buChar char="•"/>
            </a:pPr>
            <a:r>
              <a:rPr lang="es-ES"/>
              <a:t>hdpi (densidad alta): 56.25x46.875 px (150 px * 0.375, 125 px * 0.375)</a:t>
            </a:r>
            <a:endParaRPr/>
          </a:p>
          <a:p>
            <a:pPr indent="-334327" lvl="0" marL="457200" rtl="0" algn="l">
              <a:lnSpc>
                <a:spcPct val="150000"/>
              </a:lnSpc>
              <a:spcBef>
                <a:spcPts val="0"/>
              </a:spcBef>
              <a:spcAft>
                <a:spcPts val="0"/>
              </a:spcAft>
              <a:buSzPct val="64285"/>
              <a:buChar char="•"/>
            </a:pPr>
            <a:r>
              <a:rPr lang="es-ES"/>
              <a:t>mdpi (densidad media): 42.1875x35.15625 px (150 px * 0.28125, 125 px * 0.28125)</a:t>
            </a:r>
            <a:endParaRPr/>
          </a:p>
          <a:p>
            <a:pPr indent="-334327" lvl="0" marL="457200" rtl="0" algn="l">
              <a:lnSpc>
                <a:spcPct val="150000"/>
              </a:lnSpc>
              <a:spcBef>
                <a:spcPts val="0"/>
              </a:spcBef>
              <a:spcAft>
                <a:spcPts val="0"/>
              </a:spcAft>
              <a:buSzPct val="150000"/>
              <a:buChar char="•"/>
            </a:pPr>
            <a:r>
              <a:rPr lang="es-ES"/>
              <a:t>ldpi (densidad baja): 28.125x23.4375 px (150 px * 0.1875, 125 px * 0.1875)</a:t>
            </a:r>
            <a:endParaRPr sz="1200">
              <a:solidFill>
                <a:srgbClr val="D1D5DB"/>
              </a:solidFill>
              <a:highlight>
                <a:srgbClr val="444654"/>
              </a:highlight>
              <a:latin typeface="Roboto"/>
              <a:ea typeface="Roboto"/>
              <a:cs typeface="Roboto"/>
              <a:sym typeface="Roboto"/>
            </a:endParaRPr>
          </a:p>
          <a:p>
            <a:pPr indent="0" lvl="0" marL="0" rtl="0" algn="l">
              <a:spcBef>
                <a:spcPts val="1000"/>
              </a:spcBef>
              <a:spcAft>
                <a:spcPts val="0"/>
              </a:spcAft>
              <a:buNone/>
            </a:pPr>
            <a:r>
              <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27d2204a555_0_5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Video</a:t>
            </a:r>
            <a:endParaRPr/>
          </a:p>
        </p:txBody>
      </p:sp>
      <p:sp>
        <p:nvSpPr>
          <p:cNvPr id="712" name="Google Shape;712;g27d2204a555_0_5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g27d2204a555_0_4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Video</a:t>
            </a:r>
            <a:endParaRPr/>
          </a:p>
        </p:txBody>
      </p:sp>
      <p:sp>
        <p:nvSpPr>
          <p:cNvPr id="718" name="Google Shape;718;g27d2204a555_0_4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Clr>
                <a:schemeClr val="dk1"/>
              </a:buClr>
              <a:buSzPts val="1100"/>
              <a:buFont typeface="Arial"/>
              <a:buNone/>
            </a:pPr>
            <a:r>
              <a:rPr lang="es-ES"/>
              <a:t>• Todo lo dicho para las imágenes en cuanto a la relación de aspecto se</a:t>
            </a:r>
            <a:endParaRPr/>
          </a:p>
          <a:p>
            <a:pPr indent="0" lvl="0" marL="0" rtl="0" algn="l">
              <a:spcBef>
                <a:spcPts val="1000"/>
              </a:spcBef>
              <a:spcAft>
                <a:spcPts val="0"/>
              </a:spcAft>
              <a:buNone/>
            </a:pPr>
            <a:r>
              <a:rPr lang="es-ES"/>
              <a:t>aplica también a los videos</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s-ES"/>
              <a:t>• Tan solo ten en cuenta que la mayoría de los videos tienen una relación 16:9, aunque no siempre tiene que por </a:t>
            </a:r>
            <a:r>
              <a:rPr lang="es-ES"/>
              <a:t>qué</a:t>
            </a:r>
            <a:r>
              <a:rPr lang="es-ES"/>
              <a:t> ser así, los videos antiguos tenían una relación de aspecto 4:3</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s-ES"/>
              <a:t>• Los formatos soportados por Android Studio son:</a:t>
            </a:r>
            <a:r>
              <a:rPr lang="es-ES">
                <a:solidFill>
                  <a:srgbClr val="C00000"/>
                </a:solidFill>
              </a:rPr>
              <a:t> .mp4, .webM, .mkv y .3gp</a:t>
            </a:r>
            <a:endParaRPr>
              <a:solidFill>
                <a:srgbClr val="C00000"/>
              </a:solidFill>
            </a:endParaRPr>
          </a:p>
          <a:p>
            <a:pPr indent="0" lvl="0" marL="0" rtl="0" algn="l">
              <a:spcBef>
                <a:spcPts val="1000"/>
              </a:spcBef>
              <a:spcAft>
                <a:spcPts val="0"/>
              </a:spcAft>
              <a:buNone/>
            </a:pPr>
            <a:r>
              <a:t/>
            </a:r>
            <a:endParaRPr>
              <a:solidFill>
                <a:srgbClr val="C00000"/>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27d2204a555_0_5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Audio</a:t>
            </a:r>
            <a:endParaRPr/>
          </a:p>
        </p:txBody>
      </p:sp>
      <p:sp>
        <p:nvSpPr>
          <p:cNvPr id="724" name="Google Shape;724;g27d2204a555_0_5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27d2204a555_0_6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730" name="Google Shape;730;g27d2204a555_0_6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85000" lnSpcReduction="20000"/>
          </a:bodyPr>
          <a:lstStyle/>
          <a:p>
            <a:pPr indent="0" lvl="0" marL="0" rtl="0" algn="l">
              <a:lnSpc>
                <a:spcPct val="115000"/>
              </a:lnSpc>
              <a:spcBef>
                <a:spcPts val="1000"/>
              </a:spcBef>
              <a:spcAft>
                <a:spcPts val="0"/>
              </a:spcAft>
              <a:buClr>
                <a:schemeClr val="dk1"/>
              </a:buClr>
              <a:buSzPct val="39285"/>
              <a:buFont typeface="Arial"/>
              <a:buNone/>
            </a:pPr>
            <a:r>
              <a:rPr lang="es-ES"/>
              <a:t>• Los ficheros de audio puede grabarse con </a:t>
            </a:r>
            <a:r>
              <a:rPr lang="es-ES"/>
              <a:t>pérdidas</a:t>
            </a:r>
            <a:r>
              <a:rPr lang="es-ES"/>
              <a:t> o sin </a:t>
            </a:r>
            <a:r>
              <a:rPr lang="es-ES"/>
              <a:t>pérdidas</a:t>
            </a:r>
            <a:endParaRPr/>
          </a:p>
          <a:p>
            <a:pPr indent="0" lvl="0" marL="0" rtl="0" algn="l">
              <a:lnSpc>
                <a:spcPct val="115000"/>
              </a:lnSpc>
              <a:spcBef>
                <a:spcPts val="1000"/>
              </a:spcBef>
              <a:spcAft>
                <a:spcPts val="0"/>
              </a:spcAft>
              <a:buClr>
                <a:schemeClr val="dk1"/>
              </a:buClr>
              <a:buSzPct val="39285"/>
              <a:buFont typeface="Arial"/>
              <a:buNone/>
            </a:pPr>
            <a:r>
              <a:rPr lang="es-ES"/>
              <a:t>• El principal formato sin </a:t>
            </a:r>
            <a:r>
              <a:rPr lang="es-ES"/>
              <a:t>pérdidas</a:t>
            </a:r>
            <a:r>
              <a:rPr lang="es-ES"/>
              <a:t> es .wav</a:t>
            </a:r>
            <a:endParaRPr/>
          </a:p>
          <a:p>
            <a:pPr indent="0" lvl="0" marL="0" rtl="0" algn="l">
              <a:lnSpc>
                <a:spcPct val="115000"/>
              </a:lnSpc>
              <a:spcBef>
                <a:spcPts val="1000"/>
              </a:spcBef>
              <a:spcAft>
                <a:spcPts val="0"/>
              </a:spcAft>
              <a:buClr>
                <a:schemeClr val="dk1"/>
              </a:buClr>
              <a:buSzPct val="39285"/>
              <a:buFont typeface="Arial"/>
              <a:buNone/>
            </a:pPr>
            <a:r>
              <a:rPr lang="es-ES"/>
              <a:t>• Los principales formatos con pérdidas son .mp3 y .ogg</a:t>
            </a:r>
            <a:endParaRPr/>
          </a:p>
          <a:p>
            <a:pPr indent="0" lvl="0" marL="0" rtl="0" algn="l">
              <a:lnSpc>
                <a:spcPct val="115000"/>
              </a:lnSpc>
              <a:spcBef>
                <a:spcPts val="1000"/>
              </a:spcBef>
              <a:spcAft>
                <a:spcPts val="0"/>
              </a:spcAft>
              <a:buClr>
                <a:schemeClr val="dk1"/>
              </a:buClr>
              <a:buSzPct val="39285"/>
              <a:buFont typeface="Arial"/>
              <a:buNone/>
            </a:pPr>
            <a:r>
              <a:rPr lang="es-ES"/>
              <a:t>• Aunque en la práctica .mp3 y .wav se escuchen igual si vas a editar el</a:t>
            </a:r>
            <a:endParaRPr/>
          </a:p>
          <a:p>
            <a:pPr indent="0" lvl="0" marL="0" rtl="0" algn="l">
              <a:lnSpc>
                <a:spcPct val="115000"/>
              </a:lnSpc>
              <a:spcBef>
                <a:spcPts val="1000"/>
              </a:spcBef>
              <a:spcAft>
                <a:spcPts val="0"/>
              </a:spcAft>
              <a:buClr>
                <a:schemeClr val="dk1"/>
              </a:buClr>
              <a:buSzPct val="39285"/>
              <a:buFont typeface="Arial"/>
              <a:buNone/>
            </a:pPr>
            <a:r>
              <a:rPr lang="es-ES"/>
              <a:t>audio es importante grabarlo en .wav o sino la edición hecha si perderá</a:t>
            </a:r>
            <a:endParaRPr/>
          </a:p>
          <a:p>
            <a:pPr indent="0" lvl="0" marL="0" rtl="0" algn="l">
              <a:lnSpc>
                <a:spcPct val="115000"/>
              </a:lnSpc>
              <a:spcBef>
                <a:spcPts val="1000"/>
              </a:spcBef>
              <a:spcAft>
                <a:spcPts val="0"/>
              </a:spcAft>
              <a:buClr>
                <a:schemeClr val="dk1"/>
              </a:buClr>
              <a:buSzPct val="39285"/>
              <a:buFont typeface="Arial"/>
              <a:buNone/>
            </a:pPr>
            <a:r>
              <a:rPr lang="es-ES"/>
              <a:t>calidad</a:t>
            </a:r>
            <a:endParaRPr/>
          </a:p>
          <a:p>
            <a:pPr indent="0" lvl="0" marL="0" rtl="0" algn="l">
              <a:lnSpc>
                <a:spcPct val="115000"/>
              </a:lnSpc>
              <a:spcBef>
                <a:spcPts val="1000"/>
              </a:spcBef>
              <a:spcAft>
                <a:spcPts val="0"/>
              </a:spcAft>
              <a:buClr>
                <a:schemeClr val="dk1"/>
              </a:buClr>
              <a:buSzPct val="39285"/>
              <a:buFont typeface="Arial"/>
              <a:buNone/>
            </a:pPr>
            <a:r>
              <a:rPr lang="es-ES"/>
              <a:t>• Es bueno pasar a .mp3 o .ogg una vez el audio ha sido editado</a:t>
            </a:r>
            <a:endParaRPr/>
          </a:p>
          <a:p>
            <a:pPr indent="0" lvl="0" marL="0" rtl="0" algn="l">
              <a:lnSpc>
                <a:spcPct val="115000"/>
              </a:lnSpc>
              <a:spcBef>
                <a:spcPts val="1000"/>
              </a:spcBef>
              <a:spcAft>
                <a:spcPts val="0"/>
              </a:spcAft>
              <a:buClr>
                <a:schemeClr val="dk1"/>
              </a:buClr>
              <a:buSzPct val="39285"/>
              <a:buFont typeface="Arial"/>
              <a:buNone/>
            </a:pPr>
            <a:r>
              <a:rPr lang="es-ES"/>
              <a:t>• Android Studio soporta </a:t>
            </a:r>
            <a:r>
              <a:rPr lang="es-ES">
                <a:solidFill>
                  <a:srgbClr val="C00000"/>
                </a:solidFill>
              </a:rPr>
              <a:t>.wav, .mp3 y .ogg</a:t>
            </a:r>
            <a:endParaRPr>
              <a:solidFill>
                <a:srgbClr val="C00000"/>
              </a:solidFill>
            </a:endParaRPr>
          </a:p>
          <a:p>
            <a:pPr indent="0" lvl="0" marL="0" rtl="0" algn="l">
              <a:spcBef>
                <a:spcPts val="1000"/>
              </a:spcBef>
              <a:spcAft>
                <a:spcPts val="0"/>
              </a:spcAft>
              <a:buNone/>
            </a:pPr>
            <a:r>
              <a:t/>
            </a:r>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27d2204a555_0_6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Audio bitrate</a:t>
            </a:r>
            <a:endParaRPr/>
          </a:p>
        </p:txBody>
      </p:sp>
      <p:sp>
        <p:nvSpPr>
          <p:cNvPr id="736" name="Google Shape;736;g27d2204a555_0_6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70000" lnSpcReduction="20000"/>
          </a:bodyPr>
          <a:lstStyle/>
          <a:p>
            <a:pPr indent="0" lvl="0" marL="0" rtl="0" algn="l">
              <a:lnSpc>
                <a:spcPct val="115000"/>
              </a:lnSpc>
              <a:spcBef>
                <a:spcPts val="1000"/>
              </a:spcBef>
              <a:spcAft>
                <a:spcPts val="0"/>
              </a:spcAft>
              <a:buClr>
                <a:schemeClr val="dk1"/>
              </a:buClr>
              <a:buSzPct val="39285"/>
              <a:buFont typeface="Arial"/>
              <a:buNone/>
            </a:pPr>
            <a:r>
              <a:rPr lang="es-ES"/>
              <a:t>• Una métrica para medir la calidad del audio es el bitrate</a:t>
            </a:r>
            <a:endParaRPr/>
          </a:p>
          <a:p>
            <a:pPr indent="0" lvl="0" marL="0" rtl="0" algn="l">
              <a:lnSpc>
                <a:spcPct val="115000"/>
              </a:lnSpc>
              <a:spcBef>
                <a:spcPts val="1000"/>
              </a:spcBef>
              <a:spcAft>
                <a:spcPts val="0"/>
              </a:spcAft>
              <a:buClr>
                <a:schemeClr val="dk1"/>
              </a:buClr>
              <a:buSzPct val="39285"/>
              <a:buFont typeface="Arial"/>
              <a:buNone/>
            </a:pPr>
            <a:r>
              <a:rPr b="1" lang="es-ES"/>
              <a:t>• Se refiere a la cantidad de bits de datos utilizados para representar una cierta cantidad de audio en un período de tiempo específico</a:t>
            </a:r>
            <a:endParaRPr b="1"/>
          </a:p>
          <a:p>
            <a:pPr indent="0" lvl="0" marL="0" rtl="0" algn="l">
              <a:lnSpc>
                <a:spcPct val="115000"/>
              </a:lnSpc>
              <a:spcBef>
                <a:spcPts val="1000"/>
              </a:spcBef>
              <a:spcAft>
                <a:spcPts val="0"/>
              </a:spcAft>
              <a:buClr>
                <a:schemeClr val="dk1"/>
              </a:buClr>
              <a:buSzPct val="39285"/>
              <a:buFont typeface="Arial"/>
              <a:buNone/>
            </a:pPr>
            <a:r>
              <a:rPr lang="es-ES"/>
              <a:t>• Por lo general a mayor bitrate mayor calidad, pero hasta cierto punto</a:t>
            </a:r>
            <a:endParaRPr/>
          </a:p>
          <a:p>
            <a:pPr indent="0" lvl="0" marL="0" rtl="0" algn="l">
              <a:lnSpc>
                <a:spcPct val="115000"/>
              </a:lnSpc>
              <a:spcBef>
                <a:spcPts val="1000"/>
              </a:spcBef>
              <a:spcAft>
                <a:spcPts val="0"/>
              </a:spcAft>
              <a:buClr>
                <a:schemeClr val="dk1"/>
              </a:buClr>
              <a:buSzPct val="39285"/>
              <a:buFont typeface="Arial"/>
              <a:buNone/>
            </a:pPr>
            <a:r>
              <a:rPr lang="es-ES"/>
              <a:t>donde lo único que conseguimos es que el fichero sea más pesado sin ganar calidad</a:t>
            </a:r>
            <a:endParaRPr/>
          </a:p>
          <a:p>
            <a:pPr indent="0" lvl="0" marL="0" rtl="0" algn="l">
              <a:lnSpc>
                <a:spcPct val="115000"/>
              </a:lnSpc>
              <a:spcBef>
                <a:spcPts val="1000"/>
              </a:spcBef>
              <a:spcAft>
                <a:spcPts val="0"/>
              </a:spcAft>
              <a:buClr>
                <a:schemeClr val="dk1"/>
              </a:buClr>
              <a:buSzPct val="39285"/>
              <a:buFont typeface="Arial"/>
              <a:buNone/>
            </a:pPr>
            <a:r>
              <a:rPr lang="es-ES"/>
              <a:t>• Por lo general el bitrate de los ficheros se encuentra en el rango (128,</a:t>
            </a:r>
            <a:endParaRPr/>
          </a:p>
          <a:p>
            <a:pPr indent="0" lvl="0" marL="0" rtl="0" algn="l">
              <a:lnSpc>
                <a:spcPct val="115000"/>
              </a:lnSpc>
              <a:spcBef>
                <a:spcPts val="1000"/>
              </a:spcBef>
              <a:spcAft>
                <a:spcPts val="0"/>
              </a:spcAft>
              <a:buClr>
                <a:schemeClr val="dk1"/>
              </a:buClr>
              <a:buSzPct val="39285"/>
              <a:buFont typeface="Arial"/>
              <a:buNone/>
            </a:pPr>
            <a:r>
              <a:rPr lang="es-ES"/>
              <a:t>320) kbps</a:t>
            </a:r>
            <a:endParaRPr/>
          </a:p>
          <a:p>
            <a:pPr indent="0" lvl="0" marL="0" rtl="0" algn="l">
              <a:lnSpc>
                <a:spcPct val="115000"/>
              </a:lnSpc>
              <a:spcBef>
                <a:spcPts val="1000"/>
              </a:spcBef>
              <a:spcAft>
                <a:spcPts val="0"/>
              </a:spcAft>
              <a:buClr>
                <a:schemeClr val="dk1"/>
              </a:buClr>
              <a:buSzPct val="39285"/>
              <a:buFont typeface="Arial"/>
              <a:buNone/>
            </a:pPr>
            <a:r>
              <a:rPr lang="es-ES"/>
              <a:t>• Por lo general con un bitrate de 192 kbps es más que suficiente</a:t>
            </a:r>
            <a:endParaRPr/>
          </a:p>
          <a:p>
            <a:pPr indent="0" lvl="0" marL="0" rtl="0" algn="l">
              <a:lnSpc>
                <a:spcPct val="115000"/>
              </a:lnSpc>
              <a:spcBef>
                <a:spcPts val="1000"/>
              </a:spcBef>
              <a:spcAft>
                <a:spcPts val="0"/>
              </a:spcAft>
              <a:buClr>
                <a:schemeClr val="dk1"/>
              </a:buClr>
              <a:buSzPct val="39285"/>
              <a:buFont typeface="Arial"/>
              <a:buNone/>
            </a:pPr>
            <a:r>
              <a:rPr lang="es-ES"/>
              <a:t>• Muchos ficheros .mp3 tiene bitrate de 128kbps que puede resultar insuficiente para personas que utilicen unos buenos altavoces</a:t>
            </a:r>
            <a:endParaRPr/>
          </a:p>
          <a:p>
            <a:pPr indent="0" lvl="0" marL="0" rtl="0" algn="l">
              <a:spcBef>
                <a:spcPts val="1000"/>
              </a:spcBef>
              <a:spcAft>
                <a:spcPts val="0"/>
              </a:spcAft>
              <a:buNone/>
            </a:pPr>
            <a:r>
              <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27d2204a555_0_7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Iconos</a:t>
            </a:r>
            <a:endParaRPr/>
          </a:p>
        </p:txBody>
      </p:sp>
      <p:sp>
        <p:nvSpPr>
          <p:cNvPr id="742" name="Google Shape;742;g27d2204a555_0_7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27d2204a555_0_8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748" name="Google Shape;748;g27d2204a555_0_8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Mejoran la estética y usabilidad</a:t>
            </a:r>
            <a:endParaRPr/>
          </a:p>
          <a:p>
            <a:pPr indent="0" lvl="0" marL="0" rtl="0" algn="l">
              <a:spcBef>
                <a:spcPts val="1000"/>
              </a:spcBef>
              <a:spcAft>
                <a:spcPts val="0"/>
              </a:spcAft>
              <a:buClr>
                <a:schemeClr val="dk1"/>
              </a:buClr>
              <a:buSzPts val="1100"/>
              <a:buFont typeface="Arial"/>
              <a:buNone/>
            </a:pPr>
            <a:r>
              <a:rPr lang="es-ES"/>
              <a:t>• Debido al exiguo tamaño de las pantallas es muy importante su uso en dispositivos móviles</a:t>
            </a:r>
            <a:endParaRPr/>
          </a:p>
          <a:p>
            <a:pPr indent="0" lvl="0" marL="0" rtl="0" algn="l">
              <a:spcBef>
                <a:spcPts val="1000"/>
              </a:spcBef>
              <a:spcAft>
                <a:spcPts val="0"/>
              </a:spcAft>
              <a:buClr>
                <a:schemeClr val="dk1"/>
              </a:buClr>
              <a:buSzPts val="1100"/>
              <a:buFont typeface="Arial"/>
              <a:buNone/>
            </a:pPr>
            <a:r>
              <a:rPr lang="es-ES"/>
              <a:t>• Mal utilizados pueden provocar problemas graves de usabilidad</a:t>
            </a:r>
            <a:endParaRPr/>
          </a:p>
          <a:p>
            <a:pPr indent="0" lvl="0" marL="0" rtl="0" algn="l">
              <a:spcBef>
                <a:spcPts val="1000"/>
              </a:spcBef>
              <a:spcAft>
                <a:spcPts val="0"/>
              </a:spcAft>
              <a:buNone/>
            </a:pPr>
            <a:r>
              <a:t/>
            </a:r>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27d2204a555_0_88"/>
          <p:cNvSpPr txBox="1"/>
          <p:nvPr>
            <p:ph type="title"/>
          </p:nvPr>
        </p:nvSpPr>
        <p:spPr>
          <a:xfrm>
            <a:off x="715975" y="2104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Iconos Material Desing</a:t>
            </a:r>
            <a:endParaRPr/>
          </a:p>
        </p:txBody>
      </p:sp>
      <p:sp>
        <p:nvSpPr>
          <p:cNvPr id="754" name="Google Shape;754;g27d2204a555_0_88"/>
          <p:cNvSpPr txBox="1"/>
          <p:nvPr>
            <p:ph idx="1" type="body"/>
          </p:nvPr>
        </p:nvSpPr>
        <p:spPr>
          <a:xfrm>
            <a:off x="715975" y="15361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Galería de iconos vectoriales gratuitos que puedes utilizar para tu app.</a:t>
            </a:r>
            <a:endParaRPr/>
          </a:p>
          <a:p>
            <a:pPr indent="0" lvl="0" marL="0" rtl="0" algn="l">
              <a:spcBef>
                <a:spcPts val="1000"/>
              </a:spcBef>
              <a:spcAft>
                <a:spcPts val="0"/>
              </a:spcAft>
              <a:buClr>
                <a:schemeClr val="dk1"/>
              </a:buClr>
              <a:buSzPts val="1100"/>
              <a:buFont typeface="Arial"/>
              <a:buNone/>
            </a:pPr>
            <a:r>
              <a:rPr lang="es-ES"/>
              <a:t>• Están disponibles tanto en svg como en png</a:t>
            </a:r>
            <a:endParaRPr/>
          </a:p>
          <a:p>
            <a:pPr indent="0" lvl="0" marL="0" rtl="0" algn="l">
              <a:spcBef>
                <a:spcPts val="1000"/>
              </a:spcBef>
              <a:spcAft>
                <a:spcPts val="0"/>
              </a:spcAft>
              <a:buNone/>
            </a:pPr>
            <a:r>
              <a:t/>
            </a:r>
            <a:endParaRPr/>
          </a:p>
        </p:txBody>
      </p:sp>
      <p:pic>
        <p:nvPicPr>
          <p:cNvPr id="755" name="Google Shape;755;g27d2204a555_0_88"/>
          <p:cNvPicPr preferRelativeResize="0"/>
          <p:nvPr/>
        </p:nvPicPr>
        <p:blipFill>
          <a:blip r:embed="rId3">
            <a:alphaModFix/>
          </a:blip>
          <a:stretch>
            <a:fillRect/>
          </a:stretch>
        </p:blipFill>
        <p:spPr>
          <a:xfrm>
            <a:off x="2807600" y="3072075"/>
            <a:ext cx="7119125" cy="333747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27d2204a555_0_9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Iconos comunes</a:t>
            </a:r>
            <a:endParaRPr/>
          </a:p>
        </p:txBody>
      </p:sp>
      <p:sp>
        <p:nvSpPr>
          <p:cNvPr id="761" name="Google Shape;761;g27d2204a555_0_9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 ¿</a:t>
            </a:r>
            <a:r>
              <a:rPr lang="es-ES"/>
              <a:t>Sabrías</a:t>
            </a:r>
            <a:r>
              <a:rPr lang="es-ES"/>
              <a:t> decir </a:t>
            </a:r>
            <a:r>
              <a:rPr lang="es-ES"/>
              <a:t>qué</a:t>
            </a:r>
            <a:r>
              <a:rPr lang="es-ES"/>
              <a:t> indica cada icono?</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s-ES"/>
              <a:t>• Utilizar dichos iconos para algo que no sea lo </a:t>
            </a:r>
            <a:r>
              <a:rPr lang="es-ES"/>
              <a:t>esperado por</a:t>
            </a:r>
            <a:r>
              <a:rPr lang="es-ES"/>
              <a:t> el usuario resulta una mala práctica de diseño</a:t>
            </a:r>
            <a:endParaRPr/>
          </a:p>
          <a:p>
            <a:pPr indent="0" lvl="0" marL="0" rtl="0" algn="l">
              <a:spcBef>
                <a:spcPts val="1000"/>
              </a:spcBef>
              <a:spcAft>
                <a:spcPts val="0"/>
              </a:spcAft>
              <a:buNone/>
            </a:pPr>
            <a:r>
              <a:t/>
            </a:r>
            <a:endParaRPr/>
          </a:p>
        </p:txBody>
      </p:sp>
      <p:pic>
        <p:nvPicPr>
          <p:cNvPr id="762" name="Google Shape;762;g27d2204a555_0_96"/>
          <p:cNvPicPr preferRelativeResize="0"/>
          <p:nvPr/>
        </p:nvPicPr>
        <p:blipFill>
          <a:blip r:embed="rId3">
            <a:alphaModFix/>
          </a:blip>
          <a:stretch>
            <a:fillRect/>
          </a:stretch>
        </p:blipFill>
        <p:spPr>
          <a:xfrm>
            <a:off x="1056650" y="2384438"/>
            <a:ext cx="6553200" cy="866775"/>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27d2204a555_0_10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 Nunca repetir iconos para acciones distintas</a:t>
            </a:r>
            <a:endParaRPr/>
          </a:p>
        </p:txBody>
      </p:sp>
      <p:pic>
        <p:nvPicPr>
          <p:cNvPr id="768" name="Google Shape;768;g27d2204a555_0_104"/>
          <p:cNvPicPr preferRelativeResize="0"/>
          <p:nvPr/>
        </p:nvPicPr>
        <p:blipFill>
          <a:blip r:embed="rId3">
            <a:alphaModFix/>
          </a:blip>
          <a:stretch>
            <a:fillRect/>
          </a:stretch>
        </p:blipFill>
        <p:spPr>
          <a:xfrm>
            <a:off x="1430150" y="2597713"/>
            <a:ext cx="4648200" cy="2486025"/>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g27d2204a555_0_1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Navegación</a:t>
            </a:r>
            <a:endParaRPr/>
          </a:p>
        </p:txBody>
      </p:sp>
      <p:sp>
        <p:nvSpPr>
          <p:cNvPr id="774" name="Google Shape;774;g27d2204a555_0_11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g27d2204a555_0_1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Navigation drawer</a:t>
            </a:r>
            <a:endParaRPr/>
          </a:p>
        </p:txBody>
      </p:sp>
      <p:sp>
        <p:nvSpPr>
          <p:cNvPr id="780" name="Google Shape;780;g27d2204a555_0_118"/>
          <p:cNvSpPr txBox="1"/>
          <p:nvPr>
            <p:ph idx="1" type="body"/>
          </p:nvPr>
        </p:nvSpPr>
        <p:spPr>
          <a:xfrm>
            <a:off x="838200" y="1825625"/>
            <a:ext cx="66309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 Una navegación eficiente es primordial para una buena experiencia de usuario.</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None/>
            </a:pPr>
            <a:r>
              <a:rPr lang="es-ES"/>
              <a:t>• En Android el elemento principal de </a:t>
            </a:r>
            <a:r>
              <a:rPr lang="es-ES"/>
              <a:t>navegación</a:t>
            </a:r>
            <a:r>
              <a:rPr lang="es-ES"/>
              <a:t> es el ‘navigation drawer’</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s-ES"/>
              <a:t>• La mayoría de usuarios están acostumbrados a este tipo de navegación</a:t>
            </a:r>
            <a:endParaRPr/>
          </a:p>
          <a:p>
            <a:pPr indent="0" lvl="0" marL="0" rtl="0" algn="l">
              <a:spcBef>
                <a:spcPts val="1000"/>
              </a:spcBef>
              <a:spcAft>
                <a:spcPts val="0"/>
              </a:spcAft>
              <a:buNone/>
            </a:pPr>
            <a:r>
              <a:t/>
            </a:r>
            <a:endParaRPr/>
          </a:p>
        </p:txBody>
      </p:sp>
      <p:pic>
        <p:nvPicPr>
          <p:cNvPr id="781" name="Google Shape;781;g27d2204a555_0_118"/>
          <p:cNvPicPr preferRelativeResize="0"/>
          <p:nvPr/>
        </p:nvPicPr>
        <p:blipFill>
          <a:blip r:embed="rId3">
            <a:alphaModFix/>
          </a:blip>
          <a:stretch>
            <a:fillRect/>
          </a:stretch>
        </p:blipFill>
        <p:spPr>
          <a:xfrm>
            <a:off x="7756600" y="2068400"/>
            <a:ext cx="2657475" cy="340995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27d2204a555_0_1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Tipos  de menu</a:t>
            </a:r>
            <a:endParaRPr/>
          </a:p>
        </p:txBody>
      </p:sp>
      <p:sp>
        <p:nvSpPr>
          <p:cNvPr id="787" name="Google Shape;787;g27d2204a555_0_12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 </a:t>
            </a:r>
            <a:r>
              <a:rPr b="1" lang="es-ES"/>
              <a:t>Estándar.</a:t>
            </a:r>
            <a:r>
              <a:rPr lang="es-ES"/>
              <a:t> La aplicación puede seguir usandolo. Los elementos de la aplicación se reajustan para cederle espacio. Útils en tablets y otros dispositivos con pantallas</a:t>
            </a:r>
            <a:endParaRPr/>
          </a:p>
          <a:p>
            <a:pPr indent="0" lvl="0" marL="0" rtl="0" algn="l">
              <a:spcBef>
                <a:spcPts val="1000"/>
              </a:spcBef>
              <a:spcAft>
                <a:spcPts val="0"/>
              </a:spcAft>
              <a:buNone/>
            </a:pPr>
            <a:r>
              <a:rPr lang="es-ES"/>
              <a:t>grandes.</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s-ES"/>
              <a:t>•</a:t>
            </a:r>
            <a:r>
              <a:rPr b="1" lang="es-ES"/>
              <a:t> Modales.</a:t>
            </a:r>
            <a:r>
              <a:rPr lang="es-ES"/>
              <a:t> Ocupan casi toda la pantalla. La app no puede utilizarse </a:t>
            </a:r>
            <a:r>
              <a:rPr lang="es-ES"/>
              <a:t>h</a:t>
            </a:r>
            <a:r>
              <a:rPr lang="es-ES"/>
              <a:t>asta que se oculten. Se ocultan o bien al usuario seleccionar un elemento o bien al pulsar fuera del modal</a:t>
            </a:r>
            <a:endParaRPr/>
          </a:p>
          <a:p>
            <a:pPr indent="0" lvl="0" marL="0" rtl="0" algn="l">
              <a:spcBef>
                <a:spcPts val="1000"/>
              </a:spcBef>
              <a:spcAft>
                <a:spcPts val="0"/>
              </a:spcAft>
              <a:buNone/>
            </a:pPr>
            <a:r>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27d2204a555_0_1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Estándar</a:t>
            </a:r>
            <a:endParaRPr/>
          </a:p>
        </p:txBody>
      </p:sp>
      <p:pic>
        <p:nvPicPr>
          <p:cNvPr id="793" name="Google Shape;793;g27d2204a555_0_138"/>
          <p:cNvPicPr preferRelativeResize="0"/>
          <p:nvPr/>
        </p:nvPicPr>
        <p:blipFill>
          <a:blip r:embed="rId3">
            <a:alphaModFix/>
          </a:blip>
          <a:stretch>
            <a:fillRect/>
          </a:stretch>
        </p:blipFill>
        <p:spPr>
          <a:xfrm>
            <a:off x="1239300" y="2102500"/>
            <a:ext cx="5467350" cy="373380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g27d2204a555_0_14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Modal</a:t>
            </a:r>
            <a:endParaRPr/>
          </a:p>
        </p:txBody>
      </p:sp>
      <p:pic>
        <p:nvPicPr>
          <p:cNvPr id="799" name="Google Shape;799;g27d2204a555_0_144"/>
          <p:cNvPicPr preferRelativeResize="0"/>
          <p:nvPr/>
        </p:nvPicPr>
        <p:blipFill>
          <a:blip r:embed="rId3">
            <a:alphaModFix/>
          </a:blip>
          <a:stretch>
            <a:fillRect/>
          </a:stretch>
        </p:blipFill>
        <p:spPr>
          <a:xfrm>
            <a:off x="1055225" y="1836650"/>
            <a:ext cx="5848350" cy="39052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g27d2204a555_0_15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Navigation drawer - elementos</a:t>
            </a:r>
            <a:endParaRPr/>
          </a:p>
        </p:txBody>
      </p:sp>
      <p:pic>
        <p:nvPicPr>
          <p:cNvPr id="805" name="Google Shape;805;g27d2204a555_0_150"/>
          <p:cNvPicPr preferRelativeResize="0"/>
          <p:nvPr/>
        </p:nvPicPr>
        <p:blipFill>
          <a:blip r:embed="rId3">
            <a:alphaModFix/>
          </a:blip>
          <a:stretch>
            <a:fillRect/>
          </a:stretch>
        </p:blipFill>
        <p:spPr>
          <a:xfrm>
            <a:off x="609150" y="1527975"/>
            <a:ext cx="9878070" cy="4862376"/>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g27d2204a555_0_15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811" name="Google Shape;811;g27d2204a555_0_15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Mantén los nombres </a:t>
            </a:r>
            <a:r>
              <a:rPr lang="es-ES"/>
              <a:t>cortos</a:t>
            </a:r>
            <a:r>
              <a:rPr lang="es-ES"/>
              <a:t>, de no poder mejor truncar a hacerlos doble line o con texto más pequeño</a:t>
            </a:r>
            <a:endParaRPr/>
          </a:p>
          <a:p>
            <a:pPr indent="0" lvl="0" marL="0" rtl="0" algn="l">
              <a:spcBef>
                <a:spcPts val="1000"/>
              </a:spcBef>
              <a:spcAft>
                <a:spcPts val="0"/>
              </a:spcAft>
              <a:buNone/>
            </a:pPr>
            <a:r>
              <a:t/>
            </a:r>
            <a:endParaRPr/>
          </a:p>
        </p:txBody>
      </p:sp>
      <p:pic>
        <p:nvPicPr>
          <p:cNvPr id="812" name="Google Shape;812;g27d2204a555_0_158"/>
          <p:cNvPicPr preferRelativeResize="0"/>
          <p:nvPr/>
        </p:nvPicPr>
        <p:blipFill>
          <a:blip r:embed="rId3">
            <a:alphaModFix/>
          </a:blip>
          <a:stretch>
            <a:fillRect/>
          </a:stretch>
        </p:blipFill>
        <p:spPr>
          <a:xfrm>
            <a:off x="791300" y="2735600"/>
            <a:ext cx="9971750" cy="338962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27d2204a555_0_16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 ¿Es siempre necesario un navigation drawer?</a:t>
            </a:r>
            <a:endParaRPr/>
          </a:p>
        </p:txBody>
      </p:sp>
      <p:sp>
        <p:nvSpPr>
          <p:cNvPr id="818" name="Google Shape;818;g27d2204a555_0_16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No, de hecho cuando el grafo de navegación es sencillo Google recomienda una navegación basada en un menú inferior o una navegación basada en pestañas.</a:t>
            </a:r>
            <a:endParaRPr/>
          </a:p>
          <a:p>
            <a:pPr indent="0" lvl="0" marL="0" rtl="0" algn="l">
              <a:spcBef>
                <a:spcPts val="1000"/>
              </a:spcBef>
              <a:spcAft>
                <a:spcPts val="0"/>
              </a:spcAft>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g27d2204a555_0_17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s-ES"/>
              <a:t>Tipos de navegaciones en Android</a:t>
            </a:r>
            <a:endParaRPr/>
          </a:p>
          <a:p>
            <a:pPr indent="0" lvl="0" marL="0" rtl="0" algn="l">
              <a:spcBef>
                <a:spcPts val="0"/>
              </a:spcBef>
              <a:spcAft>
                <a:spcPts val="0"/>
              </a:spcAft>
              <a:buNone/>
            </a:pPr>
            <a:r>
              <a:rPr lang="es-ES"/>
              <a:t>Studio</a:t>
            </a:r>
            <a:endParaRPr/>
          </a:p>
        </p:txBody>
      </p:sp>
      <p:pic>
        <p:nvPicPr>
          <p:cNvPr id="824" name="Google Shape;824;g27d2204a555_0_172"/>
          <p:cNvPicPr preferRelativeResize="0"/>
          <p:nvPr/>
        </p:nvPicPr>
        <p:blipFill>
          <a:blip r:embed="rId3">
            <a:alphaModFix/>
          </a:blip>
          <a:stretch>
            <a:fillRect/>
          </a:stretch>
        </p:blipFill>
        <p:spPr>
          <a:xfrm>
            <a:off x="961175" y="1806198"/>
            <a:ext cx="9840500" cy="4191875"/>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g27d2204a555_0_17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Accesibilidad</a:t>
            </a:r>
            <a:endParaRPr/>
          </a:p>
        </p:txBody>
      </p:sp>
      <p:sp>
        <p:nvSpPr>
          <p:cNvPr id="830" name="Google Shape;830;g27d2204a555_0_17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g27d2204a555_0_2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Accesibilidad</a:t>
            </a:r>
            <a:endParaRPr/>
          </a:p>
        </p:txBody>
      </p:sp>
      <p:sp>
        <p:nvSpPr>
          <p:cNvPr id="836" name="Google Shape;836;g27d2204a555_0_232"/>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ES"/>
              <a:t>• En términos generales,</a:t>
            </a:r>
            <a:r>
              <a:rPr i="1" lang="es-ES"/>
              <a:t> la accesibilidad es el grado en el que todas las personas, independientemente de sus capacidades físicas, técnicas o cognitivas, pueden acceder a un servicio</a:t>
            </a:r>
            <a:r>
              <a:rPr lang="es-ES"/>
              <a:t>.</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0"/>
              </a:spcAft>
              <a:buClr>
                <a:schemeClr val="dk1"/>
              </a:buClr>
              <a:buSzPts val="1100"/>
              <a:buFont typeface="Arial"/>
              <a:buNone/>
            </a:pPr>
            <a:r>
              <a:rPr lang="es-ES"/>
              <a:t>• En definitiva, la accesibilidad puede ser entendida como usabilidad para todos.</a:t>
            </a:r>
            <a:endParaRPr/>
          </a:p>
          <a:p>
            <a:pPr indent="0" lvl="0" marL="0" rtl="0" algn="l">
              <a:spcBef>
                <a:spcPts val="1000"/>
              </a:spcBef>
              <a:spcAft>
                <a:spcPts val="0"/>
              </a:spcAft>
              <a:buClr>
                <a:schemeClr val="dk1"/>
              </a:buClr>
              <a:buSzPts val="1100"/>
              <a:buFont typeface="Arial"/>
              <a:buNone/>
            </a:pPr>
            <a:r>
              <a:rPr lang="es-ES"/>
              <a:t>• “El buen diseño capacita y el mal diseño discapacita” Declaración de Estocolmo 2004: EIDD</a:t>
            </a:r>
            <a:endParaRPr/>
          </a:p>
          <a:p>
            <a:pPr indent="0" lvl="0" marL="0" rtl="0" algn="l">
              <a:spcBef>
                <a:spcPts val="1000"/>
              </a:spcBef>
              <a:spcAft>
                <a:spcPts val="0"/>
              </a:spcAft>
              <a:buNone/>
            </a:pPr>
            <a:r>
              <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27d2204a555_0_2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Accesibilidad - daltonismo</a:t>
            </a:r>
            <a:endParaRPr/>
          </a:p>
        </p:txBody>
      </p:sp>
      <p:sp>
        <p:nvSpPr>
          <p:cNvPr id="842" name="Google Shape;842;g27d2204a555_0_239"/>
          <p:cNvSpPr txBox="1"/>
          <p:nvPr>
            <p:ph idx="1" type="body"/>
          </p:nvPr>
        </p:nvSpPr>
        <p:spPr>
          <a:xfrm>
            <a:off x="838200" y="1825625"/>
            <a:ext cx="53892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El 4,5% de la población es daltónica. 1 de cada 12 hombres y 1 de cada 200 mujeres.</a:t>
            </a:r>
            <a:endParaRPr/>
          </a:p>
          <a:p>
            <a:pPr indent="0" lvl="0" marL="0" rtl="0" algn="l">
              <a:spcBef>
                <a:spcPts val="1000"/>
              </a:spcBef>
              <a:spcAft>
                <a:spcPts val="0"/>
              </a:spcAft>
              <a:buClr>
                <a:schemeClr val="dk1"/>
              </a:buClr>
              <a:buSzPts val="1100"/>
              <a:buFont typeface="Arial"/>
              <a:buNone/>
            </a:pPr>
            <a:r>
              <a:rPr lang="es-ES"/>
              <a:t>• Un 4% sufre visión </a:t>
            </a:r>
            <a:r>
              <a:rPr lang="es-ES"/>
              <a:t>reducida</a:t>
            </a:r>
            <a:endParaRPr/>
          </a:p>
          <a:p>
            <a:pPr indent="0" lvl="0" marL="0" rtl="0" algn="l">
              <a:spcBef>
                <a:spcPts val="1000"/>
              </a:spcBef>
              <a:spcAft>
                <a:spcPts val="0"/>
              </a:spcAft>
              <a:buClr>
                <a:schemeClr val="dk1"/>
              </a:buClr>
              <a:buSzPts val="1100"/>
              <a:buFont typeface="Arial"/>
              <a:buNone/>
            </a:pPr>
            <a:r>
              <a:rPr lang="es-ES"/>
              <a:t>• Un 0,6% es ciega</a:t>
            </a:r>
            <a:endParaRPr/>
          </a:p>
          <a:p>
            <a:pPr indent="0" lvl="0" marL="0" rtl="0" algn="l">
              <a:spcBef>
                <a:spcPts val="1000"/>
              </a:spcBef>
              <a:spcAft>
                <a:spcPts val="0"/>
              </a:spcAft>
              <a:buNone/>
            </a:pPr>
            <a:r>
              <a:t/>
            </a:r>
            <a:endParaRPr/>
          </a:p>
        </p:txBody>
      </p:sp>
      <p:pic>
        <p:nvPicPr>
          <p:cNvPr id="843" name="Google Shape;843;g27d2204a555_0_239"/>
          <p:cNvPicPr preferRelativeResize="0"/>
          <p:nvPr/>
        </p:nvPicPr>
        <p:blipFill>
          <a:blip r:embed="rId3">
            <a:alphaModFix/>
          </a:blip>
          <a:stretch>
            <a:fillRect/>
          </a:stretch>
        </p:blipFill>
        <p:spPr>
          <a:xfrm>
            <a:off x="6334775" y="1450800"/>
            <a:ext cx="5564893" cy="4862374"/>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pic>
        <p:nvPicPr>
          <p:cNvPr id="848" name="Google Shape;848;g27d2204a555_0_247"/>
          <p:cNvPicPr preferRelativeResize="0"/>
          <p:nvPr/>
        </p:nvPicPr>
        <p:blipFill>
          <a:blip r:embed="rId3">
            <a:alphaModFix/>
          </a:blip>
          <a:stretch>
            <a:fillRect/>
          </a:stretch>
        </p:blipFill>
        <p:spPr>
          <a:xfrm>
            <a:off x="1678775" y="694800"/>
            <a:ext cx="8383075" cy="5353624"/>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pic>
        <p:nvPicPr>
          <p:cNvPr id="853" name="Google Shape;853;g27d2204a555_0_253"/>
          <p:cNvPicPr preferRelativeResize="0"/>
          <p:nvPr/>
        </p:nvPicPr>
        <p:blipFill>
          <a:blip r:embed="rId3">
            <a:alphaModFix/>
          </a:blip>
          <a:stretch>
            <a:fillRect/>
          </a:stretch>
        </p:blipFill>
        <p:spPr>
          <a:xfrm>
            <a:off x="1252538" y="1500188"/>
            <a:ext cx="9686925" cy="3857625"/>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g27d2204a555_0_259"/>
          <p:cNvPicPr preferRelativeResize="0"/>
          <p:nvPr/>
        </p:nvPicPr>
        <p:blipFill>
          <a:blip r:embed="rId3">
            <a:alphaModFix/>
          </a:blip>
          <a:stretch>
            <a:fillRect/>
          </a:stretch>
        </p:blipFill>
        <p:spPr>
          <a:xfrm>
            <a:off x="1076900" y="1280798"/>
            <a:ext cx="9686175" cy="412865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27d2204a555_0_26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Accesibilidad - gestos</a:t>
            </a:r>
            <a:endParaRPr/>
          </a:p>
        </p:txBody>
      </p:sp>
      <p:sp>
        <p:nvSpPr>
          <p:cNvPr id="864" name="Google Shape;864;g27d2204a555_0_265"/>
          <p:cNvSpPr txBox="1"/>
          <p:nvPr>
            <p:ph idx="1" type="body"/>
          </p:nvPr>
        </p:nvSpPr>
        <p:spPr>
          <a:xfrm>
            <a:off x="838200" y="1825625"/>
            <a:ext cx="51963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Utiliza gestos estándar. Los definidos por Android. La gente es familiar con ellos y no implican una curva de aprendizaje.</a:t>
            </a:r>
            <a:endParaRPr/>
          </a:p>
          <a:p>
            <a:pPr indent="0" lvl="0" marL="0" rtl="0" algn="l">
              <a:spcBef>
                <a:spcPts val="1000"/>
              </a:spcBef>
              <a:spcAft>
                <a:spcPts val="0"/>
              </a:spcAft>
              <a:buNone/>
            </a:pPr>
            <a:r>
              <a:t/>
            </a:r>
            <a:endParaRPr/>
          </a:p>
        </p:txBody>
      </p:sp>
      <p:pic>
        <p:nvPicPr>
          <p:cNvPr id="865" name="Google Shape;865;g27d2204a555_0_265"/>
          <p:cNvPicPr preferRelativeResize="0"/>
          <p:nvPr/>
        </p:nvPicPr>
        <p:blipFill>
          <a:blip r:embed="rId3">
            <a:alphaModFix/>
          </a:blip>
          <a:stretch>
            <a:fillRect/>
          </a:stretch>
        </p:blipFill>
        <p:spPr>
          <a:xfrm>
            <a:off x="6116125" y="1592325"/>
            <a:ext cx="5852701" cy="42699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9" name="Shape 869"/>
        <p:cNvGrpSpPr/>
        <p:nvPr/>
      </p:nvGrpSpPr>
      <p:grpSpPr>
        <a:xfrm>
          <a:off x="0" y="0"/>
          <a:ext cx="0" cy="0"/>
          <a:chOff x="0" y="0"/>
          <a:chExt cx="0" cy="0"/>
        </a:xfrm>
      </p:grpSpPr>
      <p:sp>
        <p:nvSpPr>
          <p:cNvPr id="870" name="Google Shape;870;g27d2204a555_0_27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Accesibilidad - consejos</a:t>
            </a:r>
            <a:endParaRPr/>
          </a:p>
        </p:txBody>
      </p:sp>
      <p:sp>
        <p:nvSpPr>
          <p:cNvPr id="871" name="Google Shape;871;g27d2204a555_0_27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Aumentar el contraste del texto al máximo</a:t>
            </a:r>
            <a:endParaRPr/>
          </a:p>
          <a:p>
            <a:pPr indent="0" lvl="0" marL="0" rtl="0" algn="l">
              <a:spcBef>
                <a:spcPts val="1000"/>
              </a:spcBef>
              <a:spcAft>
                <a:spcPts val="0"/>
              </a:spcAft>
              <a:buClr>
                <a:schemeClr val="dk1"/>
              </a:buClr>
              <a:buSzPts val="1100"/>
              <a:buFont typeface="Arial"/>
              <a:buNone/>
            </a:pPr>
            <a:r>
              <a:rPr lang="es-ES"/>
              <a:t>• Usar </a:t>
            </a:r>
            <a:r>
              <a:rPr lang="es-ES"/>
              <a:t>controles</a:t>
            </a:r>
            <a:r>
              <a:rPr lang="es-ES"/>
              <a:t> grandes y simple. Tamaños mínimos de 48x48 dp</a:t>
            </a:r>
            <a:endParaRPr/>
          </a:p>
          <a:p>
            <a:pPr indent="0" lvl="0" marL="0" rtl="0" algn="l">
              <a:spcBef>
                <a:spcPts val="1000"/>
              </a:spcBef>
              <a:spcAft>
                <a:spcPts val="0"/>
              </a:spcAft>
              <a:buClr>
                <a:schemeClr val="dk1"/>
              </a:buClr>
              <a:buSzPts val="1100"/>
              <a:buFont typeface="Arial"/>
              <a:buNone/>
            </a:pPr>
            <a:r>
              <a:rPr lang="es-ES"/>
              <a:t>• Describir cada elemento de la GUI</a:t>
            </a:r>
            <a:endParaRPr/>
          </a:p>
          <a:p>
            <a:pPr indent="0" lvl="0" marL="0" rtl="0" algn="l">
              <a:spcBef>
                <a:spcPts val="1000"/>
              </a:spcBef>
              <a:spcAft>
                <a:spcPts val="0"/>
              </a:spcAft>
              <a:buClr>
                <a:schemeClr val="dk1"/>
              </a:buClr>
              <a:buSzPts val="1100"/>
              <a:buFont typeface="Arial"/>
              <a:buNone/>
            </a:pPr>
            <a:r>
              <a:rPr lang="es-ES"/>
              <a:t>• Escribe una </a:t>
            </a:r>
            <a:r>
              <a:rPr lang="es-ES"/>
              <a:t>descripción</a:t>
            </a:r>
            <a:r>
              <a:rPr lang="es-ES"/>
              <a:t> para cada elemento. Atributo </a:t>
            </a:r>
            <a:r>
              <a:rPr lang="es-ES">
                <a:solidFill>
                  <a:srgbClr val="FF0000"/>
                </a:solidFill>
              </a:rPr>
              <a:t>contentDescription </a:t>
            </a:r>
            <a:r>
              <a:rPr lang="es-ES"/>
              <a:t>en el xml de la vista. Cada elemento tiene que tener una descripción única.</a:t>
            </a:r>
            <a:endParaRPr/>
          </a:p>
          <a:p>
            <a:pPr indent="0" lvl="0" marL="0" rtl="0" algn="l">
              <a:spcBef>
                <a:spcPts val="1000"/>
              </a:spcBef>
              <a:spcAft>
                <a:spcPts val="0"/>
              </a:spcAft>
              <a:buClr>
                <a:schemeClr val="dk1"/>
              </a:buClr>
              <a:buSzPts val="1100"/>
              <a:buFont typeface="Arial"/>
              <a:buNone/>
            </a:pPr>
            <a:r>
              <a:rPr lang="es-ES"/>
              <a:t>• Si hay elementos decorativos, establecer el atributo </a:t>
            </a:r>
            <a:r>
              <a:rPr lang="es-ES">
                <a:solidFill>
                  <a:srgbClr val="FF0000"/>
                </a:solidFill>
              </a:rPr>
              <a:t>i</a:t>
            </a:r>
            <a:r>
              <a:rPr lang="es-ES">
                <a:solidFill>
                  <a:srgbClr val="FF0000"/>
                </a:solidFill>
              </a:rPr>
              <a:t>mportantForAccessibility </a:t>
            </a:r>
            <a:r>
              <a:rPr lang="es-ES"/>
              <a:t>= “no”, así el elemento no será ‘</a:t>
            </a:r>
            <a:r>
              <a:rPr lang="es-ES"/>
              <a:t>leído</a:t>
            </a:r>
            <a:r>
              <a:rPr lang="es-ES"/>
              <a:t>’</a:t>
            </a:r>
            <a:endParaRPr/>
          </a:p>
          <a:p>
            <a:pPr indent="0" lvl="0" marL="0" rtl="0" algn="l">
              <a:spcBef>
                <a:spcPts val="1000"/>
              </a:spcBef>
              <a:spcAft>
                <a:spcPts val="0"/>
              </a:spcAft>
              <a:buNone/>
            </a:pPr>
            <a:r>
              <a:t/>
            </a:r>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27d2204a555_0_28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Test de accesibilidad</a:t>
            </a:r>
            <a:endParaRPr/>
          </a:p>
        </p:txBody>
      </p:sp>
      <p:sp>
        <p:nvSpPr>
          <p:cNvPr id="877" name="Google Shape;877;g27d2204a555_0_28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Google ofrece una herramienta que te permite evaluar las accesibilidad tu app.</a:t>
            </a:r>
            <a:endParaRPr/>
          </a:p>
          <a:p>
            <a:pPr indent="0" lvl="0" marL="0" rtl="0" algn="l">
              <a:spcBef>
                <a:spcPts val="1000"/>
              </a:spcBef>
              <a:spcAft>
                <a:spcPts val="0"/>
              </a:spcAft>
              <a:buClr>
                <a:schemeClr val="dk1"/>
              </a:buClr>
              <a:buSzPts val="1100"/>
              <a:buFont typeface="Arial"/>
              <a:buNone/>
            </a:pPr>
            <a:r>
              <a:rPr lang="es-ES"/>
              <a:t>• Además te sugiere que puedes hacer para mejorarla.</a:t>
            </a:r>
            <a:endParaRPr/>
          </a:p>
          <a:p>
            <a:pPr indent="0" lvl="0" marL="0" rtl="0" algn="l">
              <a:spcBef>
                <a:spcPts val="1000"/>
              </a:spcBef>
              <a:spcAft>
                <a:spcPts val="0"/>
              </a:spcAft>
              <a:buNone/>
            </a:pPr>
            <a:r>
              <a:t/>
            </a:r>
            <a:endParaRPr/>
          </a:p>
        </p:txBody>
      </p:sp>
      <p:pic>
        <p:nvPicPr>
          <p:cNvPr id="878" name="Google Shape;878;g27d2204a555_0_280"/>
          <p:cNvPicPr preferRelativeResize="0"/>
          <p:nvPr/>
        </p:nvPicPr>
        <p:blipFill>
          <a:blip r:embed="rId3">
            <a:alphaModFix/>
          </a:blip>
          <a:stretch>
            <a:fillRect/>
          </a:stretch>
        </p:blipFill>
        <p:spPr>
          <a:xfrm>
            <a:off x="1725175" y="3396298"/>
            <a:ext cx="8967124" cy="296025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27d2204a555_0_28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Ejercicio</a:t>
            </a:r>
            <a:endParaRPr/>
          </a:p>
        </p:txBody>
      </p:sp>
      <p:sp>
        <p:nvSpPr>
          <p:cNvPr id="884" name="Google Shape;884;g27d2204a555_0_28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s-ES"/>
              <a:t>• Instala una app en tu emulador Android</a:t>
            </a:r>
            <a:endParaRPr/>
          </a:p>
          <a:p>
            <a:pPr indent="0" lvl="0" marL="0" rtl="0" algn="l">
              <a:spcBef>
                <a:spcPts val="1000"/>
              </a:spcBef>
              <a:spcAft>
                <a:spcPts val="0"/>
              </a:spcAft>
              <a:buClr>
                <a:schemeClr val="dk1"/>
              </a:buClr>
              <a:buSzPts val="1100"/>
              <a:buFont typeface="Arial"/>
              <a:buNone/>
            </a:pPr>
            <a:r>
              <a:rPr lang="es-ES"/>
              <a:t>• Instala la app Test de accesibilidad de Google</a:t>
            </a:r>
            <a:endParaRPr/>
          </a:p>
          <a:p>
            <a:pPr indent="0" lvl="0" marL="0" rtl="0" algn="l">
              <a:spcBef>
                <a:spcPts val="1000"/>
              </a:spcBef>
              <a:spcAft>
                <a:spcPts val="0"/>
              </a:spcAft>
              <a:buNone/>
            </a:pPr>
            <a:r>
              <a:rPr lang="es-ES"/>
              <a:t>• Pasa el test a la primera app instalada</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g27d2204a555_0_29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s-ES"/>
              <a:t>Accesibilidad - Talkback</a:t>
            </a:r>
            <a:endParaRPr/>
          </a:p>
        </p:txBody>
      </p:sp>
      <p:sp>
        <p:nvSpPr>
          <p:cNvPr id="890" name="Google Shape;890;g27d2204a555_0_29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spcBef>
                <a:spcPts val="1000"/>
              </a:spcBef>
              <a:spcAft>
                <a:spcPts val="0"/>
              </a:spcAft>
              <a:buNone/>
            </a:pPr>
            <a:r>
              <a:rPr lang="es-ES"/>
              <a:t>• Lector de pantalla nativo de Android.</a:t>
            </a:r>
            <a:endParaRPr/>
          </a:p>
          <a:p>
            <a:pPr indent="0" lvl="0" marL="0" rtl="0" algn="l">
              <a:spcBef>
                <a:spcPts val="1000"/>
              </a:spcBef>
              <a:spcAft>
                <a:spcPts val="0"/>
              </a:spcAft>
              <a:buNone/>
            </a:pPr>
            <a:r>
              <a:rPr lang="es-ES"/>
              <a:t>• Permite usar el dispositivo sin mirar a la pantalla. </a:t>
            </a:r>
            <a:endParaRPr/>
          </a:p>
          <a:p>
            <a:pPr indent="0" lvl="0" marL="0" rtl="0" algn="l">
              <a:spcBef>
                <a:spcPts val="1000"/>
              </a:spcBef>
              <a:spcAft>
                <a:spcPts val="0"/>
              </a:spcAft>
              <a:buNone/>
            </a:pPr>
            <a:r>
              <a:t/>
            </a:r>
            <a:endParaRPr/>
          </a:p>
          <a:p>
            <a:pPr indent="0" lvl="0" marL="0" rtl="0" algn="l">
              <a:spcBef>
                <a:spcPts val="1000"/>
              </a:spcBef>
              <a:spcAft>
                <a:spcPts val="0"/>
              </a:spcAft>
              <a:buClr>
                <a:schemeClr val="dk1"/>
              </a:buClr>
              <a:buSzPct val="39285"/>
              <a:buFont typeface="Arial"/>
              <a:buNone/>
            </a:pPr>
            <a:r>
              <a:rPr lang="es-ES"/>
              <a:t>Para iniciarlo:</a:t>
            </a:r>
            <a:endParaRPr/>
          </a:p>
          <a:p>
            <a:pPr indent="0" lvl="0" marL="0" rtl="0" algn="l">
              <a:spcBef>
                <a:spcPts val="1000"/>
              </a:spcBef>
              <a:spcAft>
                <a:spcPts val="0"/>
              </a:spcAft>
              <a:buClr>
                <a:schemeClr val="dk1"/>
              </a:buClr>
              <a:buSzPct val="39285"/>
              <a:buFont typeface="Arial"/>
              <a:buNone/>
            </a:pPr>
            <a:r>
              <a:rPr lang="es-ES"/>
              <a:t>• Ir a ajustes</a:t>
            </a:r>
            <a:endParaRPr/>
          </a:p>
          <a:p>
            <a:pPr indent="0" lvl="0" marL="0" rtl="0" algn="l">
              <a:spcBef>
                <a:spcPts val="1000"/>
              </a:spcBef>
              <a:spcAft>
                <a:spcPts val="0"/>
              </a:spcAft>
              <a:buClr>
                <a:schemeClr val="dk1"/>
              </a:buClr>
              <a:buSzPct val="39285"/>
              <a:buFont typeface="Arial"/>
              <a:buNone/>
            </a:pPr>
            <a:r>
              <a:rPr lang="es-ES"/>
              <a:t>• Accesibilidad &gt; Talkback</a:t>
            </a:r>
            <a:endParaRPr/>
          </a:p>
          <a:p>
            <a:pPr indent="0" lvl="0" marL="0" rtl="0" algn="l">
              <a:spcBef>
                <a:spcPts val="1000"/>
              </a:spcBef>
              <a:spcAft>
                <a:spcPts val="0"/>
              </a:spcAft>
              <a:buClr>
                <a:schemeClr val="dk1"/>
              </a:buClr>
              <a:buSzPct val="39285"/>
              <a:buFont typeface="Arial"/>
              <a:buNone/>
            </a:pPr>
            <a:r>
              <a:rPr lang="es-ES"/>
              <a:t>• </a:t>
            </a:r>
            <a:r>
              <a:rPr lang="es-ES"/>
              <a:t>Leerá</a:t>
            </a:r>
            <a:r>
              <a:rPr lang="es-ES"/>
              <a:t> en voz alta el elemento activo</a:t>
            </a:r>
            <a:endParaRPr/>
          </a:p>
          <a:p>
            <a:pPr indent="0" lvl="0" marL="0" rtl="0" algn="l">
              <a:spcBef>
                <a:spcPts val="1000"/>
              </a:spcBef>
              <a:spcAft>
                <a:spcPts val="0"/>
              </a:spcAft>
              <a:buClr>
                <a:schemeClr val="dk1"/>
              </a:buClr>
              <a:buSzPct val="39285"/>
              <a:buFont typeface="Arial"/>
              <a:buNone/>
            </a:pPr>
            <a:r>
              <a:rPr lang="es-ES"/>
              <a:t>• Para acceder al elemento pulsar (da igual el lugar de la pantalla que pulses)</a:t>
            </a:r>
            <a:endParaRPr/>
          </a:p>
          <a:p>
            <a:pPr indent="0" lvl="0" marL="0" rtl="0" algn="l">
              <a:spcBef>
                <a:spcPts val="1000"/>
              </a:spcBef>
              <a:spcAft>
                <a:spcPts val="0"/>
              </a:spcAft>
              <a:buClr>
                <a:schemeClr val="dk1"/>
              </a:buClr>
              <a:buSzPct val="39285"/>
              <a:buFont typeface="Arial"/>
              <a:buNone/>
            </a:pPr>
            <a:r>
              <a:rPr lang="es-ES"/>
              <a:t>• Para desplazarte de elemento tocar uno nuevo</a:t>
            </a:r>
            <a:endParaRPr/>
          </a:p>
          <a:p>
            <a:pPr indent="0" lvl="0" marL="0" rtl="0" algn="l">
              <a:spcBef>
                <a:spcPts val="10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2023-09-07T11:37:25Z</dcterms:created>
  <dc:creator>manuel prieto macias</dc:creator>
</cp:coreProperties>
</file>