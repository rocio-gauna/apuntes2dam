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</p:sldIdLst>
  <p:sldSz cy="5143500" cx="9144000"/>
  <p:notesSz cx="6858000" cy="9144000"/>
  <p:embeddedFontLst>
    <p:embeddedFont>
      <p:font typeface="Roboto Slab"/>
      <p:regular r:id="rId123"/>
      <p:bold r:id="rId124"/>
    </p:embeddedFont>
    <p:embeddedFont>
      <p:font typeface="Roboto"/>
      <p:regular r:id="rId125"/>
      <p:bold r:id="rId126"/>
      <p:italic r:id="rId127"/>
      <p:boldItalic r:id="rId1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8" Type="http://schemas.openxmlformats.org/officeDocument/2006/relationships/font" Target="fonts/Roboto-boldItalic.fntdata"/><Relationship Id="rId127" Type="http://schemas.openxmlformats.org/officeDocument/2006/relationships/font" Target="fonts/Roboto-italic.fntdata"/><Relationship Id="rId126" Type="http://schemas.openxmlformats.org/officeDocument/2006/relationships/font" Target="fonts/Roboto-bold.fntdata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Roboto-regular.fntdata"/><Relationship Id="rId29" Type="http://schemas.openxmlformats.org/officeDocument/2006/relationships/slide" Target="slides/slide24.xml"/><Relationship Id="rId124" Type="http://schemas.openxmlformats.org/officeDocument/2006/relationships/font" Target="fonts/RobotoSlab-bold.fntdata"/><Relationship Id="rId123" Type="http://schemas.openxmlformats.org/officeDocument/2006/relationships/font" Target="fonts/RobotoSlab-regular.fntdata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29e1b805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829e1b805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62cf3655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62cf3655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62cf3655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62cf3655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862cf3655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862cf3655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862cf3655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862cf3655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62cf36558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62cf3655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862cf3655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862cf3655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62cf3655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862cf3655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62cf3655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62cf3655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62cf3655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862cf3655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62cf36558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862cf3655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862cf36558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862cf36558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62cf36558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62cf3655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862cf36558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862cf36558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7117d23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7117d23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87117d23d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87117d23d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7117d23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87117d23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62cf36558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62cf36558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7117d23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87117d23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7117d23d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87117d23d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7117d23d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7117d23d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87117d23d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87117d23d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7117d23d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87117d23d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7117d23d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87117d23d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7117d23d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7117d23d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87117d23d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87117d23d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87117d23d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87117d23d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87117d23d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87117d23d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87117d23d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87117d23d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87117d23d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87117d23d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87117d23d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87117d23d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7117d23d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87117d23d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89ce7407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89ce7407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89ce7407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89ce7407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9ce7407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89ce7407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9ce74071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89ce74071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89ce7407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89ce7407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89ce74071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89ce74071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89ce74071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89ce74071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89ce7407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89ce7407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9ce74071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89ce7407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9ce74071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9ce74071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890d83123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890d83123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890d83123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890d83123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90d831239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890d831239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890d831239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890d831239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8a62a879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8a62a879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87117d23d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87117d23d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89d6916a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89d6916a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890d8312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890d8312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890d83123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890d83123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890d831239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890d83123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90d83123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890d83123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90d83123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890d83123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90d83123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890d83123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890d83123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890d83123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9534da2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e9534da2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890d831239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890d83123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890d831239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890d831239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890d831239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890d831239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890d831239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890d831239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890d831239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890d831239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890d831239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890d831239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890d831239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890d831239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890d831239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890d831239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890d831239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890d831239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890d831239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890d831239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8a62a879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8a62a879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8a62a879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8a62a879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8a62a879e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8a62a879e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e9534da24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e9534da24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e9534da24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e9534da24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e9534da2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e9534da2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e9534da2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e9534da2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8a62a879e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8a62a879e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9009af7c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9009af7c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9009af7c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9009af7c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9009af7c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9009af7c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9009af7c7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9009af7c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9009af7c7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9009af7c7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9009af7c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9009af7c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9009af7c7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9009af7c7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9009af7c7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9009af7c7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9009af7c7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9009af7c7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9009af7c7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9009af7c7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9009af7c7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9009af7c7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9009af7c7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9009af7c7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9009af7c7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9009af7c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9009af7c7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9009af7c7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9009af7c7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9009af7c7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9009af7c7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9009af7c7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9009af7c7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9009af7c7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9009af7c7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9009af7c7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90aac8e9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90aac8e9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90aac8e9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90aac8e9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90aac8e9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90aac8e9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90aac8e9a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90aac8e9a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90aac8e9a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90aac8e9a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90aac8e9a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90aac8e9a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90aac8e9a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90aac8e9a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90aac8e9a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90aac8e9a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9009af7c7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9009af7c7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9009af7c7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9009af7c7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9009af7c7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9009af7c7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90aac8e9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90aac8e9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90aac8e9a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90aac8e9a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90aac8e9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90aac8e9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90aac8e9a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90aac8e9a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90aac8e9a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90aac8e9a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90aac8e9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90aac8e9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90aac8e9a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90aac8e9a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90aac8e9a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90aac8e9a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0aac8e9a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0aac8e9a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0aac8e9a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0aac8e9a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90aac8e9a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90aac8e9a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90aac8e9a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90aac8e9a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github.com/lolop93/onclickTextExample" TargetMode="External"/><Relationship Id="rId4" Type="http://schemas.openxmlformats.org/officeDocument/2006/relationships/image" Target="../media/image2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4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developer.android.com/codelabs/basic-android-kotlin-training-birthday-card-app-image?hl=es-419#0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45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46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57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7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51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2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5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5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</a:t>
            </a:r>
            <a:r>
              <a:rPr lang="es"/>
              <a:t>A</a:t>
            </a:r>
            <a:r>
              <a:rPr lang="es"/>
              <a:t> 1: Layouts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culi para</a:t>
            </a:r>
            <a:endParaRPr i="1" sz="2100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Cozitas importantes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LinearLayout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ConstraintLayout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FrameLayout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ScrollView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RecyclerView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Cozitas importantes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Android Studio y Jetpack Compose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Actualmente disponemos de dos métodos para crear UI en Android Studio: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ViewModel tradicional, basado en la creación de una interfaz gráfica jerárquica con un fichero XML asociado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Jetpack compose, nuevo método introducido por Google en Agosto de 2021 y que permite crear interfaces con un enfoque declarativo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Android Studio y Jetpack Compose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Intentaremos ver ambos en el curso pero priorizaremos el </a:t>
            </a:r>
            <a:r>
              <a:rPr lang="es"/>
              <a:t>método</a:t>
            </a:r>
            <a:r>
              <a:rPr lang="es"/>
              <a:t> tradicional.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Jetpack compose lo veremos en un seminario dedicado a el.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Aunque Jetpack Compose resuelve de forma elegante algunos de los problemas del método tradicional comenzar con él resulta mucho complejo y abstracto sobre todo si no se está acostumbrado a la </a:t>
            </a:r>
            <a:r>
              <a:rPr lang="es">
                <a:solidFill>
                  <a:schemeClr val="accent6"/>
                </a:solidFill>
              </a:rPr>
              <a:t>programación declarativa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Ficheros de la UI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• Cada pantalla (actividad) de nuestra app tendrá como mínimo dos ficheros asociados, uno de código Kotlin donde programaremos la lógica y otro en la carpeta res/layout que define la interfaz gráfica relativa a esa actividad.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MainActivity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• Toda app se crea con una clase MainActivity que contendrá la lógica de funcionamiento de la actividad de inicio de nuestra app.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Dicha clase sobrecarga el método onCreate que se ejecuta cada vez que la app se lanza.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De momento nos centraremos en crear UI para apps con una única actividad.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básicos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este primer tema nos vamos a centrar en cómo colocar y dimensionar los elementos de nuestra UI.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Así pues trabajaremos solo con tres elementos básicos: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texto (TextView)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botones (Button)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imágenes (ImageView)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LinearLayout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2530"/>
            <a:ext cx="9144001" cy="4018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LinearLayout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LinearLayout es un tipo de layout en Android que organiza los elementos en una dirección lineal, ya sea horizontal o vertical.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</a:t>
            </a:r>
            <a:r>
              <a:rPr lang="es">
                <a:solidFill>
                  <a:schemeClr val="accent6"/>
                </a:solidFill>
              </a:rPr>
              <a:t>orientation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</a:t>
            </a:r>
            <a:r>
              <a:rPr lang="es"/>
              <a:t>n LinearLayout puede tener dos orientaciones: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>
                <a:solidFill>
                  <a:schemeClr val="accent6"/>
                </a:solidFill>
              </a:rPr>
              <a:t>horizontal </a:t>
            </a:r>
            <a:r>
              <a:rPr lang="es"/>
              <a:t>=  android:orientation="horizontal"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>
                <a:solidFill>
                  <a:schemeClr val="accent6"/>
                </a:solidFill>
              </a:rPr>
              <a:t>vertical </a:t>
            </a:r>
            <a:r>
              <a:rPr lang="es"/>
              <a:t> =  android:orientation="vertical"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 propiedad afecta la disposición de los elementos en la pantalla.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 Básicos de LinearLayout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accent6"/>
                </a:solidFill>
              </a:rPr>
              <a:t>layout_width</a:t>
            </a:r>
            <a:r>
              <a:rPr lang="es"/>
              <a:t> y </a:t>
            </a:r>
            <a:r>
              <a:rPr lang="es">
                <a:solidFill>
                  <a:schemeClr val="accent6"/>
                </a:solidFill>
              </a:rPr>
              <a:t>layout_height</a:t>
            </a:r>
            <a:r>
              <a:rPr lang="es"/>
              <a:t>: Controlan el ancho y alto del layout.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accent6"/>
                </a:solidFill>
              </a:rPr>
              <a:t>layout_gravity</a:t>
            </a:r>
            <a:r>
              <a:rPr lang="es"/>
              <a:t>: </a:t>
            </a:r>
            <a:r>
              <a:rPr lang="es"/>
              <a:t>Controla la alineación del propio elemento , es como un </a:t>
            </a:r>
            <a:r>
              <a:rPr lang="es">
                <a:solidFill>
                  <a:schemeClr val="accent6"/>
                </a:solidFill>
              </a:rPr>
              <a:t>align-self</a:t>
            </a:r>
            <a:r>
              <a:rPr lang="es"/>
              <a:t> de css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accent6"/>
                </a:solidFill>
              </a:rPr>
              <a:t>gravity </a:t>
            </a:r>
            <a:r>
              <a:rPr lang="es"/>
              <a:t>: Controla la alineación de los elementos dentro del layout.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50000"/>
              <a:buChar char="●"/>
            </a:pPr>
            <a:r>
              <a:rPr lang="es">
                <a:solidFill>
                  <a:schemeClr val="accent6"/>
                </a:solidFill>
              </a:rPr>
              <a:t>layout_weight</a:t>
            </a:r>
            <a:r>
              <a:rPr lang="es"/>
              <a:t>: Controla la distribución proporcional del espacio disponible en el layout.</a:t>
            </a:r>
            <a:endParaRPr sz="1200">
              <a:solidFill>
                <a:srgbClr val="D1D5DB"/>
              </a:solidFill>
              <a:highlight>
                <a:srgbClr val="44465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layout_width y layout_height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284675" y="1433050"/>
            <a:ext cx="8651400" cy="3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layout_width</a:t>
            </a:r>
            <a:r>
              <a:rPr lang="es"/>
              <a:t> y </a:t>
            </a:r>
            <a:r>
              <a:rPr lang="es">
                <a:solidFill>
                  <a:schemeClr val="accent6"/>
                </a:solidFill>
              </a:rPr>
              <a:t>layout_height </a:t>
            </a:r>
            <a:r>
              <a:rPr lang="es"/>
              <a:t>son atributos fundamentales en Android para controlar el ancho y alto de un layout.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Configuraciones comunes: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match_parent</a:t>
            </a:r>
            <a:r>
              <a:rPr lang="es"/>
              <a:t>: El elemento ocupa todo el espacio disponible en su </a:t>
            </a:r>
            <a:r>
              <a:rPr lang="es"/>
              <a:t>c</a:t>
            </a:r>
            <a:r>
              <a:rPr lang="es"/>
              <a:t>ontenedor.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wrap_content</a:t>
            </a:r>
            <a:r>
              <a:rPr lang="es"/>
              <a:t>: El elemento se ajusta automáticamente a su contenido.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Valores específicos en dp: Se pueden especificar dimensiones exactas.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layout_gravity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87900" y="1489825"/>
            <a:ext cx="3859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layout_gravity?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87900" y="1489825"/>
            <a:ext cx="4150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layout_gravity</a:t>
            </a:r>
            <a:r>
              <a:rPr lang="es"/>
              <a:t> es un atributo importante en un LinearLayout que controla la alineación de los elementos dentro del layout en relación con el propio layout.</a:t>
            </a:r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5260050" y="386125"/>
            <a:ext cx="3264000" cy="4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Valores de layout_gravity: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left o start</a:t>
            </a:r>
            <a:r>
              <a:rPr b="1"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Alinea los elementos a la izquierda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right o end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Alinea los elementos a la derecha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top: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Alinea los elementos en la parte superior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bottom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Alinea los elementos en la parte inferior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center_vertical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Alinea los elementos verticalmente en el centro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center_horizontal: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Alinea los elementos horizontalmente en el centro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center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Alinea los elementos tanto vertical como horizontalmente en el centro del layout.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75" y="3391513"/>
            <a:ext cx="375285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gravity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gravity?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87900" y="1489825"/>
            <a:ext cx="8368200" cy="23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gravity </a:t>
            </a:r>
            <a:r>
              <a:rPr lang="es"/>
              <a:t>es un atributo que se aplica a elementos individuales dentro de un LinearLayout y controla la alineación del contenido del elemento.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valores de </a:t>
            </a:r>
            <a:r>
              <a:rPr lang="es">
                <a:solidFill>
                  <a:schemeClr val="accent6"/>
                </a:solidFill>
              </a:rPr>
              <a:t>gravity </a:t>
            </a:r>
            <a:r>
              <a:rPr lang="es"/>
              <a:t>son similares a los de </a:t>
            </a:r>
            <a:r>
              <a:rPr lang="es">
                <a:solidFill>
                  <a:schemeClr val="accent6"/>
                </a:solidFill>
              </a:rPr>
              <a:t>layout_gravity</a:t>
            </a:r>
            <a:r>
              <a:rPr lang="es"/>
              <a:t>, pero en lugar de afectar la posición del elemento en el layout, afecta la alineación del contenido dentro del elemento.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097" y="3110850"/>
            <a:ext cx="5979625" cy="15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layout_weight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87900" y="1489825"/>
            <a:ext cx="4716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ontrola la distribución proporcional del espacio disponible en el layout.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layout_weight </a:t>
            </a:r>
            <a:r>
              <a:rPr lang="es"/>
              <a:t>es útil para crear diseños flexibles y adaptables.</a:t>
            </a:r>
            <a:endParaRPr/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600" y="874150"/>
            <a:ext cx="3469371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87900" y="1489825"/>
            <a:ext cx="3021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Recrea esto</a:t>
            </a:r>
            <a:endParaRPr/>
          </a:p>
        </p:txBody>
      </p:sp>
      <p:sp>
        <p:nvSpPr>
          <p:cNvPr id="183" name="Google Shape;183;p32"/>
          <p:cNvSpPr/>
          <p:nvPr/>
        </p:nvSpPr>
        <p:spPr>
          <a:xfrm>
            <a:off x="4572000" y="458025"/>
            <a:ext cx="3883200" cy="430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32"/>
          <p:cNvCxnSpPr/>
          <p:nvPr/>
        </p:nvCxnSpPr>
        <p:spPr>
          <a:xfrm>
            <a:off x="4582525" y="837825"/>
            <a:ext cx="387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32"/>
          <p:cNvCxnSpPr/>
          <p:nvPr/>
        </p:nvCxnSpPr>
        <p:spPr>
          <a:xfrm>
            <a:off x="4575250" y="4444100"/>
            <a:ext cx="389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32"/>
          <p:cNvCxnSpPr/>
          <p:nvPr/>
        </p:nvCxnSpPr>
        <p:spPr>
          <a:xfrm>
            <a:off x="4582525" y="1741225"/>
            <a:ext cx="38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2"/>
          <p:cNvCxnSpPr/>
          <p:nvPr/>
        </p:nvCxnSpPr>
        <p:spPr>
          <a:xfrm>
            <a:off x="4575250" y="3285725"/>
            <a:ext cx="389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2"/>
          <p:cNvCxnSpPr/>
          <p:nvPr/>
        </p:nvCxnSpPr>
        <p:spPr>
          <a:xfrm>
            <a:off x="5216350" y="1741225"/>
            <a:ext cx="0" cy="15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32"/>
          <p:cNvCxnSpPr/>
          <p:nvPr/>
        </p:nvCxnSpPr>
        <p:spPr>
          <a:xfrm>
            <a:off x="7613250" y="1770350"/>
            <a:ext cx="0" cy="15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ConstraintLayout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posicionar elementos utilizaremos un contenedor padre del tipo </a:t>
            </a:r>
            <a:r>
              <a:rPr lang="es">
                <a:solidFill>
                  <a:schemeClr val="accent6"/>
                </a:solidFill>
              </a:rPr>
              <a:t>Constraint Layout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definir la posición de un elemento se deben de especificar como mínimo dos </a:t>
            </a:r>
            <a:r>
              <a:rPr lang="es">
                <a:solidFill>
                  <a:srgbClr val="FF9900"/>
                </a:solidFill>
              </a:rPr>
              <a:t>restricciones</a:t>
            </a:r>
            <a:r>
              <a:rPr lang="es"/>
              <a:t>: una para el eje horizontal y otra para el vertical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746500"/>
            <a:ext cx="8368198" cy="2190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Restricciones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87900" y="1489825"/>
            <a:ext cx="4254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</a:t>
            </a:r>
            <a:r>
              <a:rPr lang="es"/>
              <a:t> añadir elementos si no tienen como mínimo una restricción en cada dimensión nos marcará un error.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 no se define restricción para alguno de los ejes entonces el elemento queda posicionado en x = 0 o y = 0 siendo el punto (0, 0) la esquina superior izquierda de la pantalla.</a:t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213" y="1526800"/>
            <a:ext cx="41433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usar restricciones</a:t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restricciones proporcionan un alto grado de flexibilidad en la creación de diseños de interfaz de usuario en Android. Algunas ventajas clave incluyen: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>
                <a:solidFill>
                  <a:schemeClr val="accent6"/>
                </a:solidFill>
              </a:rPr>
              <a:t>Diseños adaptables</a:t>
            </a:r>
            <a:r>
              <a:rPr lang="es"/>
              <a:t> a diferentes tamaños de pantalla y orientaciones.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Posibilidad de </a:t>
            </a:r>
            <a:r>
              <a:rPr lang="es">
                <a:solidFill>
                  <a:schemeClr val="accent6"/>
                </a:solidFill>
              </a:rPr>
              <a:t>alinear y posicionar </a:t>
            </a:r>
            <a:r>
              <a:rPr lang="es"/>
              <a:t>vistas de manera </a:t>
            </a:r>
            <a:r>
              <a:rPr lang="es">
                <a:solidFill>
                  <a:schemeClr val="accent6"/>
                </a:solidFill>
              </a:rPr>
              <a:t>precisa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>
                <a:solidFill>
                  <a:schemeClr val="accent6"/>
                </a:solidFill>
              </a:rPr>
              <a:t>Reducción</a:t>
            </a:r>
            <a:r>
              <a:rPr lang="es"/>
              <a:t> de la necesidad </a:t>
            </a:r>
            <a:r>
              <a:rPr lang="es">
                <a:solidFill>
                  <a:schemeClr val="accent6"/>
                </a:solidFill>
              </a:rPr>
              <a:t>de anidar layouts</a:t>
            </a:r>
            <a:r>
              <a:rPr lang="es"/>
              <a:t>, lo que mejora el rendimiento de la aplicación.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restricciones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restricciones se pueden aplicar en los siguientes aspectos: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Posición horizontal (izquierda y derecha).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Posición vertical (arriba y abajo).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Margen (espacio entre una vista y los bordes del layout o entre vistas adyacentes).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Dimensiones (ancho y alto).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Sintaxis de las restricciones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387900" y="1489825"/>
            <a:ext cx="4333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restricciones se definen mediante la vista de diseño de Android Studio o mediante código XML.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sintaxis básica 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/>
              <a:t>app:layout_constraint[aspect]_[position]</a:t>
            </a:r>
            <a:endParaRPr i="1"/>
          </a:p>
        </p:txBody>
      </p:sp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449" y="1617274"/>
            <a:ext cx="4056875" cy="16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58775" y="2054500"/>
            <a:ext cx="3189300" cy="21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este ejemplo, el botón se alinea en la parte inferior y a la derecha del ConstraintLayout.</a:t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850" y="233350"/>
            <a:ext cx="49530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Bias o sesgo</a:t>
            </a:r>
            <a:endParaRPr/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sesgo (bias) en un ConstraintLayout?</a:t>
            </a:r>
            <a:endParaRPr/>
          </a:p>
        </p:txBody>
      </p:sp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sesgo, conocido como "bias" en inglés, es un atributo que se puede aplicar a una restricción en un ConstraintLayout. Permite controlar la posición relativa de una vista en relación con su restricción. </a:t>
            </a:r>
            <a:br>
              <a:rPr lang="es"/>
            </a:br>
            <a:br>
              <a:rPr lang="es"/>
            </a:br>
            <a:r>
              <a:rPr lang="es"/>
              <a:t>El sesgo determina la fracción de espacio que la vista ocupa entre sus restricciones.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del Sesgo</a:t>
            </a:r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sesgo se utiliza para ajustar la posición relativa de una vista dentro del layout sin cambiar sus restricciones principales. Permite que una vista se "sesgue" hacia uno de los lados o hacia el centro del layout, según sea necesario.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 de Sesgo</a:t>
            </a:r>
            <a:endParaRPr/>
          </a:p>
        </p:txBody>
      </p:sp>
      <p:sp>
        <p:nvSpPr>
          <p:cNvPr id="262" name="Google Shape;262;p4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valores de sesgo se establecen en una escala de 0 a 1: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0</a:t>
            </a:r>
            <a:r>
              <a:rPr lang="es"/>
              <a:t>: La vista se ajusta completamente hacia la restricción de inicio (izquierda o arriba).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0.5</a:t>
            </a:r>
            <a:r>
              <a:rPr lang="es"/>
              <a:t>: La vista se coloca en el centro entre sus restricciones.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1</a:t>
            </a:r>
            <a:r>
              <a:rPr lang="es"/>
              <a:t>: La vista se ajusta completamente hacia la restricción de fin (derecha o abajo).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50" y="549574"/>
            <a:ext cx="8145100" cy="39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Cadenas</a:t>
            </a:r>
            <a:endParaRPr/>
          </a:p>
        </p:txBody>
      </p:sp>
      <p:sp>
        <p:nvSpPr>
          <p:cNvPr id="273" name="Google Shape;273;p4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son las Cadenas en ConstraintLayout?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387900" y="1489825"/>
            <a:ext cx="4405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ConstraintLayout, una cadena (chain en inglés) es un concepto que se utiliza para agrupar y gestionar la alineación y la distribución de vistas relacionadas en una interfaz de usuario.</a:t>
            </a:r>
            <a:endParaRPr/>
          </a:p>
        </p:txBody>
      </p:sp>
      <p:pic>
        <p:nvPicPr>
          <p:cNvPr id="280" name="Google Shape;2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450" y="1208300"/>
            <a:ext cx="3754650" cy="36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Cadenas</a:t>
            </a:r>
            <a:endParaRPr/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ConstraintLayout, existen dos tipos principales de cadenas: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Cadena </a:t>
            </a:r>
            <a:r>
              <a:rPr lang="es">
                <a:solidFill>
                  <a:schemeClr val="accent6"/>
                </a:solidFill>
              </a:rPr>
              <a:t>horizontal</a:t>
            </a:r>
            <a:r>
              <a:rPr lang="es"/>
              <a:t>: Cuando se alinean las vistas en el eje horizontal, ya sea de forma consecutiva o distribuida.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Cadena </a:t>
            </a:r>
            <a:r>
              <a:rPr lang="es">
                <a:solidFill>
                  <a:schemeClr val="accent6"/>
                </a:solidFill>
              </a:rPr>
              <a:t>vertical</a:t>
            </a:r>
            <a:r>
              <a:rPr lang="es"/>
              <a:t>: Cuando se alinean las vistas en el eje vertical, de manera similar a la cadena horizontal.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387900" y="188175"/>
            <a:ext cx="8368200" cy="95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cadenas se pueden diseñar de una de las siguientes maneras:</a:t>
            </a:r>
            <a:endParaRPr/>
          </a:p>
        </p:txBody>
      </p:sp>
      <p:sp>
        <p:nvSpPr>
          <p:cNvPr id="292" name="Google Shape;292;p49"/>
          <p:cNvSpPr txBox="1"/>
          <p:nvPr>
            <p:ph idx="1" type="body"/>
          </p:nvPr>
        </p:nvSpPr>
        <p:spPr>
          <a:xfrm>
            <a:off x="387900" y="1489825"/>
            <a:ext cx="368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Spread</a:t>
            </a:r>
            <a:r>
              <a:rPr lang="es"/>
              <a:t>: Las vistas se distribuyen uniformemente (tras restar los márgenes). Es el valor predeterminado.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Spread inside</a:t>
            </a:r>
            <a:r>
              <a:rPr lang="es"/>
              <a:t>: La primera y la última vista se fijan a las restricciones de cada extremo de la cadena y el resto se distribuye de manera uniforme.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4496825" y="1489825"/>
            <a:ext cx="368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Packed</a:t>
            </a:r>
            <a:r>
              <a:rPr lang="es"/>
              <a:t>: Se agrupan las vistas (una vez que se restan los márgenes). Luego puedes ajustar el sesgo de toda la cadena (izquierda/derecha o arriba/abajo) cambiando el sesgo de la vista de extremo de la cadena.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Weighted</a:t>
            </a:r>
            <a:endParaRPr/>
          </a:p>
        </p:txBody>
      </p:sp>
      <p:sp>
        <p:nvSpPr>
          <p:cNvPr id="299" name="Google Shape;299;p50"/>
          <p:cNvSpPr txBox="1"/>
          <p:nvPr>
            <p:ph idx="1" type="body"/>
          </p:nvPr>
        </p:nvSpPr>
        <p:spPr>
          <a:xfrm>
            <a:off x="387900" y="1413750"/>
            <a:ext cx="8368200" cy="3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se define la cadena como spread o spread inside, puedes configurar una o más vistas como "Match Constraints" (0dp) para llenar el espacio restante.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 forma predeterminada, se distribuye el espacio uniformemente entre las vistas configuradas como "Match Constraints", pero puedes asignar una ponderación de importancia a cada vista con los atributos </a:t>
            </a:r>
            <a:r>
              <a:rPr lang="es">
                <a:solidFill>
                  <a:schemeClr val="accent6"/>
                </a:solidFill>
              </a:rPr>
              <a:t>layout_constraintHorizontal_weight </a:t>
            </a:r>
            <a:r>
              <a:rPr lang="es"/>
              <a:t>y </a:t>
            </a:r>
            <a:r>
              <a:rPr lang="es">
                <a:solidFill>
                  <a:schemeClr val="accent6"/>
                </a:solidFill>
              </a:rPr>
              <a:t>layout_constraintVertical_weight</a:t>
            </a:r>
            <a:r>
              <a:rPr lang="es"/>
              <a:t>. Esto funciona de la misma manera que </a:t>
            </a:r>
            <a:r>
              <a:rPr lang="es">
                <a:solidFill>
                  <a:srgbClr val="FF9900"/>
                </a:solidFill>
              </a:rPr>
              <a:t>layout_weight </a:t>
            </a:r>
            <a:r>
              <a:rPr lang="es"/>
              <a:t>en un diseño lineal. Por lo tanto, la vista con el valor de ponderación más alto obtiene la mayor cantidad de espacio; las vistas que tengan la misma ponderación obtendrán la misma cantidad de espacio.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0141"/>
            <a:ext cx="9143999" cy="3403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7252"/>
            <a:ext cx="9143999" cy="414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Cómo</a:t>
            </a:r>
            <a:r>
              <a:rPr lang="es"/>
              <a:t> lo conseguimos?</a:t>
            </a:r>
            <a:endParaRPr/>
          </a:p>
        </p:txBody>
      </p:sp>
      <p:sp>
        <p:nvSpPr>
          <p:cNvPr id="318" name="Google Shape;318;p5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crear cadenas, no hace falta crear “cadenas” como tal sino poner bien las restricciones de los elementos para que vayan en fila o en columna y alinear sus Starts y Ends junto a sus Bottom y Top para poder aplicarle </a:t>
            </a:r>
            <a:r>
              <a:rPr lang="es"/>
              <a:t>configuración</a:t>
            </a:r>
            <a:r>
              <a:rPr lang="es"/>
              <a:t> a la cadena.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754"/>
            <a:ext cx="9143999" cy="425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8893"/>
            <a:ext cx="9144000" cy="326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Guidelines</a:t>
            </a:r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8" y="200025"/>
            <a:ext cx="87725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son las Guías en ConstraintLayout?</a:t>
            </a:r>
            <a:endParaRPr/>
          </a:p>
        </p:txBody>
      </p:sp>
      <p:sp>
        <p:nvSpPr>
          <p:cNvPr id="349" name="Google Shape;349;p5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guías son elementos de ayuda en ConstraintLayout que actúan como puntos de referencia invisibles para colocar y alinear vistas. Son líneas virtuales que ayudan a diseñar interfaces de usuario flexibles y responsivas.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Permiten crear diseños adaptables a diferentes tamaños de pantalla y orientaciones.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Facilitan la alineación y distribución uniforme de elementos en la interfaz de usuario.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6285"/>
            <a:ext cx="9144000" cy="4150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crear un botón que ocupe el 50% del ancho de la pantalla y 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tenga el 25% de margen a la izquierda y derecha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pic>
        <p:nvPicPr>
          <p:cNvPr id="367" name="Google Shape;3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674" y="189413"/>
            <a:ext cx="2872475" cy="47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1"/>
          <p:cNvSpPr txBox="1"/>
          <p:nvPr/>
        </p:nvSpPr>
        <p:spPr>
          <a:xfrm>
            <a:off x="713975" y="1828650"/>
            <a:ext cx="26373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Intentad hacerlo con LinearLayout exclusivamente y luego con ConstraintLayout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Tamaño</a:t>
            </a:r>
            <a:endParaRPr/>
          </a:p>
        </p:txBody>
      </p:sp>
      <p:sp>
        <p:nvSpPr>
          <p:cNvPr id="374" name="Google Shape;374;p6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• Existen múltiples métodos para definir el tamaño de un elemento: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Establecer un tamaño fijo al elemento en dp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Hacer que el tamaño del elemento se ajuste al contenido (wrap_content)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Hacer que el tamaño se ajuste a sus restricciones (0dp)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En porcentajes, usando </a:t>
            </a:r>
            <a:r>
              <a:rPr lang="es">
                <a:solidFill>
                  <a:schemeClr val="accent6"/>
                </a:solidFill>
              </a:rPr>
              <a:t>layout_constraintWidth_percent</a:t>
            </a:r>
            <a:r>
              <a:rPr lang="es"/>
              <a:t> y </a:t>
            </a:r>
            <a:r>
              <a:rPr lang="es">
                <a:solidFill>
                  <a:schemeClr val="accent6"/>
                </a:solidFill>
              </a:rPr>
              <a:t>layout_constraintHeight_percent</a:t>
            </a:r>
            <a:r>
              <a:rPr lang="es"/>
              <a:t> (y teniendo layout_width o layout_height a 0dp)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En cadenas, mediante pesos (</a:t>
            </a:r>
            <a:r>
              <a:rPr lang="es">
                <a:solidFill>
                  <a:schemeClr val="accent6"/>
                </a:solidFill>
              </a:rPr>
              <a:t>layout_constraintHorizontal_weight</a:t>
            </a:r>
            <a:r>
              <a:rPr lang="es"/>
              <a:t> o </a:t>
            </a:r>
            <a:r>
              <a:rPr lang="es">
                <a:solidFill>
                  <a:schemeClr val="accent6"/>
                </a:solidFill>
              </a:rPr>
              <a:t>layout_constraintVertical_weight </a:t>
            </a:r>
            <a:r>
              <a:rPr lang="es"/>
              <a:t>) podemos crear dimensiones relativas entre elementos (de nuevo poniendo layout_width o layout_height a 0dp)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• Una dimensión con algún método de los anteriores y la otra como proporción de la primera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Padding y Margin</a:t>
            </a:r>
            <a:endParaRPr/>
          </a:p>
        </p:txBody>
      </p:sp>
      <p:sp>
        <p:nvSpPr>
          <p:cNvPr id="380" name="Google Shape;380;p6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Padding?</a:t>
            </a:r>
            <a:endParaRPr/>
          </a:p>
        </p:txBody>
      </p:sp>
      <p:sp>
        <p:nvSpPr>
          <p:cNvPr id="386" name="Google Shape;386;p64"/>
          <p:cNvSpPr txBox="1"/>
          <p:nvPr>
            <p:ph idx="1" type="body"/>
          </p:nvPr>
        </p:nvSpPr>
        <p:spPr>
          <a:xfrm>
            <a:off x="387900" y="1489825"/>
            <a:ext cx="8368200" cy="22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padding es un atributo que se puede aplicar a elementos en Android, como vistas y layouts. Define el espacio vacío entre el contenido del elemento y sus bordes exteriores.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padding se utiliza para ajustar el espacio alrededor del contenido de un elemento sin cambiar su tamaño o posición. Puede aplicarse tanto horizontal como verticalmente.</a:t>
            </a:r>
            <a:endParaRPr/>
          </a:p>
        </p:txBody>
      </p:sp>
      <p:pic>
        <p:nvPicPr>
          <p:cNvPr id="387" name="Google Shape;38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575" y="3412400"/>
            <a:ext cx="44958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Margin?</a:t>
            </a:r>
            <a:endParaRPr/>
          </a:p>
        </p:txBody>
      </p:sp>
      <p:sp>
        <p:nvSpPr>
          <p:cNvPr id="393" name="Google Shape;393;p6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margin es un atributo que se puede aplicar a elementos en Android, como vistas y layouts. Define el espacio vacío entre el elemento y sus elementos hermanos o el borde del contenedor padre.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margin se utiliza para ajustar el espacio entre un elemento y los elementos circundantes o el borde del contenedor. Puede aplicarse tanto horizontal como verticalmente.</a:t>
            </a:r>
            <a:endParaRPr/>
          </a:p>
        </p:txBody>
      </p:sp>
      <p:pic>
        <p:nvPicPr>
          <p:cNvPr id="394" name="Google Shape;39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238" y="3403575"/>
            <a:ext cx="328612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FrameLayout</a:t>
            </a:r>
            <a:endParaRPr/>
          </a:p>
        </p:txBody>
      </p:sp>
      <p:sp>
        <p:nvSpPr>
          <p:cNvPr id="400" name="Google Shape;400;p6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FrameLayout?</a:t>
            </a:r>
            <a:endParaRPr/>
          </a:p>
        </p:txBody>
      </p:sp>
      <p:sp>
        <p:nvSpPr>
          <p:cNvPr id="406" name="Google Shape;406;p6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FrameLayout es un tipo de diseño (layout) en Android que permite </a:t>
            </a:r>
            <a:r>
              <a:rPr lang="es">
                <a:solidFill>
                  <a:schemeClr val="accent6"/>
                </a:solidFill>
              </a:rPr>
              <a:t>superponer varias vistas</a:t>
            </a:r>
            <a:r>
              <a:rPr lang="es"/>
              <a:t> en un mismo espacio. A menudo se utiliza cuando se desea apilar vistas una encima de otra, como en la creación de interfaces de usuario simples.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 de FrameLayout</a:t>
            </a:r>
            <a:endParaRPr/>
          </a:p>
        </p:txBody>
      </p:sp>
      <p:sp>
        <p:nvSpPr>
          <p:cNvPr id="412" name="Google Shape;412;p6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FrameLayout es conocido por su simplicidad y eficiencia: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utiliza comúnmente para mostrar </a:t>
            </a:r>
            <a:r>
              <a:rPr lang="es">
                <a:solidFill>
                  <a:schemeClr val="accent6"/>
                </a:solidFill>
              </a:rPr>
              <a:t>una sola vista</a:t>
            </a:r>
            <a:r>
              <a:rPr lang="es"/>
              <a:t> a la vez o </a:t>
            </a:r>
            <a:r>
              <a:rPr lang="es">
                <a:solidFill>
                  <a:schemeClr val="accent6"/>
                </a:solidFill>
              </a:rPr>
              <a:t>superponer vistas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vistas se superponen en el orden en que se agregan al diseño.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gestiona automáticamente la disposición de vistas, lo que proporciona un mayor control al desarrollador.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9"/>
          <p:cNvSpPr txBox="1"/>
          <p:nvPr>
            <p:ph idx="1" type="body"/>
          </p:nvPr>
        </p:nvSpPr>
        <p:spPr>
          <a:xfrm>
            <a:off x="387900" y="1489825"/>
            <a:ext cx="4150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FrameLayout es útil en situaciones como la creación de aplicaciones con pestañas, vistas emergentes y capas superpuestas.</a:t>
            </a:r>
            <a:endParaRPr/>
          </a:p>
        </p:txBody>
      </p:sp>
      <p:pic>
        <p:nvPicPr>
          <p:cNvPr id="419" name="Google Shape;41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100" y="1181988"/>
            <a:ext cx="3932651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Alineación en FrameLayout</a:t>
            </a:r>
            <a:endParaRPr/>
          </a:p>
        </p:txBody>
      </p:sp>
      <p:sp>
        <p:nvSpPr>
          <p:cNvPr id="425" name="Google Shape;425;p70"/>
          <p:cNvSpPr txBox="1"/>
          <p:nvPr>
            <p:ph idx="1" type="body"/>
          </p:nvPr>
        </p:nvSpPr>
        <p:spPr>
          <a:xfrm>
            <a:off x="387900" y="1489825"/>
            <a:ext cx="4405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tienes un FrameLayout en tu archivo XML y deseas alinear dos vistas, una en la parte superior y otra en la parte inferior del FrameLayout: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 alineación la haremos con </a:t>
            </a:r>
            <a:r>
              <a:rPr lang="es">
                <a:solidFill>
                  <a:schemeClr val="accent6"/>
                </a:solidFill>
              </a:rPr>
              <a:t>layout_gravity </a:t>
            </a:r>
            <a:r>
              <a:rPr lang="es"/>
              <a:t>y usaremos paddings y margins</a:t>
            </a:r>
            <a:endParaRPr/>
          </a:p>
        </p:txBody>
      </p:sp>
      <p:pic>
        <p:nvPicPr>
          <p:cNvPr id="426" name="Google Shape;42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200" y="1209100"/>
            <a:ext cx="3935999" cy="319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Consideraciones</a:t>
            </a:r>
            <a:endParaRPr/>
          </a:p>
        </p:txBody>
      </p:sp>
      <p:sp>
        <p:nvSpPr>
          <p:cNvPr id="432" name="Google Shape;432;p7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importante recordar que FrameLayout no es ideal para diseños complejos o alineaciones precisas, ya que las vistas se superponen sin un sistema de posicionamiento automático.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FrameLayout es uno de los diseños (layouts) más comunes para alojar </a:t>
            </a:r>
            <a:r>
              <a:rPr lang="es">
                <a:solidFill>
                  <a:schemeClr val="accent6"/>
                </a:solidFill>
              </a:rPr>
              <a:t>fragmentos </a:t>
            </a:r>
            <a:r>
              <a:rPr lang="es"/>
              <a:t>en Android. Los fragmentos son componentes modulares que pueden ser reutilizados en diferentes partes de una aplicación Android.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Action Bar</a:t>
            </a:r>
            <a:endParaRPr/>
          </a:p>
        </p:txBody>
      </p:sp>
      <p:sp>
        <p:nvSpPr>
          <p:cNvPr id="438" name="Google Shape;438;p7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98" y="422550"/>
            <a:ext cx="3639800" cy="410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349" y="422550"/>
            <a:ext cx="4153850" cy="40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"/>
          <p:cNvSpPr txBox="1"/>
          <p:nvPr>
            <p:ph type="title"/>
          </p:nvPr>
        </p:nvSpPr>
        <p:spPr>
          <a:xfrm>
            <a:off x="322325" y="1748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borramos</a:t>
            </a:r>
            <a:endParaRPr/>
          </a:p>
        </p:txBody>
      </p:sp>
      <p:sp>
        <p:nvSpPr>
          <p:cNvPr id="451" name="Google Shape;451;p7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00" y="955662"/>
            <a:ext cx="8633200" cy="392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View</a:t>
            </a:r>
            <a:endParaRPr/>
          </a:p>
        </p:txBody>
      </p:sp>
      <p:sp>
        <p:nvSpPr>
          <p:cNvPr id="458" name="Google Shape;458;p7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Componente View en Android?</a:t>
            </a:r>
            <a:endParaRPr/>
          </a:p>
        </p:txBody>
      </p:sp>
      <p:sp>
        <p:nvSpPr>
          <p:cNvPr id="464" name="Google Shape;464;p7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Android, "View" se refiere a la </a:t>
            </a:r>
            <a:r>
              <a:rPr lang="es">
                <a:solidFill>
                  <a:schemeClr val="accent6"/>
                </a:solidFill>
              </a:rPr>
              <a:t>clase base</a:t>
            </a:r>
            <a:r>
              <a:rPr lang="es"/>
              <a:t> que representa un elemento de la interfaz de usuario. Es la unidad básica con la que se construye la interfaz de usuario de una aplicación Android.</a:t>
            </a:r>
            <a:r>
              <a:rPr lang="es">
                <a:solidFill>
                  <a:schemeClr val="accent6"/>
                </a:solidFill>
              </a:rPr>
              <a:t> Todas las vistas heredan de la clase View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 de View</a:t>
            </a:r>
            <a:endParaRPr/>
          </a:p>
        </p:txBody>
      </p:sp>
      <p:sp>
        <p:nvSpPr>
          <p:cNvPr id="470" name="Google Shape;470;p77"/>
          <p:cNvSpPr txBox="1"/>
          <p:nvPr>
            <p:ph idx="1" type="body"/>
          </p:nvPr>
        </p:nvSpPr>
        <p:spPr>
          <a:xfrm>
            <a:off x="387900" y="1489825"/>
            <a:ext cx="83682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Representación visual</a:t>
            </a:r>
            <a:r>
              <a:rPr lang="es"/>
              <a:t>: Una vista puede representar elementos visuales como botones, texto, imágenes, cuadros de entrada,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Eventos y acciones</a:t>
            </a:r>
            <a:r>
              <a:rPr lang="es"/>
              <a:t>: Las vistas pueden responder a eventos táctiles o interacciones del usuario, como toques, deslizamientos y clics.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Propiedades y atributos</a:t>
            </a:r>
            <a:r>
              <a:rPr lang="es"/>
              <a:t>: Las vistas tienen propiedades configurables, como color de fondo, tamaño, texto, etc.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ejemplos de vistas comunes incluyen:</a:t>
            </a:r>
            <a:endParaRPr/>
          </a:p>
        </p:txBody>
      </p:sp>
      <p:sp>
        <p:nvSpPr>
          <p:cNvPr id="476" name="Google Shape;476;p7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Button</a:t>
            </a:r>
            <a:r>
              <a:rPr lang="es"/>
              <a:t>: Representa un botón que el usuario puede hacer clic.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TextView</a:t>
            </a:r>
            <a:r>
              <a:rPr lang="es"/>
              <a:t>: Muestra texto en la interfaz de usuario.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ImageView</a:t>
            </a:r>
            <a:r>
              <a:rPr lang="es"/>
              <a:t>: Muestra imágenes o iconos.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EditText</a:t>
            </a:r>
            <a:r>
              <a:rPr lang="es"/>
              <a:t>: Permite al usuario ingresar texto.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6"/>
                </a:solidFill>
              </a:rPr>
              <a:t>RecyclerView</a:t>
            </a:r>
            <a:r>
              <a:rPr lang="es"/>
              <a:t>: Se utiliza para mostrar listas o cuadros de elementos en desplazamiento.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Usando View</a:t>
            </a:r>
            <a:endParaRPr/>
          </a:p>
        </p:txBody>
      </p:sp>
      <p:sp>
        <p:nvSpPr>
          <p:cNvPr id="482" name="Google Shape;482;p79"/>
          <p:cNvSpPr txBox="1"/>
          <p:nvPr>
            <p:ph idx="1" type="body"/>
          </p:nvPr>
        </p:nvSpPr>
        <p:spPr>
          <a:xfrm>
            <a:off x="387900" y="1489825"/>
            <a:ext cx="4136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Recuerda que &lt;</a:t>
            </a:r>
            <a:r>
              <a:rPr lang="es">
                <a:solidFill>
                  <a:schemeClr val="accent6"/>
                </a:solidFill>
              </a:rPr>
              <a:t>View</a:t>
            </a:r>
            <a:r>
              <a:rPr lang="es"/>
              <a:t>&gt; es principalmente un contenedor y no tiene ninguna representación visual por sí mismo, por lo que su uso se centra en la disposición y el diseño en la interfaz de usuario.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Podríamos</a:t>
            </a:r>
            <a:r>
              <a:rPr lang="es"/>
              <a:t> hacer lo mismo con el elemento </a:t>
            </a:r>
            <a:r>
              <a:rPr lang="es">
                <a:solidFill>
                  <a:schemeClr val="accent6"/>
                </a:solidFill>
              </a:rPr>
              <a:t>Space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83" name="Google Shape;48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688" y="1489825"/>
            <a:ext cx="42195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700" y="2859200"/>
            <a:ext cx="408622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elemento &lt;</a:t>
            </a:r>
            <a:r>
              <a:rPr lang="es">
                <a:solidFill>
                  <a:schemeClr val="accent6"/>
                </a:solidFill>
              </a:rPr>
              <a:t>Space</a:t>
            </a:r>
            <a:r>
              <a:rPr lang="es"/>
              <a:t>&gt; en Android se utiliza para agregar espacios en blanco específicos entre las vistas en un diseño sin necesidad de usar una vista vacía </a:t>
            </a:r>
            <a:r>
              <a:rPr lang="es"/>
              <a:t>cómo</a:t>
            </a:r>
            <a:r>
              <a:rPr lang="es"/>
              <a:t> &lt;View&gt;.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este caso, &lt;Space&gt; se usa de la misma manera que &lt;View&gt; para crear un espacio en blanco de 20dp entre otras vistas dentro de un LinearLayout. La ventaja de usar &lt;Space&gt; es que su propósito esencial es crear espacios en blanco y se considera </a:t>
            </a:r>
            <a:r>
              <a:rPr lang="es">
                <a:solidFill>
                  <a:schemeClr val="accent6"/>
                </a:solidFill>
              </a:rPr>
              <a:t>más eficiente en términos de recursos</a:t>
            </a:r>
            <a:r>
              <a:rPr lang="es"/>
              <a:t> que una vista vacía </a:t>
            </a:r>
            <a:r>
              <a:rPr lang="es"/>
              <a:t>cómo</a:t>
            </a:r>
            <a:r>
              <a:rPr lang="es"/>
              <a:t> &lt;View&gt;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1"/>
          <p:cNvSpPr txBox="1"/>
          <p:nvPr>
            <p:ph type="title"/>
          </p:nvPr>
        </p:nvSpPr>
        <p:spPr>
          <a:xfrm>
            <a:off x="387900" y="225850"/>
            <a:ext cx="8368200" cy="9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Referenciar elementos en el código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actividad</a:t>
            </a:r>
            <a:endParaRPr/>
          </a:p>
        </p:txBody>
      </p:sp>
      <p:sp>
        <p:nvSpPr>
          <p:cNvPr id="496" name="Google Shape;496;p8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2"/>
          <p:cNvSpPr txBox="1"/>
          <p:nvPr>
            <p:ph type="title"/>
          </p:nvPr>
        </p:nvSpPr>
        <p:spPr>
          <a:xfrm>
            <a:off x="387900" y="240425"/>
            <a:ext cx="8368200" cy="9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2"/>
          <p:cNvSpPr txBox="1"/>
          <p:nvPr>
            <p:ph idx="1" type="body"/>
          </p:nvPr>
        </p:nvSpPr>
        <p:spPr>
          <a:xfrm>
            <a:off x="387900" y="1387825"/>
            <a:ext cx="65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que ya sabemos insertar, posicionar y dimensionar elementos nos queda por ver cómo podemos hacer referencia a ellos dentro del código de nuestra actividad: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Dar un ID al elemento que queremos referenciar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Utilizar </a:t>
            </a:r>
            <a:r>
              <a:rPr lang="es">
                <a:solidFill>
                  <a:schemeClr val="accent6"/>
                </a:solidFill>
              </a:rPr>
              <a:t>findViewById()</a:t>
            </a:r>
            <a:r>
              <a:rPr lang="es"/>
              <a:t> para seleccionar el elemento de la UI dentro de nuestro código, por ejemplo para acceder a un TextView y un Botón con los ID tv_veces y bt_incrementar.</a:t>
            </a:r>
            <a:endParaRPr/>
          </a:p>
        </p:txBody>
      </p:sp>
      <p:pic>
        <p:nvPicPr>
          <p:cNvPr id="503" name="Google Shape;50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775" y="4351450"/>
            <a:ext cx="6680699" cy="5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82"/>
          <p:cNvSpPr txBox="1"/>
          <p:nvPr/>
        </p:nvSpPr>
        <p:spPr>
          <a:xfrm>
            <a:off x="7095850" y="2382325"/>
            <a:ext cx="18288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 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un objeto que contiene todos los ID de los recursos (elementos de la interfaz,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imágenes, ficheros de audio y video...) del proyecto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Una vez tengamos el objeto que referencia al elemento de IU podemos utilizar sus métodos, como por ejemplo .</a:t>
            </a:r>
            <a:r>
              <a:rPr lang="es">
                <a:solidFill>
                  <a:schemeClr val="accent6"/>
                </a:solidFill>
              </a:rPr>
              <a:t>setText</a:t>
            </a:r>
            <a:r>
              <a:rPr lang="es"/>
              <a:t> para objetos de la clase TextView o .</a:t>
            </a:r>
            <a:r>
              <a:rPr lang="es">
                <a:solidFill>
                  <a:schemeClr val="accent6"/>
                </a:solidFill>
              </a:rPr>
              <a:t>onClick</a:t>
            </a:r>
            <a:r>
              <a:rPr lang="es"/>
              <a:t> para objetos de la clase Button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onclick en XML</a:t>
            </a:r>
            <a:endParaRPr/>
          </a:p>
        </p:txBody>
      </p:sp>
      <p:pic>
        <p:nvPicPr>
          <p:cNvPr id="516" name="Google Shape;51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74" y="1891387"/>
            <a:ext cx="3857475" cy="20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902" y="1325638"/>
            <a:ext cx="4921000" cy="32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5"/>
          <p:cNvSpPr txBox="1"/>
          <p:nvPr>
            <p:ph type="title"/>
          </p:nvPr>
        </p:nvSpPr>
        <p:spPr>
          <a:xfrm>
            <a:off x="334525" y="1083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onclick en kotlin </a:t>
            </a:r>
            <a:endParaRPr/>
          </a:p>
        </p:txBody>
      </p:sp>
      <p:pic>
        <p:nvPicPr>
          <p:cNvPr id="523" name="Google Shape;52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99" y="794413"/>
            <a:ext cx="8119251" cy="421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Porque la f ?</a:t>
            </a:r>
            <a:endParaRPr/>
          </a:p>
        </p:txBody>
      </p:sp>
      <p:sp>
        <p:nvSpPr>
          <p:cNvPr id="529" name="Google Shape;529;p8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Kotlin, cuando asignas un número decimal (por ejemplo, 24) a una propiedad o variable que espera un valor de tipo </a:t>
            </a:r>
            <a:r>
              <a:rPr lang="es">
                <a:solidFill>
                  <a:schemeClr val="accent6"/>
                </a:solidFill>
              </a:rPr>
              <a:t>Float</a:t>
            </a:r>
            <a:r>
              <a:rPr lang="es"/>
              <a:t>, es necesario agregar una f al final del número para indicar que se trata de un valor de tipo Float. Esto se hace para evitar cualquier ambigüedad entre Float y Double, ya que Kotlin considera los números decimales como Double por defecto.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Ayuda</a:t>
            </a:r>
            <a:endParaRPr/>
          </a:p>
        </p:txBody>
      </p:sp>
      <p:sp>
        <p:nvSpPr>
          <p:cNvPr id="535" name="Google Shape;535;p87"/>
          <p:cNvSpPr txBox="1"/>
          <p:nvPr>
            <p:ph idx="1" type="body"/>
          </p:nvPr>
        </p:nvSpPr>
        <p:spPr>
          <a:xfrm>
            <a:off x="387900" y="1489825"/>
            <a:ext cx="4437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https://github.com/lolop93/onclickTextExample</a:t>
            </a:r>
            <a:endParaRPr/>
          </a:p>
        </p:txBody>
      </p:sp>
      <p:pic>
        <p:nvPicPr>
          <p:cNvPr id="536" name="Google Shape;53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2550" y="1144125"/>
            <a:ext cx="37909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contador de pulsaciones</a:t>
            </a:r>
            <a:endParaRPr/>
          </a:p>
        </p:txBody>
      </p:sp>
      <p:sp>
        <p:nvSpPr>
          <p:cNvPr id="542" name="Google Shape;542;p88"/>
          <p:cNvSpPr txBox="1"/>
          <p:nvPr>
            <p:ph idx="1" type="body"/>
          </p:nvPr>
        </p:nvSpPr>
        <p:spPr>
          <a:xfrm>
            <a:off x="387900" y="1489825"/>
            <a:ext cx="4580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• Crea una app con un botón y dos cadenas de texto.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La primera cadena de texto ha de tener el valor “0”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• Cada vez que pulses el botón el texto se ha de incrementar en uno y cambiar el mensaje toast del texto con el </a:t>
            </a:r>
            <a:r>
              <a:rPr lang="es"/>
              <a:t>número</a:t>
            </a:r>
            <a:endParaRPr/>
          </a:p>
        </p:txBody>
      </p:sp>
      <p:pic>
        <p:nvPicPr>
          <p:cNvPr id="543" name="Google Shape;54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100" y="1144125"/>
            <a:ext cx="2172740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ImageView</a:t>
            </a:r>
            <a:endParaRPr/>
          </a:p>
        </p:txBody>
      </p:sp>
      <p:sp>
        <p:nvSpPr>
          <p:cNvPr id="549" name="Google Shape;549;p8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es?</a:t>
            </a:r>
            <a:endParaRPr/>
          </a:p>
        </p:txBody>
      </p:sp>
      <p:sp>
        <p:nvSpPr>
          <p:cNvPr id="555" name="Google Shape;555;p9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ImageView es un widget utilizado para mostrar imágenes en una aplicación de Android.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Permite mostrar imágenes almacenadas en recursos, en línea o desde la galería de dispositivos.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Añadir </a:t>
            </a:r>
            <a:r>
              <a:rPr lang="es"/>
              <a:t>imágenes</a:t>
            </a:r>
            <a:endParaRPr/>
          </a:p>
        </p:txBody>
      </p:sp>
      <p:pic>
        <p:nvPicPr>
          <p:cNvPr id="561" name="Google Shape;56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3" y="1385000"/>
            <a:ext cx="4745200" cy="335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9953" y="2132800"/>
            <a:ext cx="3706097" cy="26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5075" y="144750"/>
            <a:ext cx="2312210" cy="18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Atributos Básicos de ImageView</a:t>
            </a:r>
            <a:endParaRPr/>
          </a:p>
        </p:txBody>
      </p:sp>
      <p:sp>
        <p:nvSpPr>
          <p:cNvPr id="569" name="Google Shape;569;p9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src</a:t>
            </a:r>
            <a:r>
              <a:rPr lang="es"/>
              <a:t>: El atributo src se utiliza para establecer la fuente de la imagen que se mostrará en ImageView.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scaleType</a:t>
            </a:r>
            <a:r>
              <a:rPr lang="es"/>
              <a:t>: Controla cómo se escala la imagen en ImageView. Algunos valores comunes son "fitCenter" y "centerCrop".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layout_width </a:t>
            </a:r>
            <a:r>
              <a:rPr lang="es"/>
              <a:t>y </a:t>
            </a:r>
            <a:r>
              <a:rPr lang="es">
                <a:solidFill>
                  <a:schemeClr val="accent6"/>
                </a:solidFill>
              </a:rPr>
              <a:t>layout_height</a:t>
            </a:r>
            <a:r>
              <a:rPr lang="es"/>
              <a:t>: Establecen el ancho y el alto de ImageView.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ScaleType</a:t>
            </a:r>
            <a:endParaRPr/>
          </a:p>
        </p:txBody>
      </p:sp>
      <p:sp>
        <p:nvSpPr>
          <p:cNvPr id="575" name="Google Shape;575;p93"/>
          <p:cNvSpPr txBox="1"/>
          <p:nvPr>
            <p:ph idx="1" type="body"/>
          </p:nvPr>
        </p:nvSpPr>
        <p:spPr>
          <a:xfrm>
            <a:off x="198475" y="1475250"/>
            <a:ext cx="4464300" cy="3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fitXY</a:t>
            </a:r>
            <a:r>
              <a:rPr lang="es"/>
              <a:t>: La imagen se escala tanto en el eje X como en el eje Y para que llene completamente el espacio de ImageView, sin mantener la relación de aspecto original. Esto puede hacer que la imagen se estire o comprima.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fitStart</a:t>
            </a:r>
            <a:r>
              <a:rPr lang="es"/>
              <a:t>: La imagen se escala para que llene completamente el espacio de ImageView, pero se coloca en la esquina superior izquierda. La relación de aspecto original no se conserva.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fitCenter</a:t>
            </a:r>
            <a:r>
              <a:rPr lang="es"/>
              <a:t>: La imagen se escala para que llene completamente el espacio de ImageView, pero se coloca en el centro. La relación de aspecto original se conserva, y es el valor predeterminado si no se especifica scaleType.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fitEnd</a:t>
            </a:r>
            <a:r>
              <a:rPr lang="es"/>
              <a:t>: Similar a fitStart, pero la imagen se coloca en la esquina inferior derecha.</a:t>
            </a:r>
            <a:endParaRPr/>
          </a:p>
        </p:txBody>
      </p:sp>
      <p:sp>
        <p:nvSpPr>
          <p:cNvPr id="576" name="Google Shape;576;p93"/>
          <p:cNvSpPr txBox="1"/>
          <p:nvPr>
            <p:ph idx="1" type="body"/>
          </p:nvPr>
        </p:nvSpPr>
        <p:spPr>
          <a:xfrm>
            <a:off x="4605575" y="1475250"/>
            <a:ext cx="4464300" cy="3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center: </a:t>
            </a:r>
            <a:r>
              <a:rPr lang="es"/>
              <a:t>La imagen no se escala y se coloca en el centro de ImageView sin</a:t>
            </a:r>
            <a:r>
              <a:rPr lang="es"/>
              <a:t> </a:t>
            </a:r>
            <a:r>
              <a:rPr lang="es"/>
              <a:t>importar su tamaño. La relación de aspecto original se conserva.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centerCrop: </a:t>
            </a:r>
            <a:r>
              <a:rPr lang="es"/>
              <a:t>La imagen se escala para llenar completamente el espacio de ImageView y se recorta para mantener la relación de aspecto original. Esto puede resultar en que parte de la imagen quede fuera del espacio de ImageView.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centerInside: </a:t>
            </a:r>
            <a:r>
              <a:rPr lang="es"/>
              <a:t>La imagen se escala para ajustarse completamente dentro del espacio de ImageView sin recortarse ni estirarse. La relación de aspecto original se conserva.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accent6"/>
                </a:solidFill>
              </a:rPr>
              <a:t>matrix: </a:t>
            </a:r>
            <a:r>
              <a:rPr lang="es"/>
              <a:t>No se realiza ningún escalamiento automático. Puedes usar una matriz de transformación para controlar la escala y la posición de la imagen.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Sin scale</a:t>
            </a:r>
            <a:endParaRPr/>
          </a:p>
        </p:txBody>
      </p:sp>
      <p:pic>
        <p:nvPicPr>
          <p:cNvPr id="582" name="Google Shape;58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538" y="1395502"/>
            <a:ext cx="6658876" cy="328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Scaletype “fitXY”</a:t>
            </a:r>
            <a:endParaRPr/>
          </a:p>
        </p:txBody>
      </p:sp>
      <p:pic>
        <p:nvPicPr>
          <p:cNvPr id="588" name="Google Shape;58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50" y="1162299"/>
            <a:ext cx="7618774" cy="37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ScaleType “centerCrop”</a:t>
            </a:r>
            <a:endParaRPr/>
          </a:p>
        </p:txBody>
      </p:sp>
      <p:pic>
        <p:nvPicPr>
          <p:cNvPr id="594" name="Google Shape;59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75" y="1198850"/>
            <a:ext cx="6739026" cy="37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Aplicando background</a:t>
            </a:r>
            <a:endParaRPr/>
          </a:p>
        </p:txBody>
      </p:sp>
      <p:pic>
        <p:nvPicPr>
          <p:cNvPr id="600" name="Google Shape;60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489823"/>
            <a:ext cx="6484024" cy="33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Alineación y Centrado</a:t>
            </a:r>
            <a:endParaRPr/>
          </a:p>
        </p:txBody>
      </p:sp>
      <p:sp>
        <p:nvSpPr>
          <p:cNvPr id="606" name="Google Shape;606;p9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centrar una imagen verticalmente o horizontalmente utilizando android:</a:t>
            </a:r>
            <a:r>
              <a:rPr lang="es">
                <a:solidFill>
                  <a:schemeClr val="accent6"/>
                </a:solidFill>
              </a:rPr>
              <a:t>layout_gravity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&lt;ImageView </a:t>
            </a:r>
            <a:br>
              <a:rPr lang="es"/>
            </a:br>
            <a:r>
              <a:rPr lang="es"/>
              <a:t>	android:layout_width="100dp"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android:layout_height="100dp"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android:src="@drawable/mi_imagen"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android:layout_gravity="center" 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612" name="Google Shape;612;p99"/>
          <p:cNvSpPr txBox="1"/>
          <p:nvPr>
            <p:ph idx="1" type="body"/>
          </p:nvPr>
        </p:nvSpPr>
        <p:spPr>
          <a:xfrm>
            <a:off x="387900" y="1489825"/>
            <a:ext cx="3480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Hacer que una imagen de Júpiter ocupe el 100% del ancho</a:t>
            </a:r>
            <a:endParaRPr/>
          </a:p>
        </p:txBody>
      </p:sp>
      <p:pic>
        <p:nvPicPr>
          <p:cNvPr id="613" name="Google Shape;61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325" y="1340250"/>
            <a:ext cx="18764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619" name="Google Shape;619;p100"/>
          <p:cNvSpPr txBox="1"/>
          <p:nvPr>
            <p:ph idx="1" type="body"/>
          </p:nvPr>
        </p:nvSpPr>
        <p:spPr>
          <a:xfrm>
            <a:off x="387900" y="1489825"/>
            <a:ext cx="4048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 dos ImageView, uno con la foto de Júpiter y otro con la de su luna: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La foto de Júpiter ha de ser el doble de ancha que la de su luna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• La imágenes deben guardar la proporciones</a:t>
            </a:r>
            <a:endParaRPr/>
          </a:p>
        </p:txBody>
      </p:sp>
      <p:pic>
        <p:nvPicPr>
          <p:cNvPr id="620" name="Google Shape;62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650" y="1296525"/>
            <a:ext cx="24003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Aiuda</a:t>
            </a:r>
            <a:endParaRPr/>
          </a:p>
        </p:txBody>
      </p:sp>
      <p:sp>
        <p:nvSpPr>
          <p:cNvPr id="626" name="Google Shape;626;p10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https://developer.android.com/codelabs/basic-android-kotlin-training-birthday-card-app-image?hl=es-419#0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CardView</a:t>
            </a:r>
            <a:endParaRPr/>
          </a:p>
        </p:txBody>
      </p:sp>
      <p:sp>
        <p:nvSpPr>
          <p:cNvPr id="632" name="Google Shape;632;p10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es?</a:t>
            </a:r>
            <a:endParaRPr/>
          </a:p>
        </p:txBody>
      </p:sp>
      <p:sp>
        <p:nvSpPr>
          <p:cNvPr id="638" name="Google Shape;638;p10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</a:t>
            </a:r>
            <a:r>
              <a:rPr lang="es">
                <a:solidFill>
                  <a:schemeClr val="accent6"/>
                </a:solidFill>
              </a:rPr>
              <a:t>CardView </a:t>
            </a:r>
            <a:r>
              <a:rPr lang="es"/>
              <a:t>es un contenedor que permite mostrar contenido en una tarjeta con sombra, lo que crea un aspecto tridimensional y visualmente atractivo en las aplicaciones de Android. Los CardView son muy útiles para mostrar listas de elementos, detalles de productos, notificaciones y otros tipos de información en una interfaz de usuario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 Básicos de CardView</a:t>
            </a:r>
            <a:endParaRPr/>
          </a:p>
        </p:txBody>
      </p:sp>
      <p:sp>
        <p:nvSpPr>
          <p:cNvPr id="644" name="Google Shape;644;p10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app:</a:t>
            </a:r>
            <a:r>
              <a:rPr lang="es">
                <a:solidFill>
                  <a:schemeClr val="accent6"/>
                </a:solidFill>
              </a:rPr>
              <a:t>cardElevation</a:t>
            </a:r>
            <a:r>
              <a:rPr lang="es"/>
              <a:t>: Controla la elevación de la tarjeta, que determina la profundidad de la sombra.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app:</a:t>
            </a:r>
            <a:r>
              <a:rPr lang="es">
                <a:solidFill>
                  <a:schemeClr val="accent6"/>
                </a:solidFill>
              </a:rPr>
              <a:t>cardCornerRadius</a:t>
            </a:r>
            <a:r>
              <a:rPr lang="es"/>
              <a:t>: Define el radio de las esquinas de la tarjeta, lo que afecta la apariencia redondeada de la tarjeta.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15" y="0"/>
            <a:ext cx="251967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1310" y="2032025"/>
            <a:ext cx="370522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6" name="Google Shape;65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606388"/>
            <a:ext cx="52959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ScrollView</a:t>
            </a:r>
            <a:endParaRPr/>
          </a:p>
        </p:txBody>
      </p:sp>
      <p:sp>
        <p:nvSpPr>
          <p:cNvPr id="662" name="Google Shape;662;p10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0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08"/>
          <p:cNvSpPr txBox="1"/>
          <p:nvPr>
            <p:ph idx="1" type="body"/>
          </p:nvPr>
        </p:nvSpPr>
        <p:spPr>
          <a:xfrm>
            <a:off x="387900" y="1489825"/>
            <a:ext cx="83682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pasa si metemos tantos elementos que nos quedamos sin espacio vertical?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 ScrollView podemos gestionar cómo hará scroll nuestra app.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Tenemos dos opciones: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Insertar una única ScrollView que ocupe todo el </a:t>
            </a:r>
            <a:r>
              <a:rPr lang="es">
                <a:solidFill>
                  <a:schemeClr val="accent6"/>
                </a:solidFill>
              </a:rPr>
              <a:t>ConstraintLayout </a:t>
            </a:r>
            <a:r>
              <a:rPr lang="es"/>
              <a:t>padre.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Insertar una ScrollView que ocupe solo una porción de la pantalla, de este modo podemos tener secciones siempre visibles, e.g.: menú superior fijo, menú inferior fijo..., y una sección a la que poder hacer scroll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es?</a:t>
            </a:r>
            <a:endParaRPr/>
          </a:p>
        </p:txBody>
      </p:sp>
      <p:sp>
        <p:nvSpPr>
          <p:cNvPr id="674" name="Google Shape;674;p10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6"/>
                </a:solidFill>
              </a:rPr>
              <a:t>ScrollView </a:t>
            </a:r>
            <a:r>
              <a:rPr lang="es"/>
              <a:t>es un contenedor de desplazamiento en Android que permite mostrar contenido que no cabe completamente en la pantalla en un área de desplazamiento.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 útil cuando tienes contenido que es más largo que la pantalla y deseas que los usuarios puedan desplazarse para verlo todo.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 Básicos de ScrollView</a:t>
            </a:r>
            <a:endParaRPr/>
          </a:p>
        </p:txBody>
      </p:sp>
      <p:sp>
        <p:nvSpPr>
          <p:cNvPr id="680" name="Google Shape;680;p11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android:</a:t>
            </a:r>
            <a:r>
              <a:rPr lang="es">
                <a:solidFill>
                  <a:schemeClr val="accent6"/>
                </a:solidFill>
              </a:rPr>
              <a:t>layout_width</a:t>
            </a:r>
            <a:r>
              <a:rPr lang="es"/>
              <a:t> y android:</a:t>
            </a:r>
            <a:r>
              <a:rPr lang="es">
                <a:solidFill>
                  <a:schemeClr val="accent6"/>
                </a:solidFill>
              </a:rPr>
              <a:t>layout_height</a:t>
            </a:r>
            <a:r>
              <a:rPr lang="es"/>
              <a:t>: Controlan el tamaño del ScrollView.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android:</a:t>
            </a:r>
            <a:r>
              <a:rPr lang="es">
                <a:solidFill>
                  <a:schemeClr val="accent6"/>
                </a:solidFill>
              </a:rPr>
              <a:t>fillViewport</a:t>
            </a:r>
            <a:r>
              <a:rPr lang="es"/>
              <a:t>: Determina si el contenido debe estirarse para llenar el ScrollView si es más pequeño que la pantalla.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 Contenido Desplazable</a:t>
            </a:r>
            <a:endParaRPr/>
          </a:p>
        </p:txBody>
      </p:sp>
      <p:sp>
        <p:nvSpPr>
          <p:cNvPr id="686" name="Google Shape;686;p111"/>
          <p:cNvSpPr txBox="1"/>
          <p:nvPr>
            <p:ph idx="1" type="body"/>
          </p:nvPr>
        </p:nvSpPr>
        <p:spPr>
          <a:xfrm>
            <a:off x="387900" y="1489825"/>
            <a:ext cx="3276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colocar cualquier contenido dentro del ScrollView, como </a:t>
            </a:r>
            <a:r>
              <a:rPr lang="es">
                <a:solidFill>
                  <a:schemeClr val="accent6"/>
                </a:solidFill>
              </a:rPr>
              <a:t>LinearLayout</a:t>
            </a:r>
            <a:r>
              <a:rPr lang="es"/>
              <a:t>, </a:t>
            </a:r>
            <a:r>
              <a:rPr lang="es">
                <a:solidFill>
                  <a:schemeClr val="accent6"/>
                </a:solidFill>
              </a:rPr>
              <a:t>RelativeLayout</a:t>
            </a:r>
            <a:r>
              <a:rPr lang="es"/>
              <a:t>, </a:t>
            </a:r>
            <a:r>
              <a:rPr lang="es">
                <a:solidFill>
                  <a:schemeClr val="accent6"/>
                </a:solidFill>
              </a:rPr>
              <a:t>TextView</a:t>
            </a:r>
            <a:r>
              <a:rPr lang="es"/>
              <a:t>, </a:t>
            </a:r>
            <a:r>
              <a:rPr lang="es">
                <a:solidFill>
                  <a:schemeClr val="accent6"/>
                </a:solidFill>
              </a:rPr>
              <a:t>ImageView</a:t>
            </a:r>
            <a:r>
              <a:rPr lang="es"/>
              <a:t>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contenido que exceda la altura del ScrollView será desplazable.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7" name="Google Shape;68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475" y="1624375"/>
            <a:ext cx="5174700" cy="180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ScrollView en Listas</a:t>
            </a:r>
            <a:endParaRPr/>
          </a:p>
        </p:txBody>
      </p:sp>
      <p:sp>
        <p:nvSpPr>
          <p:cNvPr id="693" name="Google Shape;693;p11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Aunque ScrollView es útil para contenido largo, no es la mejor opción para listas largas de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listas, se recomienda utilizar </a:t>
            </a:r>
            <a:r>
              <a:rPr lang="es">
                <a:solidFill>
                  <a:schemeClr val="accent6"/>
                </a:solidFill>
              </a:rPr>
              <a:t>RecyclerView </a:t>
            </a:r>
            <a:r>
              <a:rPr lang="es"/>
              <a:t>o </a:t>
            </a:r>
            <a:r>
              <a:rPr lang="es">
                <a:solidFill>
                  <a:schemeClr val="accent6"/>
                </a:solidFill>
              </a:rPr>
              <a:t>ListView </a:t>
            </a:r>
            <a:r>
              <a:rPr lang="es"/>
              <a:t>junto con un diseño de elemento personalizado.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875" y="174850"/>
            <a:ext cx="3835049" cy="479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704" name="Google Shape;704;p114"/>
          <p:cNvSpPr txBox="1"/>
          <p:nvPr>
            <p:ph idx="1" type="body"/>
          </p:nvPr>
        </p:nvSpPr>
        <p:spPr>
          <a:xfrm>
            <a:off x="387900" y="1489825"/>
            <a:ext cx="4107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• Crear una app que muestre una foto de cada planeta del sistemas solar.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Cada foto debe ocupar el 100% del ancho del móvil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La app tendrá un TextView en la parte superior siempre visible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• La app tendrá cuatro botones siempre situados en la parte inferior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• Para que se puedan ver todos los planetas deberás utilizar ScrollView</a:t>
            </a:r>
            <a:endParaRPr/>
          </a:p>
        </p:txBody>
      </p:sp>
      <p:pic>
        <p:nvPicPr>
          <p:cNvPr id="705" name="Google Shape;705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025" y="1144125"/>
            <a:ext cx="19335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Barreras</a:t>
            </a:r>
            <a:endParaRPr/>
          </a:p>
        </p:txBody>
      </p:sp>
      <p:sp>
        <p:nvSpPr>
          <p:cNvPr id="711" name="Google Shape;711;p1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Posicionamiento avanzado: barreras</a:t>
            </a:r>
            <a:endParaRPr/>
          </a:p>
        </p:txBody>
      </p:sp>
      <p:sp>
        <p:nvSpPr>
          <p:cNvPr id="717" name="Google Shape;717;p1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barreras nos permiten alinear elementos en base a un conjunto de elementos cuya </a:t>
            </a:r>
            <a:r>
              <a:rPr lang="es">
                <a:solidFill>
                  <a:schemeClr val="accent6"/>
                </a:solidFill>
              </a:rPr>
              <a:t>dimensión puede variar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Por ejemplo podemos tener dos TextView de tamaño variable y colocar un elemento a la derecha de del texto que ocupe más.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útiles para alinear dinámicamente elementos según el elemento más extremo (izquierdo, derecho, arriba o abajo) de un grupo.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Existen cuatro tipos de barreras: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app:</a:t>
            </a:r>
            <a:r>
              <a:rPr lang="es">
                <a:solidFill>
                  <a:schemeClr val="accent6"/>
                </a:solidFill>
              </a:rPr>
              <a:t>barrierDirection</a:t>
            </a:r>
            <a:r>
              <a:rPr lang="es"/>
              <a:t>: left, right, top, o bottom.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utilizan para crear una barrera que sigue el elemento más extremo en la dirección especificada.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pic>
        <p:nvPicPr>
          <p:cNvPr id="729" name="Google Shape;729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75" y="2128307"/>
            <a:ext cx="3837975" cy="13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050" y="2128307"/>
            <a:ext cx="3513483" cy="13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075" y="190275"/>
            <a:ext cx="4757850" cy="476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Uso de Barreras</a:t>
            </a:r>
            <a:endParaRPr/>
          </a:p>
        </p:txBody>
      </p:sp>
      <p:sp>
        <p:nvSpPr>
          <p:cNvPr id="741" name="Google Shape;741;p120"/>
          <p:cNvSpPr txBox="1"/>
          <p:nvPr>
            <p:ph idx="1" type="body"/>
          </p:nvPr>
        </p:nvSpPr>
        <p:spPr>
          <a:xfrm>
            <a:off x="291425" y="1489825"/>
            <a:ext cx="3213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este ejemplo, </a:t>
            </a:r>
            <a:r>
              <a:rPr lang="es">
                <a:solidFill>
                  <a:schemeClr val="accent6"/>
                </a:solidFill>
              </a:rPr>
              <a:t>barrier_right </a:t>
            </a:r>
            <a:r>
              <a:rPr lang="es"/>
              <a:t>sigue el elemento más extremo a la derecha de element1, element2 y element3.</a:t>
            </a:r>
            <a:endParaRPr/>
          </a:p>
        </p:txBody>
      </p:sp>
      <p:pic>
        <p:nvPicPr>
          <p:cNvPr id="742" name="Google Shape;742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500" y="2571750"/>
            <a:ext cx="56388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las Barreras</a:t>
            </a:r>
            <a:endParaRPr/>
          </a:p>
        </p:txBody>
      </p:sp>
      <p:sp>
        <p:nvSpPr>
          <p:cNvPr id="748" name="Google Shape;748;p1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barreras permiten que los elementos se alineen automáticamente según el elemento más extremo en un grupo, lo que simplifica la creación de diseños adaptables.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Son especialmente útiles en diseños complejos donde los elementos pueden cambiar de </a:t>
            </a:r>
            <a:r>
              <a:rPr lang="es">
                <a:solidFill>
                  <a:schemeClr val="accent6"/>
                </a:solidFill>
              </a:rPr>
              <a:t>tamaño </a:t>
            </a:r>
            <a:r>
              <a:rPr lang="es"/>
              <a:t>o </a:t>
            </a:r>
            <a:r>
              <a:rPr lang="es">
                <a:solidFill>
                  <a:schemeClr val="accent6"/>
                </a:solidFill>
              </a:rPr>
              <a:t>visibilidad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750" y="132887"/>
            <a:ext cx="5770374" cy="487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5726"/>
            <a:ext cx="9144001" cy="32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4"/>
          <p:cNvSpPr txBox="1"/>
          <p:nvPr>
            <p:ph type="title"/>
          </p:nvPr>
        </p:nvSpPr>
        <p:spPr>
          <a:xfrm>
            <a:off x="358750" y="1811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 pasaria sin barreras</a:t>
            </a:r>
            <a:endParaRPr/>
          </a:p>
        </p:txBody>
      </p:sp>
      <p:pic>
        <p:nvPicPr>
          <p:cNvPr id="764" name="Google Shape;764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675"/>
            <a:ext cx="8583400" cy="397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25"/>
          <p:cNvSpPr txBox="1"/>
          <p:nvPr>
            <p:ph type="title"/>
          </p:nvPr>
        </p:nvSpPr>
        <p:spPr>
          <a:xfrm>
            <a:off x="387900" y="2176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elemento 2 crece….</a:t>
            </a:r>
            <a:endParaRPr/>
          </a:p>
        </p:txBody>
      </p:sp>
      <p:pic>
        <p:nvPicPr>
          <p:cNvPr id="770" name="Google Shape;770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25" y="1058322"/>
            <a:ext cx="7168848" cy="376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Aclaración</a:t>
            </a:r>
            <a:endParaRPr/>
          </a:p>
        </p:txBody>
      </p:sp>
      <p:sp>
        <p:nvSpPr>
          <p:cNvPr id="776" name="Google Shape;776;p1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barreras (Barriers) son un concepto específico de ConstraintLayout y se utilizan para controlar la alineación de vistas dentro de un ConstraintLayout. Por lo tanto, las barreras solo funcionan en ConstraintLayout y no están disponibles en otros tipos de diseños de diseño en Android.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100">
                <a:solidFill>
                  <a:schemeClr val="accent6"/>
                </a:solidFill>
              </a:rPr>
              <a:t>Básicamente</a:t>
            </a:r>
            <a:r>
              <a:rPr lang="es" sz="2100">
                <a:solidFill>
                  <a:schemeClr val="accent6"/>
                </a:solidFill>
              </a:rPr>
              <a:t> valen para que en un constraintLayout un elemento sea </a:t>
            </a:r>
            <a:r>
              <a:rPr lang="es" sz="2100">
                <a:solidFill>
                  <a:schemeClr val="accent6"/>
                </a:solidFill>
              </a:rPr>
              <a:t>relativo</a:t>
            </a:r>
            <a:r>
              <a:rPr lang="es" sz="2100">
                <a:solidFill>
                  <a:schemeClr val="accent6"/>
                </a:solidFill>
              </a:rPr>
              <a:t> a varios y no a uno solo.</a:t>
            </a:r>
            <a:endParaRPr sz="21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barreras</a:t>
            </a:r>
            <a:endParaRPr/>
          </a:p>
        </p:txBody>
      </p:sp>
      <p:sp>
        <p:nvSpPr>
          <p:cNvPr id="782" name="Google Shape;782;p127"/>
          <p:cNvSpPr txBox="1"/>
          <p:nvPr>
            <p:ph idx="1" type="body"/>
          </p:nvPr>
        </p:nvSpPr>
        <p:spPr>
          <a:xfrm>
            <a:off x="270825" y="1475250"/>
            <a:ext cx="368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una aplicación que muestre información sobre un músculo y que tenga en cuenta la posible diferencia de longitud entre su nombre y zona.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3" name="Google Shape;78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425" y="1144125"/>
            <a:ext cx="4926900" cy="3366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sabemos usar bien las constraints</a:t>
            </a:r>
            <a:endParaRPr/>
          </a:p>
        </p:txBody>
      </p:sp>
      <p:sp>
        <p:nvSpPr>
          <p:cNvPr id="789" name="Google Shape;789;p128"/>
          <p:cNvSpPr txBox="1"/>
          <p:nvPr>
            <p:ph idx="1" type="body"/>
          </p:nvPr>
        </p:nvSpPr>
        <p:spPr>
          <a:xfrm>
            <a:off x="387900" y="1489824"/>
            <a:ext cx="83682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No hará falta barriers ni nada raro…</a:t>
            </a:r>
            <a:endParaRPr/>
          </a:p>
        </p:txBody>
      </p:sp>
      <p:pic>
        <p:nvPicPr>
          <p:cNvPr id="790" name="Google Shape;79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38" y="2407774"/>
            <a:ext cx="8537185" cy="23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final… o no…</a:t>
            </a:r>
            <a:endParaRPr/>
          </a:p>
        </p:txBody>
      </p:sp>
      <p:pic>
        <p:nvPicPr>
          <p:cNvPr id="796" name="Google Shape;796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149" y="163925"/>
            <a:ext cx="2419126" cy="48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